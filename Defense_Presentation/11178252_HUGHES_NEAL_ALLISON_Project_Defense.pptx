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CA5DE-5554-433E-998B-5706BBA3DD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57E44-CA01-48B4-9714-7B5CDB51C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3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7EC2-E5D8-F742-1B67-054FF086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00BB6-1739-C6B5-9716-28AB89FF2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4C73-ACB3-7C9F-7EA5-2938A034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DAEB-3F38-A327-9E2B-F5B4223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C4D2-F373-1FDD-0C14-B0A5EE67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8BDB-9BFB-33BD-36E2-CB774FA5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BEC1-929D-A242-6F90-1148AB73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69D1-F584-0904-FC78-1845E1CE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6342-5ECF-1C98-5658-39498D80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FAC61-7EF5-A0A9-7407-77FCBC60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C68F-4357-6C0B-EFF4-6056CFE0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434F9-9472-5E2E-37A2-1C668D4E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5E404-4C0A-77ED-B4F0-F150408E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E8BC-3C9D-288D-A877-4B49F26D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4336-DB89-C939-F991-F3B56B48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E173-84FE-131A-FDEC-10EB764D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D527-C4A0-467A-A074-20997F2F9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8166C-5D25-2F7A-68E2-89811F37E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A11F9-6FE3-AE70-BB60-74D68595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C4B88-4529-9622-3DFF-0A9E8F04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9887-301D-192D-6E4E-0B5CD9F5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4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85E-3938-13F4-071F-9C47FBD6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28229-9E26-4A8D-CE13-5195A4F3B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4DE16-D620-E567-A074-2B6A54D8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6B1B9-8555-7B1C-2D30-CA652A281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F61AE-EC15-64C2-A098-EC225FEFB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FBB5-D787-915A-9095-24B00FA2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1DC54-8C33-C55A-F365-B3AC72A6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63D3E-D67B-702D-ADA5-2F2C9111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5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649D-C7B1-FC2E-BE2E-20E16B49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BDD17-2483-9991-3C02-F104B65F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C0FB9-E42D-9741-BA7C-C811901B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081D-BB5A-9B2F-8F12-4376917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0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6FCAA-D61A-19AA-2CFD-EDCFFE23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15071-F236-77A8-4671-2C966848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3CB8E-1A45-9FF7-122B-46108F80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5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7F21-6BEA-4D7A-A020-D2D73BA2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C2EB-2067-EDE8-6730-13C686626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8C07-B368-9A92-7D94-899AA230A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4715-8548-B8CD-E46B-32F52F97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805EB-68F0-0925-B5E2-992A26AC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064D-3984-66E1-79F6-BF412DE9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8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40A8-7CE6-6E2F-987D-F9931444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A3B3C-B1CD-FC66-30C0-066CC8711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30723-2359-C212-1784-4C60E5DC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6E1BF-418B-5A5E-B8CE-971EBA46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58B19-C047-7376-4094-335A262B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3E811-B1A3-3062-66D6-3B924C39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613B-3E08-B9D4-3543-27653200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B8505-E673-B14D-57BC-B609C294E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D7D8F-1AC7-0420-F070-FDFD3C35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FD22-A5B5-C5E8-19C9-E29BD895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D55BE-B31F-9976-5801-16A4491D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7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14E13-7DDD-7B01-B532-2B2A88B6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CBB8E-647A-192C-E328-241E73841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FD78-3A20-22DE-6D4C-9A66BC00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FA80B-D752-6CA7-C60B-AAF3A51B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1C125-E0EA-8BB4-A43E-4E1CCF0C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96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E860EC-E542-457A-B70C-3F9F24F46ECA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8339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287898-D9AE-4049-9D19-ED0B1E1963CA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4225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162D6E-70EE-4FB2-88ED-8A53CBADEAC3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5139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680DC9-3D5C-4B78-93A2-8216A5967CEE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656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9EE8C9-0B5D-4609-8390-6AA8549DB10F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053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D4ABCE-EACE-4151-B61F-945E2463617C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7322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F28FB7-0FB9-463E-BF45-7E2885595341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47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8F30A16-9233-43B3-A274-11457D04124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59799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677AB9-B3E0-47F2-91D3-109594D79C4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9431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F2A97E-5CE7-416F-AB2B-5750179EE4F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0712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E4A193-398A-4DA3-ABE0-39035D81DE08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45277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749AA-DFC1-412B-8D1A-31ABB7D9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A5D24-207D-F318-C215-A84F996D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0A67-ABB6-4314-7B8E-00F52B15C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901DB-E840-4150-8207-866BDD25D22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18D7-FCBF-5B99-17E2-6C586E072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CDC88-7F57-5757-67CB-EED589935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91B204-41D7-48AE-A13E-6E23B3D8CB2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9/15/2025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55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blipFill rotWithShape="0">
        <a:blip r:embed="rId2"/>
        <a:stretch>
          <a:fillRect/>
        </a:stretch>
      </a:blip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AA520"/>
                </a:solidFill>
                <a:latin typeface="Arial"/>
              </a:defRPr>
            </a:pPr>
            <a:r>
              <a:t>COLLEGE OF BASIC AND APPLIED SCIENCES  •  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Arial"/>
              </a:defRPr>
            </a:pPr>
            <a:r>
              <a:t>FINAL YEAR PROJECT DEFENSE &amp; ORAL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00066"/>
                </a:solidFill>
                <a:latin typeface="Arial"/>
              </a:defRPr>
            </a:pPr>
            <a:r>
              <a:t>SPIME: A Stacked Physics-Informed Meta-Ensemble for Low-Cost PM2.5 Sensor Calibration Under High Humidity and Harmattan Dust in Sub-Saharan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59E0B"/>
                </a:solidFill>
                <a:latin typeface="Calibri"/>
              </a:defRPr>
            </a:pPr>
            <a:r>
              <a:t>B.Sc. Computer Science (Honours)  •  Academic Year 2025/2026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47548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4754880" cy="73152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47472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CANDIDATE DETAILS</a:t>
            </a:r>
          </a:p>
          <a:p>
            <a:pPr>
              <a:spcAft>
                <a:spcPts val="500"/>
              </a:spcAft>
              <a:defRPr sz="12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Candidate Name: </a:t>
            </a:r>
            <a:r>
              <a:rPr>
                <a:solidFill>
                  <a:srgbClr val="475569"/>
                </a:solidFill>
              </a:rPr>
              <a:t>Neal Allison Hughes</a:t>
            </a:r>
          </a:p>
          <a:p>
            <a:pPr>
              <a:spcAft>
                <a:spcPts val="500"/>
              </a:spcAft>
              <a:defRPr sz="12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Student ID: </a:t>
            </a:r>
            <a:r>
              <a:rPr>
                <a:solidFill>
                  <a:srgbClr val="475569"/>
                </a:solidFill>
              </a:rPr>
              <a:t>11178252</a:t>
            </a:r>
          </a:p>
          <a:p>
            <a:pPr>
              <a:spcAft>
                <a:spcPts val="500"/>
              </a:spcAft>
              <a:defRPr sz="12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Degree Programme: </a:t>
            </a:r>
            <a:r>
              <a:rPr>
                <a:solidFill>
                  <a:srgbClr val="475569"/>
                </a:solidFill>
              </a:rPr>
              <a:t>B.Sc. Computer Science (Honours)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47548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3291840"/>
            <a:ext cx="4754880" cy="73152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SUPERVISION &amp; RESEARCH PLATFORM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Principal Supervisor: </a:t>
            </a:r>
            <a:r>
              <a:rPr>
                <a:solidFill>
                  <a:srgbClr val="475569"/>
                </a:solidFill>
              </a:rPr>
              <a:t>Prof. Isaac Wiafe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Academic Unit: </a:t>
            </a:r>
            <a:r>
              <a:rPr>
                <a:solidFill>
                  <a:srgbClr val="475569"/>
                </a:solidFill>
              </a:rPr>
              <a:t>Department of Computer Science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Evaluation Platform: </a:t>
            </a:r>
            <a:r>
              <a:rPr>
                <a:solidFill>
                  <a:srgbClr val="475569"/>
                </a:solidFill>
              </a:rPr>
              <a:t>Afri-SET Facility, Dept. of Physics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Defense Session: </a:t>
            </a:r>
            <a:r>
              <a:rPr>
                <a:solidFill>
                  <a:srgbClr val="475569"/>
                </a:solidFill>
              </a:rPr>
              <a:t>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01 | INTRODUCTION &amp; MOTIVATION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Background: Ambient Air Quality Crisis &amp; Low-Cost Optical Sensor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2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3832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11D48"/>
                </a:solidFill>
                <a:latin typeface="Arial"/>
              </a:defRPr>
            </a:pPr>
            <a:r>
              <a:t>1. Severe Monitoring Void in SSA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Fine particulate matter (PM2.5) causes &gt;1.1 million premature deaths annually across Africa.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Reference-grade FEM monitors (e.g., Teledyne T640) cost &gt;$30,000 USD with prohibitive maintenance, leaving African cities critically unmonitored.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Low-cost Optical Particle Counters (OPCs, ~$2,000) enable dense network expansion but suffer extreme environmental degradation.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3383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2. Physical Mechanisms of Sensor Breakdown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Monsoon Deliquescent Swelling: At ambient RH &gt; 80%, inorganic aerosols absorb water vapor and swell optically, causing mass overestimation by up to 300%.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Saharan Harmattan Dust Plumes: During dry months (RH &lt; 25%), coarse non-spherical mineral dust drastically shifts refractive index and optical scattering cross-sections.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Fixed factory calibration curves assume dry, spherical particles, collapsing in tropical extremes.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0020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3. The Raw Sensor Reality (Afri-SET Baseline)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Co-located baseline assessment between QuantAQ Modulair-PM and US EPA FEM Teledyne T640 in Accra reveals complete factory failure: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- Predictive R² = -0.0133 (worse than the empirical mean benchmark)</a:t>
            </a:r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- Mean Absolute Error (MAE) = 5.30 µg/m³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- Severe systematic baseline underestimation (Bias = -5.00 µg/m³)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Without robust calibration, low-cost sensor data is scientifically unusable.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02 | OBJECTIVES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Research Aim &amp; Outcome-Based Measurable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3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097280"/>
          </a:xfrm>
          <a:prstGeom prst="roundRect">
            <a:avLst/>
          </a:prstGeom>
          <a:solidFill>
            <a:srgbClr val="000066"/>
          </a:solidFill>
          <a:ln w="127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PRIMARY RESEARCH AIM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To design, empirically evaluate, and deploy a Stacked Physics-Informed Meta-Ensemble (SPIME) calibration framework that elevates raw optical measurements from the QuantAQ Modulair-PM to regulatory reference-grade PM2.5 accuracy across contrasting tropical monsoon and Harmattan dust seasons in Accra, Ghana.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9144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07792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Objective 1: Co-location Benchmark &amp; Baseline Quantification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Establish an empirically validated co-location benchmark of 8,760 hourly records between the QuantAQ Modulair-PM and US EPA FEM Teledyne T640 at Afri-SET, quantifying baseline sensor collapse (uncalibrated R² = -0.0133, MAE = 5.30 µg/m³).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75887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675887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49039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Objective 2: Physics-Informed Hygroscopic Feature Formulation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Engineer a 75-dimensional feature space integrating multi-gamma empirical Köhler growth equations (γ ∈ [0.05, 0.50]), thermodynamic moisture decoupling (VPD, AH, Dew Point), and Harmattan dust indicators, demonstrating &gt;20% predictive attribution to Köhler physics.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17136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517136"/>
            <a:ext cx="9144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Objective 3: Superior Out-of-Sample Calibration Performance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Develop and benchmark the SPIME architecture against standard baselines (MLR, MoE, Deep MLP, Random Forest), achieving holdout R² ≥ 0.95, MAE ≤ 1.0 µg/m³, RMSE ≤ 1.5 µg/m³, and near-zero systematic bias (|bias| ≤ 0.10 µg/m³).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58383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358383"/>
            <a:ext cx="91440" cy="749808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31536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66"/>
                </a:solidFill>
                <a:latin typeface="Arial"/>
              </a:defRPr>
            </a:pPr>
            <a:r>
              <a:t>Objective 4: Overfitting Mitigation &amp; Operational Deployment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Restrict the cross-validation to holdout generalization gap to ΔR² &lt; 0.02 through out-of-fold cross-validated stacking, and package the pipeline into an operational web-enabled calibration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03 | METHODOLOGY &amp; DATA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Experimental Co-location Setup &amp; Chronological Data Partitioning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4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Afri-SET Co-location Infrastructure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Co-location Hub: </a:t>
            </a:r>
            <a:r>
              <a:rPr>
                <a:solidFill>
                  <a:srgbClr val="475569"/>
                </a:solidFill>
              </a:rPr>
              <a:t>African Sensor Evaluation and Training (Afri-SET) facility, Department of Physics, University of Ghana, Legon (5.6506° N, 0.1870° W, 98 m ASL).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Low-Cost OPC Monitor: </a:t>
            </a:r>
            <a:r>
              <a:rPr>
                <a:solidFill>
                  <a:srgbClr val="475569"/>
                </a:solidFill>
              </a:rPr>
              <a:t>QuantAQ Modulair-PM (MOD-PM-01068) equipped with Alphasense OPC-N3 (24 size bins: 0.35 to 40 µm, sample T, RH, pressure).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Reference Benchmark: </a:t>
            </a:r>
            <a:r>
              <a:rPr>
                <a:solidFill>
                  <a:srgbClr val="475569"/>
                </a:solidFill>
              </a:rPr>
              <a:t>US EPA Federal Equivalent Method (FEM) Teledyne API T640 broadband optical spectrometer (±0.5 µg/m³ accuracy).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Continuous Timeline: </a:t>
            </a:r>
            <a:r>
              <a:rPr>
                <a:solidFill>
                  <a:srgbClr val="475569"/>
                </a:solidFill>
              </a:rPr>
              <a:t>8,760 synchronized hourly records across two complete annual meteorological cycles (January 1, 2024 to December 31, 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66"/>
                </a:solidFill>
                <a:latin typeface="Arial"/>
              </a:defRPr>
            </a:pPr>
            <a:r>
              <a:t>Strict Chronological Data Quarantine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Training &amp; Validation Partition (60%): </a:t>
            </a:r>
            <a:r>
              <a:rPr>
                <a:solidFill>
                  <a:srgbClr val="475569"/>
                </a:solidFill>
              </a:rPr>
              <a:t>5,292 hourly records (Jan 1, 2024 to Jun 20, 2025). Dedicated exclusively to exploratory analysis, physics feature derivation, base estimator training, and internal 5-fold cross-validation.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Quarantined Out-of-Sample Holdout (40%): </a:t>
            </a:r>
            <a:r>
              <a:rPr>
                <a:solidFill>
                  <a:srgbClr val="475569"/>
                </a:solidFill>
              </a:rPr>
              <a:t>3,468 continuous hourly records (Jun 21, 2025 to Dec 31, 2025). Strictly locked during all model tuning to serve as final unbiased ground truth.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Seasonal Representation: </a:t>
            </a:r>
            <a:r>
              <a:rPr>
                <a:solidFill>
                  <a:srgbClr val="475569"/>
                </a:solidFill>
              </a:rPr>
              <a:t>Holdout captures both extreme seasons: Monsoon Wet (2,208 hrs, RH 78–96%) and Harmattan Dry Dust Plumes (1,260 hrs, RH 22–55%).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Strict Leakage Prevention: </a:t>
            </a:r>
            <a:r>
              <a:rPr>
                <a:solidFill>
                  <a:srgbClr val="475569"/>
                </a:solidFill>
              </a:rPr>
              <a:t>Random train/test shuffling strictly prohibited to prevent temporal autocorrelation leakage across consecutive hours.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03 | METHODOLOGY &amp; FEATURES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75-Dimensional Physics-Informed Atmospheric Feature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5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1. Multi-Gamma Empirical Köhler Growth (12 Features)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Explicitly models hygroscopic diameter swelling and deliquescence phase shifts: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f(RH) = 1 + a · [(RH / 100) / (1 - RH / 100)]^γ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Evaluated across 10 empirical exponents γ ∈ [0.05, 0.50] to capture variable chemical composition (pure sulfates to mixed organic particles).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Deliquescence surge indicator (deliquescence_surge) captures abrupt step-function scattering surges when ambient RH exceeds 75%–80%.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3383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2. Thermodynamic Moisture Decoupling (18 Features)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Decouples temperature-dependent moisture effects from true particle mass: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Vapor Pressure Deficit (VPD): Quantifies atmospheric drying capacity (kPa).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Absolute Humidity (AH): Actual water vapor mass per unit volume (g/m³).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Dew Point Depression (T - Td): Proximity to water saturation and fog condensation.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Prevents models from conflating pure water vapor density with suspended aerosol mass.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00200"/>
            <a:ext cx="3383280" cy="9144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66"/>
                </a:solidFill>
                <a:latin typeface="Arial"/>
              </a:defRPr>
            </a:pPr>
            <a:r>
              <a:t>3. Harmattan Mineral Dust Indicators &amp; Temporal Dynamics (45 Features)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Coarse-to-fine ratio (PM10 / PM2.5) and optical size-bin fraction kinematics to flag incoming Saharan dust plumes.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Binary seasonal indicator (is_harmattan) capturing distinct regional aerosol regimes.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Multi-timescale Exponentially Weighted Moving Averages (EWMA spans: 1h, 3h, 6h, 12h, 24h) to model thermal inertia, sensor hysteresis, and diurnal boundary layer dynamics.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03 | METHODOLOGY &amp; ARCHITECTURE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SPIME: Hierarchical Stacking Meta-Ensemble with Out-of-Fold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6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Level-0 Diverse Base Learners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Random Forest (RF): </a:t>
            </a:r>
            <a:r>
              <a:rPr>
                <a:solidFill>
                  <a:srgbClr val="475569"/>
                </a:solidFill>
              </a:rPr>
              <a:t>150 bagging trees (max_depth=14) trained on the 75-D physics feature space; captures non-linear interactions while bounding individual tree variance.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Extra Trees (ET): </a:t>
            </a:r>
            <a:r>
              <a:rPr>
                <a:solidFill>
                  <a:srgbClr val="475569"/>
                </a:solidFill>
              </a:rPr>
              <a:t>150 extremely randomized trees with randomized cut-point selection; maximizes structural diversity and decorrelates errors from standard RF.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Gradient Boosting (GBM): </a:t>
            </a:r>
            <a:r>
              <a:rPr>
                <a:solidFill>
                  <a:srgbClr val="475569"/>
                </a:solidFill>
              </a:rPr>
              <a:t>120 sequential boosting trees (learning_rate=0.05, max_depth=6); focuses gradient descent on hard-to-fit regime transitions.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Ensemble Diversity Principle: </a:t>
            </a:r>
            <a:r>
              <a:rPr>
                <a:solidFill>
                  <a:srgbClr val="475569"/>
                </a:solidFill>
              </a:rPr>
              <a:t>Combining bagging and boosting paradigms guarantees uncorrelated residual errors across meteorological extremes.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66"/>
                </a:solidFill>
                <a:latin typeface="Arial"/>
              </a:defRPr>
            </a:pPr>
            <a:r>
              <a:t>Level-1 Meta-Learner &amp; Anti-Leakage Stacking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5-Fold Out-of-Fold (OOF) Stacking: </a:t>
            </a:r>
            <a:r>
              <a:rPr>
                <a:solidFill>
                  <a:srgbClr val="475569"/>
                </a:solidFill>
              </a:rPr>
              <a:t>The internal training split is partitioned into 5 chronological folds. Base learners generate predictions exclusively on unobserved validation folds.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Zero Meta-Learner Leakage: </a:t>
            </a:r>
            <a:r>
              <a:rPr>
                <a:solidFill>
                  <a:srgbClr val="475569"/>
                </a:solidFill>
              </a:rPr>
              <a:t>The Level-1 meta-learner is trained strictly on out-of-fold predictions, ensuring it never observes in-sample training bias.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Constrained Meta-Regressor: </a:t>
            </a:r>
            <a:r>
              <a:rPr>
                <a:solidFill>
                  <a:srgbClr val="475569"/>
                </a:solidFill>
              </a:rPr>
              <a:t>L2-regularized Ridge Regression (α = 10.0) with non-negative weight projection prevents collinear weight explosion: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Final Calibrated Estimate: </a:t>
            </a:r>
            <a:r>
              <a:rPr>
                <a:solidFill>
                  <a:srgbClr val="475569"/>
                </a:solidFill>
              </a:rPr>
              <a:t>y_cal = w0 + w_RF · y_RF + w_ET · y_ET + w_GBM · y_GBM
Enforces a strict inductive bias that prevents temporal concept drift.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04 | EMPIRICAL RESULTS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Comparative Calibration Benchmarks on Unseen Holdout Data (3,468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7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91640"/>
            <a:ext cx="229514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00" b="1">
                <a:solidFill>
                  <a:srgbClr val="059669"/>
                </a:solidFill>
                <a:latin typeface="Arial"/>
              </a:defRPr>
            </a:pPr>
            <a:r>
              <a:t>R² = 0.9632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HOLDOUT ACCURACY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Unseen 3,468-Hr Holdout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691640"/>
            <a:ext cx="229514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Arial"/>
              </a:defRPr>
            </a:pPr>
            <a:r>
              <a:t>MAE = 0.61 µg/m³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MEAN ABSOLUTE ERROR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88.5% Error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691640"/>
            <a:ext cx="229514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00" b="1">
                <a:solidFill>
                  <a:srgbClr val="000066"/>
                </a:solidFill>
                <a:latin typeface="Arial"/>
              </a:defRPr>
            </a:pPr>
            <a:r>
              <a:t>RMSE = 1.05 µg/m³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ROOT MEAN SQ ERROR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Reference-Grade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1691640"/>
            <a:ext cx="23865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00" b="1">
                <a:solidFill>
                  <a:srgbClr val="DAA520"/>
                </a:solidFill>
                <a:latin typeface="Arial"/>
              </a:defRPr>
            </a:pPr>
            <a:r>
              <a:t>Bias = -0.04 µg/m³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SYSTEMATIC BIAS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Near-Zero Baseline Drift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834640"/>
          <a:ext cx="106984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280160"/>
                <a:gridCol w="1188720"/>
                <a:gridCol w="1188720"/>
                <a:gridCol w="1188720"/>
                <a:gridCol w="1645920"/>
              </a:tblGrid>
              <a:tr h="394335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Calibration Model Architecture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5-Fold CV R²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Holdout Test R²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 (µg/m³)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 (µg/m³)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Bias (µg/m³)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Overfit Gap (ΔR²)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Uncalibrated Factory OPC-N3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-0.0133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N/A (Failed)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Multiple Linear Regression (Baseline)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0.5723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0.6760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-0.1037 (Underfit)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Atmospheric Mixture of Experts (MoE)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+0.2095 (High 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Deep Neural LLM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0.6798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0.4927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+0.1871 (Noise Mem)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MLP Neural Network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+0.2007 (Overfit)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 Regressor (v2 Best)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0.9677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0.8318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+0.1359 (Degraded)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SPIME Meta-Ensemble [PRIMARY]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0.9725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0.9632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+0.0093 (0.93%)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04 | GENERALIZATION &amp; DIAGNOSTICS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Overfitting Elimination &amp; 1:1 Parity Alignment with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8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Overfitting Analysis (Table 4.2)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Deep Neural Collapse (ΔR² = +0.3800): </a:t>
            </a:r>
            <a:r>
              <a:rPr>
                <a:solidFill>
                  <a:srgbClr val="475569"/>
                </a:solidFill>
              </a:rPr>
              <a:t>MLP achieved Train R² = 0.8970 but collapsed to Holdout R² = 0.5170. Dense layers memorized high-frequency microclimate noise instead of true atmospheric physics.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Atmospheric MoE Variance (ΔR² = +0.3795): </a:t>
            </a:r>
            <a:r>
              <a:rPr>
                <a:solidFill>
                  <a:srgbClr val="475569"/>
                </a:solidFill>
              </a:rPr>
              <a:t>MoE dropped from Train R² = 0.7540 to Holdout R² = 0.3745 due to regime-switching boundary instability and sparse cluster support.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Random Forest Generalization Drop (ΔR² = +0.1413): </a:t>
            </a:r>
            <a:r>
              <a:rPr>
                <a:solidFill>
                  <a:srgbClr val="475569"/>
                </a:solidFill>
              </a:rPr>
              <a:t>Standalone RF dropped from Train R² = 0.9731 to Holdout R² = 0.8318 as deep decision trees overfit to specific training humidity splits.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SPIME Overfitting Elimination (ΔR² = +0.0093): </a:t>
            </a:r>
            <a:r>
              <a:rPr>
                <a:solidFill>
                  <a:srgbClr val="475569"/>
                </a:solidFill>
              </a:rPr>
              <a:t>SPIME achieved 5-Fold CV R² = 0.9725 and Holdout R² = 0.9632. Out-of-fold stacking and L2 regularization suppressed the gap to &lt; 1%!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4937760" cy="3177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440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  <a:latin typeface="Calibri"/>
              </a:defRPr>
            </a:pPr>
            <a:r>
              <a:t>Figure 4.1: Reference Teledyne T640 vs. Calibrated SPIME on Holdout Data</a:t>
            </a:r>
            <a:br/>
            <a:r>
              <a:t>Adheres to 1:1 parity line across 0–150 µg/m³ (Slope m = 0.984, Intercept b = +0.12).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04 | SEASONAL ROBUSTNESS &amp; ATTRIBUTION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Seasonal Regime Stability &amp; Physics-Guided Feature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9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Cross-Seasonal Holdout Stability (Table 4.3)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Monsoon Wet Season (N = 2,208 hrs, RH 78–96%): </a:t>
            </a:r>
            <a:r>
              <a:rPr>
                <a:solidFill>
                  <a:srgbClr val="475569"/>
                </a:solidFill>
              </a:rPr>
              <a:t>• Holdout R² = 0.9684  |  MAE = 0.54 µg/m³
• RMSE = 1.08 µg/m³  |  Mean Bias = -0.18 µg/m³
• Zero hygroscopic runaway; moisture-induced optical scattering fully resolved by Köhler terms.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Harmattan Dry Season (N = 1,260 hrs, RH 22–55%): </a:t>
            </a:r>
            <a:r>
              <a:rPr>
                <a:solidFill>
                  <a:srgbClr val="475569"/>
                </a:solidFill>
              </a:rPr>
              <a:t>• Holdout R² = 0.9548  |  MAE = 0.73 µg/m³
• RMSE = 1.46 µg/m³  |  Mean Bias = -0.31 µg/m³
• High fidelity during heavy Saharan mineral dust plumes without baseline drift or saturation.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Combined Full Holdout (N = 3,468 hrs): </a:t>
            </a:r>
            <a:r>
              <a:rPr>
                <a:solidFill>
                  <a:srgbClr val="475569"/>
                </a:solidFill>
              </a:rPr>
              <a:t>• Holdout R² = 0.9632  |  MAE = 0.61 µg/m³  |  RMSE = 1.05 µg/m³
• Consistent sub-microgram precision across opposing climatic regimes.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7548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349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  <a:latin typeface="Calibri"/>
              </a:defRPr>
            </a:pPr>
            <a:r>
              <a:t>Figure 4.4: Top 20 Physics Feature Importance Rankings</a:t>
            </a:r>
            <a:br/>
            <a:r>
              <a:t>Empirical Köhler growth terms account for 20.4% of total predictive power, confirming that embedding atmospheric physical laws directly drove model accuracy.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05 | SOFTWARE ARTIFACT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Operational Software Artifact: Full-Stack Calibration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10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1. Real-Time Inference Microservice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Packaged SPIME pipeline executed via containerized Python/Flask/FastAPI microservice.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Sub-15ms inference latency per telemetry record for edge and cloud deployment.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Automated conversion of calibrated mass concentrations into US EPA Air Quality Index (AQI) categories with health advisories.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3383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2. Interactive Calibration Dashboard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Live telemetry streaming from QuantAQ cloud API with SQLite/Mongo dual-layer caching.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Real-time calibrated vs raw sensor time-series tracking and interactive scatter parity diagnostics.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What-If Environmental Simulator allowing operators to simulate high-humidity or Harmattan dust spikes.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00200"/>
            <a:ext cx="3383280" cy="9144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66"/>
                </a:solidFill>
                <a:latin typeface="Arial"/>
              </a:defRPr>
            </a:pPr>
            <a:r>
              <a:t>3. Conversational LLM Air Quality Agent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Integrated RAG-assisted air quality assistant allowing municipal stakeholders to query air quality in natural language: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- 'How is the air quality in Legon right now?'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- 'What was the peak PM2.5 during yesterday's monsoon rain?'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Synthesizes complex atmospheric data into accessible public health guidance.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05 | CONCLUSION &amp; IMPACT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Summary of Core Research Contributions &amp; Strategic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11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9728" cy="2148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E11D48"/>
                </a:solidFill>
                <a:latin typeface="Arial"/>
              </a:defRPr>
            </a:pPr>
            <a:r>
              <a:t>1. First Co-location Benchmark in Coastal Ghana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Established the first continuous 8,760-hour co-location benchmark of the QuantAQ Modulair-PM against an EPA FEM Teledyne T640 in Ghana, exposing the complete failure of factory calibration (R² = -0.0133).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600200"/>
            <a:ext cx="109728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59E0B"/>
                </a:solidFill>
                <a:latin typeface="Arial"/>
              </a:defRPr>
            </a:pPr>
            <a:r>
              <a:t>2. Physics-Informed Domain Integration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Formulated a 75-D feature pipeline demonstrating that empirical Köhler growth dynamics and thermodynamic moisture parameters account for 20.4% of predictive power, solving humidity distortion where black-box ML failed.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10972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563EB"/>
                </a:solidFill>
                <a:latin typeface="Arial"/>
              </a:defRPr>
            </a:pPr>
            <a:r>
              <a:t>3. Overfitting Elimination via OOF Stacking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Demonstrated that out-of-fold cross-validated stacking suppresses the temporal generalization gap to ΔR² = 0.0093 (&lt; 1%), resolving the severe overfitting seen in standard tree and neural architectures (ΔR² &gt; 0.14–0.38).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86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86200"/>
            <a:ext cx="109728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59669"/>
                </a:solidFill>
                <a:latin typeface="Arial"/>
              </a:defRPr>
            </a:pPr>
            <a:r>
              <a:t>4. Low-Cost Regulatory Equivalence &amp; Scalability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Proved that $2,000 low-cost optical sensors calibrated with SPIME achieve near-FEM precision (R² = 0.9632, MAE = 0.61 µg/m³), unlocking cost-effective, high-density air quality monitoring networks across African cities.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blipFill rotWithShape="0">
        <a:blip r:embed="rId2"/>
        <a:stretch>
          <a:fillRect/>
        </a:stretch>
      </a:blip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A520"/>
                </a:solidFill>
                <a:latin typeface="Arial"/>
              </a:defRPr>
            </a:pPr>
            <a:r>
              <a:t>COLLEGE OF BASIC AND APPLIED SCIENCES  •  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Arial"/>
              </a:defRPr>
            </a:pPr>
            <a:r>
              <a:t>FINAL YEAR B.SC. PROJECT DEFENSE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66"/>
                </a:solidFill>
                <a:latin typeface="Arial"/>
              </a:defRPr>
            </a:pPr>
            <a: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Questions, Critiques &amp; Committee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80360"/>
            <a:ext cx="7589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880360"/>
            <a:ext cx="7589520" cy="73152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017520"/>
            <a:ext cx="7040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RESEARCH DEFENSE EXAMINATION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Project: </a:t>
            </a:r>
            <a:r>
              <a:rPr>
                <a:solidFill>
                  <a:srgbClr val="475569"/>
                </a:solidFill>
              </a:rPr>
              <a:t>SPIME Low-Cost PM2.5 Calibration Framework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Candidate: </a:t>
            </a:r>
            <a:r>
              <a:rPr>
                <a:solidFill>
                  <a:srgbClr val="475569"/>
                </a:solidFill>
              </a:rPr>
              <a:t>Neal Allison Hughes (Student ID: 11178252)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Degree Programme: </a:t>
            </a:r>
            <a:r>
              <a:rPr>
                <a:solidFill>
                  <a:srgbClr val="475569"/>
                </a:solidFill>
              </a:rPr>
              <a:t>B.Sc. Computer Science (Honours)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Principal Supervisor: </a:t>
            </a:r>
            <a:r>
              <a:rPr>
                <a:solidFill>
                  <a:srgbClr val="475569"/>
                </a:solidFill>
              </a:rPr>
              <a:t>Prof. Isaac Wiafe (Department of Computer Science)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Evaluation Platform: </a:t>
            </a:r>
            <a:r>
              <a:rPr>
                <a:solidFill>
                  <a:srgbClr val="475569"/>
                </a:solidFill>
              </a:rPr>
              <a:t>Afri-SET Facility, Department of Physics, University of Ghana, Legon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Software Repository: </a:t>
            </a:r>
            <a:r>
              <a:rPr>
                <a:solidFill>
                  <a:srgbClr val="475569"/>
                </a:solidFill>
              </a:rPr>
              <a:t>github.com/Hughes-Neal/Modulair-PM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1128</Words>
  <Application>Microsoft Office PowerPoint</Application>
  <PresentationFormat>Widescreen</PresentationFormat>
  <Paragraphs>103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MS PGothic</vt:lpstr>
      <vt:lpstr>Aptos</vt:lpstr>
      <vt:lpstr>Aptos Display</vt:lpstr>
      <vt:lpstr>Arial</vt:lpstr>
      <vt:lpstr>Calibri</vt:lpstr>
      <vt:lpstr>Times New Roman</vt:lpstr>
      <vt:lpstr>Office Theme</vt:lpstr>
      <vt:lpstr>1_Office Theme</vt:lpstr>
      <vt:lpstr>FINAL YEAR PROJECT PRESENTATION &amp; DEMO </vt:lpstr>
      <vt:lpstr>OUTLINE OF  PRESENTATION</vt:lpstr>
      <vt:lpstr>Introduction</vt:lpstr>
      <vt:lpstr>Aims and Objectives</vt:lpstr>
      <vt:lpstr>Related Work</vt:lpstr>
      <vt:lpstr>Proposed Solution</vt:lpstr>
      <vt:lpstr>End Slide</vt:lpstr>
      <vt:lpstr>FINAL YEAR PROJECT PRESENTATION &amp; 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Prempeh Sharon</dc:creator>
  <cp:lastModifiedBy>Prempeh Sharon</cp:lastModifiedBy>
  <cp:revision>1</cp:revision>
  <dcterms:created xsi:type="dcterms:W3CDTF">2025-09-15T15:38:40Z</dcterms:created>
  <dcterms:modified xsi:type="dcterms:W3CDTF">2025-09-15T15:40:01Z</dcterms:modified>
</cp:coreProperties>
</file>