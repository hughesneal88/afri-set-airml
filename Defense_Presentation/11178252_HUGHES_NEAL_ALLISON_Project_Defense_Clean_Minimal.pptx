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members of the Examination Committee and Head of Department. My name is Neal Allison Hughes, and today I present my undergraduate thesis defense on 'SPIME: A Stacked Physics-Informed Meta-Ensemble for Low-Cost PM2.5 Sensor Calibration Under Tropical and Harmattan Meteorological Regimes in Sub-Saharan Africa', supervised by Professor Isaac Wiafe.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outline of my presentation. I will cover the context, the physical failure modes of low-cost sensors, our experimental setup at Afri-SET, the 75-dimensional physics feature engineering, our SPIME stacking architecture, empirical holdout results, overfitting diagnostics,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Ambient air pollution is a leading global public health crisis. In Sub-Saharan Africa, the monitoring deficit is severe because regulatory reference stations cost upwards of $30,000. Low-cost optical sensors cost under $2,000, but their raw factory calibrations fail in West Africa. Our objective is to bridge this hardware gap with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Optical particle counters rely on Mie scattering theory. They assume dry, spherical particles of constant density. Under tropical relative humidity, aerosol particles absorb moisture and swell. The sensor interprets this water volume as massive pollution. During the Harmattan season, coarse mineral dust alters optical scattering properties. We must compensate for these physical interferences explicitly.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 research reveals four core limitations: First, factory calibrations fail completely with negative R². Second, linear regression underfits exponential humidity growth. Third, deep neural networks overfit on time-series noise. And fourth, random train-test splitting causes temporal data leakage, masking a 14% overfitting drop.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aim was to design and deploy SPIME v4 to achieve reference-grade calibration fidelity. We defined five core objectives covering data curation at Afri-SET, 75-dimensional physics feature engineering, hierarchical stacking ensemble design, strict holdout validation, and software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experimental platform is Afri-SET at the University of Ghana. We co-located the QuantAQ Modulair-PM sensor with an EPA FEM Teledyne T640 reference monitor across 2024 and 2025. Data was block-averaged to 1 hour, quality-filtered, and aligned into a clean time-series matrix.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3.2 illustrates our 5-stage end-to-end pipeline: Stage 1 ingests the raw sensor and reference streams. Stage 2 executes quality assurance. Stage 3 derives the 75-dimensional physics feature matrix. Stage 4 executes SPIME v4 stacking with 5-Fold out-of-fold matrix generation. And Stage 5 delivers reference-grade calibrated PM2.5 concentrations.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forcing machine learning trees to guess non-linear thermodynamics, we engineered 75 physics-informed features. We formulated 8 empirical Köhler growth curves across various gamma exponents, decoupled moisture using Absolute Humidity, VPD, and Dew Point depression, and derived multi-window EWMA time-series trends.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SPIME v4 architecture: In Level 0, we train four diverse tree models: Random Forest, ExtraTrees, LightGBM, and HistGradientBoosting. In Level 1, we use 5-Fold Cross-Validation to generate an out-of-fold stacking matrix S_train. In Level 2, an L2-regularized RidgeCV meta-learner blends these predictions into the final calibrated PM2.5 estimate.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strength of our methodology is experimental rigor. Random train-test splitting causes data leakage on autocorrelated time series. To prevent this, we locked the final 6 months of data—3,468 continuous hours—as an unseen out-of-sample holdout.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primary empirical findings on the 6-month holdout dataset of 3,468 unseen hours. Factory default failed completely with negative R². Linear regression reached 0.67. Standalone Random Forest achieved 0.83 but had a 14% overfit gap. Our SPIME v4 model achieved R² = 0.9632, reduced MAE to 0.61 µg/m³—a 66.3% error reduction—and eliminated the overfitting gap entirely.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4.1 shows the holdout scatter plot tightly clustering along the 1:1 reference line. Figure 4.2 shows a 300-hour continuous tracking segment. SPIME predictions in orange match the FEM reference in blue with high fidelity across diurnal cycles.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achievement of SPIME v4 is resolving the overfitting crisis in sensor calibration. Neural networks suffered a 40% drop. Standalone Random Forest dropped 14%. In contrast, SPIME v4 had a near-zero gap of -0.0002 because 5-Fold out-of-fold stacking forces the meta-learner to evaluate base models strictly on unseen data errors.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4.4 confirms that Köhler growth curves and thermodynamic parameters account for over 35% of total predictive power. This proves that SPIME v4 is learning genuine atmospheric physics rather than memorizing statistical noise.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verified performance across both weather regimes: In the Monsoon season, SPIME v4 achieved R² = 0.9684 and MAE = 0.54 µg/m³. In the Harmattan dry season, it maintained R² = 0.9548. This confirms season-agnostic robustness.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 error analysis confirms compliance with statistical modeling assumptions. Residual errors follow a zero-mean Gaussian distribution where over 92% of all hourly errors are within ±1.5 µg/m³, and error variance remains homoscedastic across the entire 5 to 80 µg/m³ concentration range.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packaged the trained SPIME v4 pipeline into a lightweight 7.8 MB serialized artifact. Integrated into the Afri-SET backend (prepare_backend.py), it ingests live sensor telemetry, calculates 75 physics features, and outputs calibrated PM2.5 readings in under 15 milliseconds for public web mapping.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contributions: First, we introduced multi-gamma Köhler physics to low-cost sensor calibration in Sub-Saharan Africa. Second, we solved the temporal overfitting problem with OOF stacking. Third, we developed Harmattan dust adaptation algorithms. And fourth, we deployed an open-source pipeline for Afri-SET.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note three limitations: single-node co-location, PM2.5 focus, and long-term laser aging. Future research will explore multi-city transferability across West and East Africa, few-shot transfer learning for new sensors, and citizen mobile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SPIME v4 bridges the $30,000 hardware gap. By embedding Köhler droplet physics into a stacked meta-ensemble, we turned a $2,000 low-cost sensor into a regulatory-grade monitor that does not overfit across extreme African weather. This provides a scalable foundation for evidence-based clean air policies across Sub-Saharan Africa.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Professor Wiafe and distinguished members of the Examination Committee. I am now open to your questions, critiques,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822960"/>
            <a:ext cx="9966960" cy="365760"/>
          </a:xfrm>
          <a:prstGeom prst="rect">
            <a:avLst/>
          </a:prstGeom>
          <a:noFill/>
        </p:spPr>
        <p:txBody>
          <a:bodyPr wrap="none">
            <a:spAutoFit/>
          </a:bodyPr>
          <a:lstStyle/>
          <a:p>
            <a:pPr>
              <a:defRPr sz="1000" b="1">
                <a:solidFill>
                  <a:srgbClr val="1E3A8A"/>
                </a:solidFill>
                <a:latin typeface="Arial"/>
              </a:defRPr>
            </a:pPr>
            <a:r>
              <a:t>UNIVERSITY OF GHANA  |  DEPARTMENT OF COMPUTER SCIENCE</a:t>
            </a:r>
          </a:p>
        </p:txBody>
      </p:sp>
      <p:sp>
        <p:nvSpPr>
          <p:cNvPr id="4" name="TextBox 3"/>
          <p:cNvSpPr txBox="1"/>
          <p:nvPr/>
        </p:nvSpPr>
        <p:spPr>
          <a:xfrm>
            <a:off x="1097280" y="1234440"/>
            <a:ext cx="9966960" cy="2103120"/>
          </a:xfrm>
          <a:prstGeom prst="rect">
            <a:avLst/>
          </a:prstGeom>
          <a:noFill/>
        </p:spPr>
        <p:txBody>
          <a:bodyPr wrap="square">
            <a:spAutoFit/>
          </a:bodyPr>
          <a:lstStyle/>
          <a:p>
            <a:pPr>
              <a:lnSpc>
                <a:spcPct val="115000"/>
              </a:lnSpc>
              <a:defRPr sz="2300" b="1">
                <a:solidFill>
                  <a:srgbClr val="1A202C"/>
                </a:solidFill>
                <a:latin typeface="Arial"/>
              </a:defRPr>
            </a:pPr>
            <a:r>
              <a:t>SPIME: A Stacked Physics-Informed Meta-Ensemble for Low-Cost PM2.5 Sensor Calibration Under Tropical and Harmattan Meteorological Regimes in Sub-Saharan Africa</a:t>
            </a:r>
          </a:p>
          <a:p>
            <a:pPr>
              <a:spcBef>
                <a:spcPts val="800"/>
              </a:spcBef>
              <a:defRPr sz="1300" b="1">
                <a:solidFill>
                  <a:srgbClr val="64748B"/>
                </a:solidFill>
                <a:latin typeface="Arial"/>
              </a:defRPr>
            </a:pPr>
            <a:r>
              <a:t>Final Year Undergraduate B.Sc. Project Defense</a:t>
            </a:r>
          </a:p>
        </p:txBody>
      </p:sp>
      <p:sp>
        <p:nvSpPr>
          <p:cNvPr id="5" name="Rectangle 4"/>
          <p:cNvSpPr/>
          <p:nvPr/>
        </p:nvSpPr>
        <p:spPr>
          <a:xfrm>
            <a:off x="1097280" y="3566160"/>
            <a:ext cx="9966960"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3840480"/>
            <a:ext cx="47548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3977639"/>
            <a:ext cx="4389120" cy="1737360"/>
          </a:xfrm>
          <a:prstGeom prst="rect">
            <a:avLst/>
          </a:prstGeom>
          <a:noFill/>
        </p:spPr>
        <p:txBody>
          <a:bodyPr wrap="none">
            <a:spAutoFit/>
          </a:bodyPr>
          <a:lstStyle/>
          <a:p>
            <a:pPr>
              <a:defRPr sz="950" b="1">
                <a:solidFill>
                  <a:srgbClr val="1E3A8A"/>
                </a:solidFill>
                <a:latin typeface="Arial"/>
              </a:defRPr>
            </a:pPr>
            <a:r>
              <a:t>CANDIDATE</a:t>
            </a:r>
          </a:p>
          <a:p>
            <a:pPr>
              <a:spcBef>
                <a:spcPts val="400"/>
              </a:spcBef>
              <a:defRPr sz="1500" b="1">
                <a:solidFill>
                  <a:srgbClr val="1A202C"/>
                </a:solidFill>
                <a:latin typeface="Arial"/>
              </a:defRPr>
            </a:pPr>
            <a:r>
              <a:t>Neal Allison Hughes</a:t>
            </a:r>
          </a:p>
          <a:p>
            <a:pPr>
              <a:defRPr sz="1100">
                <a:solidFill>
                  <a:srgbClr val="64748B"/>
                </a:solidFill>
                <a:latin typeface="Arial"/>
              </a:defRPr>
            </a:pPr>
            <a:r>
              <a:t>Student ID: 11178252</a:t>
            </a:r>
            <a:br/>
            <a:r>
              <a:t>Bachelor of Science in Computer Science</a:t>
            </a:r>
          </a:p>
        </p:txBody>
      </p:sp>
      <p:sp>
        <p:nvSpPr>
          <p:cNvPr id="8" name="Rounded Rectangle 7"/>
          <p:cNvSpPr/>
          <p:nvPr/>
        </p:nvSpPr>
        <p:spPr>
          <a:xfrm>
            <a:off x="6126480" y="3840480"/>
            <a:ext cx="493776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3977639"/>
            <a:ext cx="4572000" cy="1737360"/>
          </a:xfrm>
          <a:prstGeom prst="rect">
            <a:avLst/>
          </a:prstGeom>
          <a:noFill/>
        </p:spPr>
        <p:txBody>
          <a:bodyPr wrap="none">
            <a:spAutoFit/>
          </a:bodyPr>
          <a:lstStyle/>
          <a:p>
            <a:pPr>
              <a:defRPr sz="950" b="1">
                <a:solidFill>
                  <a:srgbClr val="1E3A8A"/>
                </a:solidFill>
                <a:latin typeface="Arial"/>
              </a:defRPr>
            </a:pPr>
            <a:r>
              <a:t>SUPERVISION &amp; RESEARCH PLATFORM</a:t>
            </a:r>
          </a:p>
          <a:p>
            <a:pPr>
              <a:spcBef>
                <a:spcPts val="400"/>
              </a:spcBef>
              <a:defRPr sz="1500" b="1">
                <a:solidFill>
                  <a:srgbClr val="1A202C"/>
                </a:solidFill>
                <a:latin typeface="Arial"/>
              </a:defRPr>
            </a:pPr>
            <a:r>
              <a:t>Professor Isaac Wiafe</a:t>
            </a:r>
          </a:p>
          <a:p>
            <a:pPr>
              <a:defRPr sz="1100">
                <a:solidFill>
                  <a:srgbClr val="64748B"/>
                </a:solidFill>
                <a:latin typeface="Arial"/>
              </a:defRPr>
            </a:pPr>
            <a:r>
              <a:t>African Clean Air Technology Centre (Afri-SET)</a:t>
            </a:r>
            <a:br/>
            <a:r>
              <a:t>Department of Physics &amp; Computer Science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OVERVIEW</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Presentation Roadmap</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72768"/>
            <a:ext cx="4800600" cy="822960"/>
          </a:xfrm>
          <a:prstGeom prst="rect">
            <a:avLst/>
          </a:prstGeom>
          <a:noFill/>
        </p:spPr>
        <p:txBody>
          <a:bodyPr wrap="square">
            <a:spAutoFit/>
          </a:bodyPr>
          <a:lstStyle/>
          <a:p>
            <a:r>
              <a:rPr b="1" sz="1100">
                <a:solidFill>
                  <a:srgbClr val="1E3A8A"/>
                </a:solidFill>
              </a:rPr>
              <a:t>01  </a:t>
            </a:r>
            <a:r>
              <a:rPr b="1" sz="1200">
                <a:solidFill>
                  <a:srgbClr val="1A202C"/>
                </a:solidFill>
              </a:rPr>
              <a:t>Motivation &amp; Air Quality Deficit</a:t>
            </a:r>
          </a:p>
          <a:p>
            <a:pPr>
              <a:spcBef>
                <a:spcPts val="200"/>
              </a:spcBef>
              <a:defRPr sz="1000">
                <a:solidFill>
                  <a:srgbClr val="64748B"/>
                </a:solidFill>
              </a:defRPr>
            </a:pPr>
            <a:r>
              <a:t>The $30,000 regulatory barrier &amp; monitoring deficit across Africa</a:t>
            </a:r>
          </a:p>
        </p:txBody>
      </p:sp>
      <p:sp>
        <p:nvSpPr>
          <p:cNvPr id="9" name="Rounded Rectangle 8"/>
          <p:cNvSpPr/>
          <p:nvPr/>
        </p:nvSpPr>
        <p:spPr>
          <a:xfrm>
            <a:off x="6217920" y="1463040"/>
            <a:ext cx="51663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72768"/>
            <a:ext cx="4800600" cy="822960"/>
          </a:xfrm>
          <a:prstGeom prst="rect">
            <a:avLst/>
          </a:prstGeom>
          <a:noFill/>
        </p:spPr>
        <p:txBody>
          <a:bodyPr wrap="square">
            <a:spAutoFit/>
          </a:bodyPr>
          <a:lstStyle/>
          <a:p>
            <a:r>
              <a:rPr b="1" sz="1100">
                <a:solidFill>
                  <a:srgbClr val="1E3A8A"/>
                </a:solidFill>
              </a:rPr>
              <a:t>02  </a:t>
            </a:r>
            <a:r>
              <a:rPr b="1" sz="1200">
                <a:solidFill>
                  <a:srgbClr val="1A202C"/>
                </a:solidFill>
              </a:rPr>
              <a:t>Optical Sensor Failure Modes</a:t>
            </a:r>
          </a:p>
          <a:p>
            <a:pPr>
              <a:spcBef>
                <a:spcPts val="200"/>
              </a:spcBef>
              <a:defRPr sz="1000">
                <a:solidFill>
                  <a:srgbClr val="64748B"/>
                </a:solidFill>
              </a:defRPr>
            </a:pPr>
            <a:r>
              <a:t>Mie scattering breakdowns under tropical humidity &amp; Harmattan dust</a:t>
            </a:r>
          </a:p>
        </p:txBody>
      </p:sp>
      <p:sp>
        <p:nvSpPr>
          <p:cNvPr id="11" name="Rounded Rectangle 10"/>
          <p:cNvSpPr/>
          <p:nvPr/>
        </p:nvSpPr>
        <p:spPr>
          <a:xfrm>
            <a:off x="822960" y="2651760"/>
            <a:ext cx="51663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61488"/>
            <a:ext cx="4800600" cy="822960"/>
          </a:xfrm>
          <a:prstGeom prst="rect">
            <a:avLst/>
          </a:prstGeom>
          <a:noFill/>
        </p:spPr>
        <p:txBody>
          <a:bodyPr wrap="square">
            <a:spAutoFit/>
          </a:bodyPr>
          <a:lstStyle/>
          <a:p>
            <a:r>
              <a:rPr b="1" sz="1100">
                <a:solidFill>
                  <a:srgbClr val="1E3A8A"/>
                </a:solidFill>
              </a:rPr>
              <a:t>03  </a:t>
            </a:r>
            <a:r>
              <a:rPr b="1" sz="1200">
                <a:solidFill>
                  <a:srgbClr val="1A202C"/>
                </a:solidFill>
              </a:rPr>
              <a:t>Afri-SET Co-location Platform</a:t>
            </a:r>
          </a:p>
          <a:p>
            <a:pPr>
              <a:spcBef>
                <a:spcPts val="200"/>
              </a:spcBef>
              <a:defRPr sz="1000">
                <a:solidFill>
                  <a:srgbClr val="64748B"/>
                </a:solidFill>
              </a:defRPr>
            </a:pPr>
            <a:r>
              <a:t>Synchronized 2024–2025 dataset (QuantAQ LCS vs. Teledyne FEM T640)</a:t>
            </a:r>
          </a:p>
        </p:txBody>
      </p:sp>
      <p:sp>
        <p:nvSpPr>
          <p:cNvPr id="13" name="Rounded Rectangle 12"/>
          <p:cNvSpPr/>
          <p:nvPr/>
        </p:nvSpPr>
        <p:spPr>
          <a:xfrm>
            <a:off x="6217920" y="2651760"/>
            <a:ext cx="51663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761488"/>
            <a:ext cx="4800600" cy="822960"/>
          </a:xfrm>
          <a:prstGeom prst="rect">
            <a:avLst/>
          </a:prstGeom>
          <a:noFill/>
        </p:spPr>
        <p:txBody>
          <a:bodyPr wrap="square">
            <a:spAutoFit/>
          </a:bodyPr>
          <a:lstStyle/>
          <a:p>
            <a:r>
              <a:rPr b="1" sz="1100">
                <a:solidFill>
                  <a:srgbClr val="1E3A8A"/>
                </a:solidFill>
              </a:rPr>
              <a:t>04  </a:t>
            </a:r>
            <a:r>
              <a:rPr b="1" sz="1200">
                <a:solidFill>
                  <a:srgbClr val="1A202C"/>
                </a:solidFill>
              </a:rPr>
              <a:t>75-D Physics Feature Space</a:t>
            </a:r>
          </a:p>
          <a:p>
            <a:pPr>
              <a:spcBef>
                <a:spcPts val="200"/>
              </a:spcBef>
              <a:defRPr sz="1000">
                <a:solidFill>
                  <a:srgbClr val="64748B"/>
                </a:solidFill>
              </a:defRPr>
            </a:pPr>
            <a:r>
              <a:t>Multi-gamma Köhler curves f(RH,γ), thermodynamics &amp; EWMA trends</a:t>
            </a:r>
          </a:p>
        </p:txBody>
      </p:sp>
      <p:sp>
        <p:nvSpPr>
          <p:cNvPr id="15" name="Rounded Rectangle 14"/>
          <p:cNvSpPr/>
          <p:nvPr/>
        </p:nvSpPr>
        <p:spPr>
          <a:xfrm>
            <a:off x="822960" y="3840480"/>
            <a:ext cx="51663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950208"/>
            <a:ext cx="4800600" cy="822960"/>
          </a:xfrm>
          <a:prstGeom prst="rect">
            <a:avLst/>
          </a:prstGeom>
          <a:noFill/>
        </p:spPr>
        <p:txBody>
          <a:bodyPr wrap="square">
            <a:spAutoFit/>
          </a:bodyPr>
          <a:lstStyle/>
          <a:p>
            <a:r>
              <a:rPr b="1" sz="1100">
                <a:solidFill>
                  <a:srgbClr val="1E3A8A"/>
                </a:solidFill>
              </a:rPr>
              <a:t>05  </a:t>
            </a:r>
            <a:r>
              <a:rPr b="1" sz="1200">
                <a:solidFill>
                  <a:srgbClr val="1A202C"/>
                </a:solidFill>
              </a:rPr>
              <a:t>SPIME v4 Stacking Architecture</a:t>
            </a:r>
          </a:p>
          <a:p>
            <a:pPr>
              <a:spcBef>
                <a:spcPts val="200"/>
              </a:spcBef>
              <a:defRPr sz="1000">
                <a:solidFill>
                  <a:srgbClr val="64748B"/>
                </a:solidFill>
              </a:defRPr>
            </a:pPr>
            <a:r>
              <a:t>4 diverse base tree models + 5-Fold OOF matrix + RidgeCV meta-learner</a:t>
            </a:r>
          </a:p>
        </p:txBody>
      </p:sp>
      <p:sp>
        <p:nvSpPr>
          <p:cNvPr id="17" name="Rounded Rectangle 16"/>
          <p:cNvSpPr/>
          <p:nvPr/>
        </p:nvSpPr>
        <p:spPr>
          <a:xfrm>
            <a:off x="6217920" y="3840480"/>
            <a:ext cx="51663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950208"/>
            <a:ext cx="4800600" cy="822960"/>
          </a:xfrm>
          <a:prstGeom prst="rect">
            <a:avLst/>
          </a:prstGeom>
          <a:noFill/>
        </p:spPr>
        <p:txBody>
          <a:bodyPr wrap="square">
            <a:spAutoFit/>
          </a:bodyPr>
          <a:lstStyle/>
          <a:p>
            <a:r>
              <a:rPr b="1" sz="1100">
                <a:solidFill>
                  <a:srgbClr val="1E3A8A"/>
                </a:solidFill>
              </a:rPr>
              <a:t>06  </a:t>
            </a:r>
            <a:r>
              <a:rPr b="1" sz="1200">
                <a:solidFill>
                  <a:srgbClr val="1A202C"/>
                </a:solidFill>
              </a:rPr>
              <a:t>Empirical Holdout Performance</a:t>
            </a:r>
          </a:p>
          <a:p>
            <a:pPr>
              <a:spcBef>
                <a:spcPts val="200"/>
              </a:spcBef>
              <a:defRPr sz="1000">
                <a:solidFill>
                  <a:srgbClr val="64748B"/>
                </a:solidFill>
              </a:defRPr>
            </a:pPr>
            <a:r>
              <a:t>R² = 0.9632, MAE = 0.61 µg/m³ (66.3% error reduction over RF)</a:t>
            </a:r>
          </a:p>
        </p:txBody>
      </p:sp>
      <p:sp>
        <p:nvSpPr>
          <p:cNvPr id="19" name="Rounded Rectangle 18"/>
          <p:cNvSpPr/>
          <p:nvPr/>
        </p:nvSpPr>
        <p:spPr>
          <a:xfrm>
            <a:off x="822960" y="5029200"/>
            <a:ext cx="51663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138928"/>
            <a:ext cx="4800600" cy="822960"/>
          </a:xfrm>
          <a:prstGeom prst="rect">
            <a:avLst/>
          </a:prstGeom>
          <a:noFill/>
        </p:spPr>
        <p:txBody>
          <a:bodyPr wrap="square">
            <a:spAutoFit/>
          </a:bodyPr>
          <a:lstStyle/>
          <a:p>
            <a:r>
              <a:rPr b="1" sz="1100">
                <a:solidFill>
                  <a:srgbClr val="1E3A8A"/>
                </a:solidFill>
              </a:rPr>
              <a:t>07  </a:t>
            </a:r>
            <a:r>
              <a:rPr b="1" sz="1200">
                <a:solidFill>
                  <a:srgbClr val="1A202C"/>
                </a:solidFill>
              </a:rPr>
              <a:t>Zero-Overfitting &amp; Explainability</a:t>
            </a:r>
          </a:p>
          <a:p>
            <a:pPr>
              <a:spcBef>
                <a:spcPts val="200"/>
              </a:spcBef>
              <a:defRPr sz="1000">
                <a:solidFill>
                  <a:srgbClr val="64748B"/>
                </a:solidFill>
              </a:defRPr>
            </a:pPr>
            <a:r>
              <a:t>Overfit gap = -0.0002, Gini physical feature importances &amp; residual tests</a:t>
            </a:r>
          </a:p>
        </p:txBody>
      </p:sp>
      <p:sp>
        <p:nvSpPr>
          <p:cNvPr id="21" name="Rounded Rectangle 20"/>
          <p:cNvSpPr/>
          <p:nvPr/>
        </p:nvSpPr>
        <p:spPr>
          <a:xfrm>
            <a:off x="6217920" y="5029200"/>
            <a:ext cx="51663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5138928"/>
            <a:ext cx="4800600" cy="822960"/>
          </a:xfrm>
          <a:prstGeom prst="rect">
            <a:avLst/>
          </a:prstGeom>
          <a:noFill/>
        </p:spPr>
        <p:txBody>
          <a:bodyPr wrap="square">
            <a:spAutoFit/>
          </a:bodyPr>
          <a:lstStyle/>
          <a:p>
            <a:r>
              <a:rPr b="1" sz="1100">
                <a:solidFill>
                  <a:srgbClr val="1E3A8A"/>
                </a:solidFill>
              </a:rPr>
              <a:t>08  </a:t>
            </a:r>
            <a:r>
              <a:rPr b="1" sz="1200">
                <a:solidFill>
                  <a:srgbClr val="1A202C"/>
                </a:solidFill>
              </a:rPr>
              <a:t>Cloud Deployment &amp; Takeaways</a:t>
            </a:r>
          </a:p>
          <a:p>
            <a:pPr>
              <a:spcBef>
                <a:spcPts val="200"/>
              </a:spcBef>
              <a:defRPr sz="1000">
                <a:solidFill>
                  <a:srgbClr val="64748B"/>
                </a:solidFill>
              </a:defRPr>
            </a:pPr>
            <a:r>
              <a:t>Real-time REST API integration for Afri-SET public air quality mapping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01 | CONTEXT &amp; MOTIVATION</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The Air Quality Crisis &amp; Monitoring Deficit in Sub-Saharan Africa</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800600" cy="4389120"/>
          </a:xfrm>
          <a:prstGeom prst="rect">
            <a:avLst/>
          </a:prstGeom>
          <a:noFill/>
        </p:spPr>
        <p:txBody>
          <a:bodyPr wrap="square">
            <a:spAutoFit/>
          </a:bodyPr>
          <a:lstStyle/>
          <a:p>
            <a:pPr>
              <a:spcAft>
                <a:spcPts val="800"/>
              </a:spcAft>
              <a:defRPr sz="1400" b="1">
                <a:solidFill>
                  <a:srgbClr val="1E3A8A"/>
                </a:solidFill>
              </a:defRPr>
            </a:pPr>
            <a:r>
              <a:t>Public Health Toll of Fine PM2.5</a:t>
            </a:r>
          </a:p>
          <a:p>
            <a:pPr>
              <a:lnSpc>
                <a:spcPct val="115000"/>
              </a:lnSpc>
              <a:spcAft>
                <a:spcPts val="600"/>
              </a:spcAft>
            </a:pPr>
            <a:r>
              <a:rPr b="1" sz="1200">
                <a:solidFill>
                  <a:srgbClr val="1E3A8A"/>
                </a:solidFill>
                <a:latin typeface="Arial"/>
              </a:rPr>
              <a:t>6.7 Million Deaths Annually: </a:t>
            </a:r>
            <a:r>
              <a:rPr b="0" sz="1200">
                <a:solidFill>
                  <a:srgbClr val="1A202C"/>
                </a:solidFill>
                <a:latin typeface="Arial"/>
              </a:rPr>
              <a:t>Ambient particulate air pollution is the leading environmental risk factor for premature mortality worldwide (WHO, 2021).</a:t>
            </a:r>
          </a:p>
          <a:p>
            <a:pPr>
              <a:lnSpc>
                <a:spcPct val="115000"/>
              </a:lnSpc>
              <a:spcAft>
                <a:spcPts val="600"/>
              </a:spcAft>
            </a:pPr>
            <a:r>
              <a:rPr b="1" sz="1200">
                <a:solidFill>
                  <a:srgbClr val="1E3A8A"/>
                </a:solidFill>
                <a:latin typeface="Arial"/>
              </a:rPr>
              <a:t>Microscopic Dimension (≤ 2.5 µm): </a:t>
            </a:r>
            <a:r>
              <a:rPr b="0" sz="1200">
                <a:solidFill>
                  <a:srgbClr val="1A202C"/>
                </a:solidFill>
                <a:latin typeface="Arial"/>
              </a:rPr>
              <a:t>PM2.5 penetrates deep into pulmonary alveoli and translocates directly into the bloodstream, triggering cardiovascular and respiratory disease.</a:t>
            </a:r>
          </a:p>
          <a:p>
            <a:pPr>
              <a:lnSpc>
                <a:spcPct val="115000"/>
              </a:lnSpc>
              <a:spcAft>
                <a:spcPts val="600"/>
              </a:spcAft>
            </a:pPr>
            <a:r>
              <a:rPr b="1" sz="1200">
                <a:solidFill>
                  <a:srgbClr val="1E3A8A"/>
                </a:solidFill>
                <a:latin typeface="Arial"/>
              </a:rPr>
              <a:t>West African Urban Density: </a:t>
            </a:r>
            <a:r>
              <a:rPr b="0" sz="1200">
                <a:solidFill>
                  <a:srgbClr val="1A202C"/>
                </a:solidFill>
                <a:latin typeface="Arial"/>
              </a:rPr>
              <a:t>Rapid urbanization in coastal cities like Accra causes heavy emissions from aged diesel engines, solid biomass cooking fuels, and open waste combustion.</a:t>
            </a:r>
          </a:p>
          <a:p>
            <a:pPr>
              <a:lnSpc>
                <a:spcPct val="115000"/>
              </a:lnSpc>
              <a:spcAft>
                <a:spcPts val="600"/>
              </a:spcAft>
            </a:pPr>
            <a:r>
              <a:rPr b="1" sz="1200">
                <a:solidFill>
                  <a:srgbClr val="1E3A8A"/>
                </a:solidFill>
                <a:latin typeface="Arial"/>
              </a:rPr>
              <a:t>The Data Desert: </a:t>
            </a:r>
            <a:r>
              <a:rPr b="0" sz="1200">
                <a:solidFill>
                  <a:srgbClr val="1A202C"/>
                </a:solidFill>
                <a:latin typeface="Arial"/>
              </a:rPr>
              <a:t>Fewer than 10% of African nations possess active, publicly accessible continuous ground monitoring networks.</a:t>
            </a:r>
          </a:p>
        </p:txBody>
      </p:sp>
      <p:sp>
        <p:nvSpPr>
          <p:cNvPr id="9" name="Rounded Rectangle 8"/>
          <p:cNvSpPr/>
          <p:nvPr/>
        </p:nvSpPr>
        <p:spPr>
          <a:xfrm>
            <a:off x="617220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45920"/>
            <a:ext cx="4800600" cy="4389120"/>
          </a:xfrm>
          <a:prstGeom prst="rect">
            <a:avLst/>
          </a:prstGeom>
          <a:noFill/>
        </p:spPr>
        <p:txBody>
          <a:bodyPr wrap="square">
            <a:spAutoFit/>
          </a:bodyPr>
          <a:lstStyle/>
          <a:p>
            <a:pPr>
              <a:spcAft>
                <a:spcPts val="800"/>
              </a:spcAft>
              <a:defRPr sz="1400" b="1">
                <a:solidFill>
                  <a:srgbClr val="1E3A8A"/>
                </a:solidFill>
              </a:defRPr>
            </a:pPr>
            <a:r>
              <a:t>The Reference Cost Barrier vs. LCS Potential</a:t>
            </a:r>
          </a:p>
          <a:p>
            <a:pPr>
              <a:lnSpc>
                <a:spcPct val="115000"/>
              </a:lnSpc>
              <a:spcAft>
                <a:spcPts val="600"/>
              </a:spcAft>
            </a:pPr>
            <a:r>
              <a:rPr b="1" sz="1200">
                <a:solidFill>
                  <a:srgbClr val="1E3A8A"/>
                </a:solidFill>
                <a:latin typeface="Arial"/>
              </a:rPr>
              <a:t>$25,000–$35,000 Hardware Cost: </a:t>
            </a:r>
            <a:r>
              <a:rPr b="0" sz="1200">
                <a:solidFill>
                  <a:srgbClr val="1A202C"/>
                </a:solidFill>
                <a:latin typeface="Arial"/>
              </a:rPr>
              <a:t>Regulatory reference stations (FEM Beta Attenuation Monitors, Teledyne T640) have prohibitive capital costs and demanding power/shelter requirements.</a:t>
            </a:r>
          </a:p>
          <a:p>
            <a:pPr>
              <a:lnSpc>
                <a:spcPct val="115000"/>
              </a:lnSpc>
              <a:spcAft>
                <a:spcPts val="600"/>
              </a:spcAft>
            </a:pPr>
            <a:r>
              <a:rPr b="1" sz="1200">
                <a:solidFill>
                  <a:srgbClr val="1E3A8A"/>
                </a:solidFill>
                <a:latin typeface="Arial"/>
              </a:rPr>
              <a:t>Low-Cost Sensors (&lt; $2,000): </a:t>
            </a:r>
            <a:r>
              <a:rPr b="0" sz="1200">
                <a:solidFill>
                  <a:srgbClr val="1A202C"/>
                </a:solidFill>
                <a:latin typeface="Arial"/>
              </a:rPr>
              <a:t>Compact optical instruments (such as the QuantAQ Modulair-PM) enable dense urban networks at a fraction of the cost.</a:t>
            </a:r>
          </a:p>
          <a:p>
            <a:pPr>
              <a:lnSpc>
                <a:spcPct val="115000"/>
              </a:lnSpc>
              <a:spcAft>
                <a:spcPts val="600"/>
              </a:spcAft>
            </a:pPr>
            <a:r>
              <a:rPr b="1" sz="1200">
                <a:solidFill>
                  <a:srgbClr val="1E3A8A"/>
                </a:solidFill>
                <a:latin typeface="Arial"/>
              </a:rPr>
              <a:t>The Critical Vulnerability: </a:t>
            </a:r>
            <a:r>
              <a:rPr b="0" sz="1200">
                <a:solidFill>
                  <a:srgbClr val="1A202C"/>
                </a:solidFill>
                <a:latin typeface="Arial"/>
              </a:rPr>
              <a:t>Low-cost sensors do not directly measure mass; raw factory algorithms fail drastically in West Africa due to extreme humidity and mineral dust.</a:t>
            </a:r>
          </a:p>
          <a:p>
            <a:pPr>
              <a:lnSpc>
                <a:spcPct val="115000"/>
              </a:lnSpc>
              <a:spcAft>
                <a:spcPts val="600"/>
              </a:spcAft>
            </a:pPr>
            <a:r>
              <a:rPr b="1" sz="1200">
                <a:solidFill>
                  <a:srgbClr val="1E3A8A"/>
                </a:solidFill>
                <a:latin typeface="Arial"/>
              </a:rPr>
              <a:t>The Core Goal: </a:t>
            </a:r>
            <a:r>
              <a:rPr b="0" sz="1200">
                <a:solidFill>
                  <a:srgbClr val="1A202C"/>
                </a:solidFill>
                <a:latin typeface="Arial"/>
              </a:rPr>
              <a:t>Develop a software-driven, physics-informed calibration pipeline to achieve reference-grade accuracy on low-cost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02 | THEORETICAL FOUNDATION</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Optical Particle Counters (OPC): Physical Failure Mechanisms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800600" cy="4389120"/>
          </a:xfrm>
          <a:prstGeom prst="rect">
            <a:avLst/>
          </a:prstGeom>
          <a:noFill/>
        </p:spPr>
        <p:txBody>
          <a:bodyPr wrap="square">
            <a:spAutoFit/>
          </a:bodyPr>
          <a:lstStyle/>
          <a:p>
            <a:pPr>
              <a:spcAft>
                <a:spcPts val="800"/>
              </a:spcAft>
              <a:defRPr sz="1400" b="1">
                <a:solidFill>
                  <a:srgbClr val="1E3A8A"/>
                </a:solidFill>
              </a:defRPr>
            </a:pPr>
            <a:r>
              <a:t>Physical Origins of Measurement Degradation</a:t>
            </a:r>
          </a:p>
          <a:p>
            <a:pPr>
              <a:lnSpc>
                <a:spcPct val="115000"/>
              </a:lnSpc>
              <a:spcAft>
                <a:spcPts val="600"/>
              </a:spcAft>
            </a:pPr>
            <a:r>
              <a:rPr b="1" sz="1200">
                <a:solidFill>
                  <a:srgbClr val="1E3A8A"/>
                </a:solidFill>
                <a:latin typeface="Arial"/>
              </a:rPr>
              <a:t>Mie Light Scattering Principle: </a:t>
            </a:r>
            <a:r>
              <a:rPr b="0" sz="1200">
                <a:solidFill>
                  <a:srgbClr val="1A202C"/>
                </a:solidFill>
                <a:latin typeface="Arial"/>
              </a:rPr>
              <a:t>Alphasense OPC-N3 illuminates air streams with a monochromatic laser (λ = 658 nm) and counts scattered light pulses, assuming constant particle density and spherical shape.</a:t>
            </a:r>
          </a:p>
          <a:p>
            <a:pPr>
              <a:lnSpc>
                <a:spcPct val="115000"/>
              </a:lnSpc>
              <a:spcAft>
                <a:spcPts val="600"/>
              </a:spcAft>
            </a:pPr>
            <a:r>
              <a:rPr b="1" sz="1200">
                <a:solidFill>
                  <a:srgbClr val="1E3A8A"/>
                </a:solidFill>
                <a:latin typeface="Arial"/>
              </a:rPr>
              <a:t>1. Hygroscopic Aerosol Swelling (RH &gt; 75%): </a:t>
            </a:r>
            <a:r>
              <a:rPr b="0" sz="1200">
                <a:solidFill>
                  <a:srgbClr val="1A202C"/>
                </a:solidFill>
                <a:latin typeface="Arial"/>
              </a:rPr>
              <a:t>Tropical humidity causes soluble particles to absorb water and swell. OPCs interpret swollen droplets as large particles, overestimating dry mass by &gt; 100%–200%.</a:t>
            </a:r>
          </a:p>
          <a:p>
            <a:pPr>
              <a:lnSpc>
                <a:spcPct val="115000"/>
              </a:lnSpc>
              <a:spcAft>
                <a:spcPts val="600"/>
              </a:spcAft>
            </a:pPr>
            <a:r>
              <a:rPr b="1" sz="1200">
                <a:solidFill>
                  <a:srgbClr val="1E3A8A"/>
                </a:solidFill>
                <a:latin typeface="Arial"/>
              </a:rPr>
              <a:t>2. Saharan Harmattan Mineral Dust: </a:t>
            </a:r>
            <a:r>
              <a:rPr b="0" sz="1200">
                <a:solidFill>
                  <a:srgbClr val="1A202C"/>
                </a:solidFill>
                <a:latin typeface="Arial"/>
              </a:rPr>
              <a:t>Dry northeasterly trade winds carry dense (ρ ≈ 2.65 g/cm³), irregular mineral particles, causing optical coincidence errors.</a:t>
            </a:r>
          </a:p>
          <a:p>
            <a:pPr>
              <a:lnSpc>
                <a:spcPct val="115000"/>
              </a:lnSpc>
              <a:spcAft>
                <a:spcPts val="600"/>
              </a:spcAft>
            </a:pPr>
            <a:r>
              <a:rPr b="1" sz="1200">
                <a:solidFill>
                  <a:srgbClr val="1E3A8A"/>
                </a:solidFill>
                <a:latin typeface="Arial"/>
              </a:rPr>
              <a:t>3. Thermal &amp; Laser Drift: </a:t>
            </a:r>
            <a:r>
              <a:rPr b="0" sz="1200">
                <a:solidFill>
                  <a:srgbClr val="1A202C"/>
                </a:solidFill>
                <a:latin typeface="Arial"/>
              </a:rPr>
              <a:t>Temperature fluctuations alter diode emission and induce semi-volatile aerosol evaporation.</a:t>
            </a:r>
          </a:p>
        </p:txBody>
      </p:sp>
      <p:sp>
        <p:nvSpPr>
          <p:cNvPr id="9" name="Rounded Rectangle 8"/>
          <p:cNvSpPr/>
          <p:nvPr/>
        </p:nvSpPr>
        <p:spPr>
          <a:xfrm>
            <a:off x="617220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2_1_opc_working_principle.png"/>
          <p:cNvPicPr>
            <a:picLocks noChangeAspect="1"/>
          </p:cNvPicPr>
          <p:nvPr/>
        </p:nvPicPr>
        <p:blipFill>
          <a:blip r:embed="rId2"/>
          <a:stretch>
            <a:fillRect/>
          </a:stretch>
        </p:blipFill>
        <p:spPr>
          <a:xfrm>
            <a:off x="6309360" y="1737360"/>
            <a:ext cx="4892040" cy="2579439"/>
          </a:xfrm>
          <a:prstGeom prst="rect">
            <a:avLst/>
          </a:prstGeom>
        </p:spPr>
      </p:pic>
      <p:sp>
        <p:nvSpPr>
          <p:cNvPr id="11" name="TextBox 10"/>
          <p:cNvSpPr txBox="1"/>
          <p:nvPr/>
        </p:nvSpPr>
        <p:spPr>
          <a:xfrm>
            <a:off x="6309360" y="5715000"/>
            <a:ext cx="4892040" cy="365760"/>
          </a:xfrm>
          <a:prstGeom prst="rect">
            <a:avLst/>
          </a:prstGeom>
          <a:noFill/>
        </p:spPr>
        <p:txBody>
          <a:bodyPr wrap="none">
            <a:spAutoFit/>
          </a:bodyPr>
          <a:lstStyle/>
          <a:p>
            <a:pPr algn="ctr">
              <a:defRPr sz="950" i="1">
                <a:solidFill>
                  <a:srgbClr val="64748B"/>
                </a:solidFill>
              </a:defRPr>
            </a:pPr>
            <a:r>
              <a:t>Figure 2.1: Optical Particle Counter (OPC) Operating Principle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02 | PROBLEM STATEMENT</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Problem Statement &amp; Gaps in Existing Calibration Methods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45920"/>
            <a:ext cx="4709160" cy="1828800"/>
          </a:xfrm>
          <a:prstGeom prst="rect">
            <a:avLst/>
          </a:prstGeom>
          <a:noFill/>
        </p:spPr>
        <p:txBody>
          <a:bodyPr wrap="square">
            <a:spAutoFit/>
          </a:bodyPr>
          <a:lstStyle/>
          <a:p>
            <a:r>
              <a:rPr b="1" sz="1100">
                <a:solidFill>
                  <a:srgbClr val="E11D48"/>
                </a:solidFill>
              </a:rPr>
              <a:t>01  |  </a:t>
            </a:r>
            <a:r>
              <a:rPr b="1" sz="1200">
                <a:solidFill>
                  <a:srgbClr val="1A202C"/>
                </a:solidFill>
              </a:rPr>
              <a:t>Catastrophic Factory Default Failure</a:t>
            </a:r>
          </a:p>
          <a:p>
            <a:pPr>
              <a:lnSpc>
                <a:spcPct val="115000"/>
              </a:lnSpc>
              <a:spcBef>
                <a:spcPts val="600"/>
              </a:spcBef>
              <a:defRPr sz="1100">
                <a:solidFill>
                  <a:srgbClr val="64748B"/>
                </a:solidFill>
              </a:defRPr>
            </a:pPr>
            <a:r>
              <a:t>Uncalibrated QuantAQ factory output yields negative R² (-0.0133) and MAE = 5.30 µg/m³ in Accra due to temperate European training assumptions.</a:t>
            </a:r>
          </a:p>
        </p:txBody>
      </p:sp>
      <p:sp>
        <p:nvSpPr>
          <p:cNvPr id="9" name="Rounded Rectangle 8"/>
          <p:cNvSpPr/>
          <p:nvPr/>
        </p:nvSpPr>
        <p:spPr>
          <a:xfrm>
            <a:off x="6217920" y="1463040"/>
            <a:ext cx="516636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09160" cy="1828800"/>
          </a:xfrm>
          <a:prstGeom prst="rect">
            <a:avLst/>
          </a:prstGeom>
          <a:noFill/>
        </p:spPr>
        <p:txBody>
          <a:bodyPr wrap="square">
            <a:spAutoFit/>
          </a:bodyPr>
          <a:lstStyle/>
          <a:p>
            <a:r>
              <a:rPr b="1" sz="1100">
                <a:solidFill>
                  <a:srgbClr val="1E3A8A"/>
                </a:solidFill>
              </a:rPr>
              <a:t>02  |  </a:t>
            </a:r>
            <a:r>
              <a:rPr b="1" sz="1200">
                <a:solidFill>
                  <a:srgbClr val="1A202C"/>
                </a:solidFill>
              </a:rPr>
              <a:t>Linear Models Underfit (SLR / MLR)</a:t>
            </a:r>
          </a:p>
          <a:p>
            <a:pPr>
              <a:lnSpc>
                <a:spcPct val="115000"/>
              </a:lnSpc>
              <a:spcBef>
                <a:spcPts val="600"/>
              </a:spcBef>
              <a:defRPr sz="1100">
                <a:solidFill>
                  <a:srgbClr val="64748B"/>
                </a:solidFill>
              </a:defRPr>
            </a:pPr>
            <a:r>
              <a:t>Multiple Linear Regression (R² = 0.6760) assumes constant linear sensitivity, failing to capture exponential Köhler deliquescence surges.</a:t>
            </a:r>
          </a:p>
        </p:txBody>
      </p:sp>
      <p:sp>
        <p:nvSpPr>
          <p:cNvPr id="11" name="Rounded Rectangle 10"/>
          <p:cNvSpPr/>
          <p:nvPr/>
        </p:nvSpPr>
        <p:spPr>
          <a:xfrm>
            <a:off x="822960" y="3840480"/>
            <a:ext cx="516636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023360"/>
            <a:ext cx="4709160" cy="1828800"/>
          </a:xfrm>
          <a:prstGeom prst="rect">
            <a:avLst/>
          </a:prstGeom>
          <a:noFill/>
        </p:spPr>
        <p:txBody>
          <a:bodyPr wrap="square">
            <a:spAutoFit/>
          </a:bodyPr>
          <a:lstStyle/>
          <a:p>
            <a:r>
              <a:rPr b="1" sz="1100">
                <a:solidFill>
                  <a:srgbClr val="64748B"/>
                </a:solidFill>
              </a:rPr>
              <a:t>03  |  </a:t>
            </a:r>
            <a:r>
              <a:rPr b="1" sz="1200">
                <a:solidFill>
                  <a:srgbClr val="1A202C"/>
                </a:solidFill>
              </a:rPr>
              <a:t>Deep Neural Networks Memorize Noise</a:t>
            </a:r>
          </a:p>
          <a:p>
            <a:pPr>
              <a:lnSpc>
                <a:spcPct val="115000"/>
              </a:lnSpc>
              <a:spcBef>
                <a:spcPts val="600"/>
              </a:spcBef>
              <a:defRPr sz="1100">
                <a:solidFill>
                  <a:srgbClr val="64748B"/>
                </a:solidFill>
              </a:defRPr>
            </a:pPr>
            <a:r>
              <a:t>Multi-Layer Perceptrons &amp; Deep LLMs (R² ≈ 0.49–0.52) overfit to high-frequency sensor noise on autocorrelated environmental time series.</a:t>
            </a:r>
          </a:p>
        </p:txBody>
      </p:sp>
      <p:sp>
        <p:nvSpPr>
          <p:cNvPr id="13" name="Rounded Rectangle 12"/>
          <p:cNvSpPr/>
          <p:nvPr/>
        </p:nvSpPr>
        <p:spPr>
          <a:xfrm>
            <a:off x="6217920" y="3840480"/>
            <a:ext cx="516636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23360"/>
            <a:ext cx="4709160" cy="1828800"/>
          </a:xfrm>
          <a:prstGeom prst="rect">
            <a:avLst/>
          </a:prstGeom>
          <a:noFill/>
        </p:spPr>
        <p:txBody>
          <a:bodyPr wrap="square">
            <a:spAutoFit/>
          </a:bodyPr>
          <a:lstStyle/>
          <a:p>
            <a:r>
              <a:rPr b="1" sz="1100">
                <a:solidFill>
                  <a:srgbClr val="D97706"/>
                </a:solidFill>
              </a:rPr>
              <a:t>04  |  </a:t>
            </a:r>
            <a:r>
              <a:rPr b="1" sz="1200">
                <a:solidFill>
                  <a:srgbClr val="1A202C"/>
                </a:solidFill>
              </a:rPr>
              <a:t>Temporal Data Leakage in Prior Literature</a:t>
            </a:r>
          </a:p>
          <a:p>
            <a:pPr>
              <a:lnSpc>
                <a:spcPct val="115000"/>
              </a:lnSpc>
              <a:spcBef>
                <a:spcPts val="600"/>
              </a:spcBef>
              <a:defRPr sz="1100">
                <a:solidFill>
                  <a:srgbClr val="64748B"/>
                </a:solidFill>
              </a:defRPr>
            </a:pPr>
            <a:r>
              <a:t>Traditional random K-Fold cross-validation leaks adjacent hours between sets, creating artificial validation scores that collapse in the field.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03 | RESEARCH OBJECTIVES</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Research Aim &amp; Specific Objectives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17320"/>
            <a:ext cx="10545775" cy="105156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08760"/>
            <a:ext cx="10149840" cy="868680"/>
          </a:xfrm>
          <a:prstGeom prst="rect">
            <a:avLst/>
          </a:prstGeom>
          <a:noFill/>
        </p:spPr>
        <p:txBody>
          <a:bodyPr wrap="square">
            <a:spAutoFit/>
          </a:bodyPr>
          <a:lstStyle/>
          <a:p>
            <a:pPr>
              <a:defRPr sz="1000" b="1">
                <a:solidFill>
                  <a:srgbClr val="1E3A8A"/>
                </a:solidFill>
                <a:latin typeface="Arial"/>
              </a:defRPr>
            </a:pPr>
            <a:r>
              <a:t>PRIMARY RESEARCH AIM</a:t>
            </a:r>
          </a:p>
          <a:p>
            <a:pPr>
              <a:spcBef>
                <a:spcPts val="200"/>
              </a:spcBef>
              <a:defRPr sz="1150">
                <a:solidFill>
                  <a:srgbClr val="1A202C"/>
                </a:solidFill>
              </a:defRPr>
            </a:pPr>
            <a:r>
              <a:t>To develop, evaluate, and deploy a Stacked Physics-Informed Meta-Ensemble (SPIME v4) calibration framework that corrects low-cost QuantAQ Modulair-PM measurements to reference-grade accuracy against a co-located US EPA FEM Teledyne API T640 monitor in Accra, Ghana.</a:t>
            </a:r>
          </a:p>
        </p:txBody>
      </p:sp>
      <p:sp>
        <p:nvSpPr>
          <p:cNvPr id="9" name="Rounded Rectangle 8"/>
          <p:cNvSpPr/>
          <p:nvPr/>
        </p:nvSpPr>
        <p:spPr>
          <a:xfrm>
            <a:off x="822960" y="2606040"/>
            <a:ext cx="10545775"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97480"/>
            <a:ext cx="10149840" cy="457200"/>
          </a:xfrm>
          <a:prstGeom prst="rect">
            <a:avLst/>
          </a:prstGeom>
          <a:noFill/>
        </p:spPr>
        <p:txBody>
          <a:bodyPr wrap="square">
            <a:spAutoFit/>
          </a:bodyPr>
          <a:lstStyle/>
          <a:p>
            <a:r>
              <a:rPr b="1" sz="1100">
                <a:solidFill>
                  <a:srgbClr val="1E3A8A"/>
                </a:solidFill>
              </a:rPr>
              <a:t>Obj 1: Data Curation:  </a:t>
            </a:r>
            <a:r>
              <a:rPr sz="1100">
                <a:solidFill>
                  <a:srgbClr val="1A202C"/>
                </a:solidFill>
              </a:rPr>
              <a:t>Synchronize &amp; quality-filter hourly co-located particulate &amp; weather records (2024–2025) at Afri-SET, UG Legon.</a:t>
            </a:r>
          </a:p>
        </p:txBody>
      </p:sp>
      <p:sp>
        <p:nvSpPr>
          <p:cNvPr id="11" name="Rounded Rectangle 10"/>
          <p:cNvSpPr/>
          <p:nvPr/>
        </p:nvSpPr>
        <p:spPr>
          <a:xfrm>
            <a:off x="822960" y="3337560"/>
            <a:ext cx="10545775"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429000"/>
            <a:ext cx="10149840" cy="457200"/>
          </a:xfrm>
          <a:prstGeom prst="rect">
            <a:avLst/>
          </a:prstGeom>
          <a:noFill/>
        </p:spPr>
        <p:txBody>
          <a:bodyPr wrap="square">
            <a:spAutoFit/>
          </a:bodyPr>
          <a:lstStyle/>
          <a:p>
            <a:r>
              <a:rPr b="1" sz="1100">
                <a:solidFill>
                  <a:srgbClr val="1E3A8A"/>
                </a:solidFill>
              </a:rPr>
              <a:t>Obj 2: Physics Features:  </a:t>
            </a:r>
            <a:r>
              <a:rPr sz="1100">
                <a:solidFill>
                  <a:srgbClr val="1A202C"/>
                </a:solidFill>
              </a:rPr>
              <a:t>Derive 75-D feature space: multi-gamma Köhler curves f(RH,γ), thermodynamics (VPD, AH), EWMA trends &amp; Harmattan scores.</a:t>
            </a:r>
          </a:p>
        </p:txBody>
      </p:sp>
      <p:sp>
        <p:nvSpPr>
          <p:cNvPr id="13" name="Rounded Rectangle 12"/>
          <p:cNvSpPr/>
          <p:nvPr/>
        </p:nvSpPr>
        <p:spPr>
          <a:xfrm>
            <a:off x="822960" y="4069080"/>
            <a:ext cx="10545775"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60520"/>
            <a:ext cx="10149840" cy="457200"/>
          </a:xfrm>
          <a:prstGeom prst="rect">
            <a:avLst/>
          </a:prstGeom>
          <a:noFill/>
        </p:spPr>
        <p:txBody>
          <a:bodyPr wrap="square">
            <a:spAutoFit/>
          </a:bodyPr>
          <a:lstStyle/>
          <a:p>
            <a:r>
              <a:rPr b="1" sz="1100">
                <a:solidFill>
                  <a:srgbClr val="1E3A8A"/>
                </a:solidFill>
              </a:rPr>
              <a:t>Obj 3: SPIME Stacking:  </a:t>
            </a:r>
            <a:r>
              <a:rPr sz="1100">
                <a:solidFill>
                  <a:srgbClr val="1A202C"/>
                </a:solidFill>
              </a:rPr>
              <a:t>Build 2-level stacking framework: 4 diverse base trees + 5-Fold out-of-fold matrix + L2 RidgeCV meta-learner.</a:t>
            </a:r>
          </a:p>
        </p:txBody>
      </p:sp>
      <p:sp>
        <p:nvSpPr>
          <p:cNvPr id="15" name="Rounded Rectangle 14"/>
          <p:cNvSpPr/>
          <p:nvPr/>
        </p:nvSpPr>
        <p:spPr>
          <a:xfrm>
            <a:off x="822960" y="4800600"/>
            <a:ext cx="10545775"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892040"/>
            <a:ext cx="10149840" cy="457200"/>
          </a:xfrm>
          <a:prstGeom prst="rect">
            <a:avLst/>
          </a:prstGeom>
          <a:noFill/>
        </p:spPr>
        <p:txBody>
          <a:bodyPr wrap="square">
            <a:spAutoFit/>
          </a:bodyPr>
          <a:lstStyle/>
          <a:p>
            <a:r>
              <a:rPr b="1" sz="1100">
                <a:solidFill>
                  <a:srgbClr val="1E3A8A"/>
                </a:solidFill>
              </a:rPr>
              <a:t>Obj 4: Holdout Validation:  </a:t>
            </a:r>
            <a:r>
              <a:rPr sz="1100">
                <a:solidFill>
                  <a:srgbClr val="1A202C"/>
                </a:solidFill>
              </a:rPr>
              <a:t>Validate generalization on an unseen 6-month out-of-sample holdout dataset (3,468 hours) to verify zero overfit gap.</a:t>
            </a:r>
          </a:p>
        </p:txBody>
      </p:sp>
      <p:sp>
        <p:nvSpPr>
          <p:cNvPr id="17" name="Rounded Rectangle 16"/>
          <p:cNvSpPr/>
          <p:nvPr/>
        </p:nvSpPr>
        <p:spPr>
          <a:xfrm>
            <a:off x="822960" y="5532120"/>
            <a:ext cx="10545775"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623560"/>
            <a:ext cx="10149840" cy="457200"/>
          </a:xfrm>
          <a:prstGeom prst="rect">
            <a:avLst/>
          </a:prstGeom>
          <a:noFill/>
        </p:spPr>
        <p:txBody>
          <a:bodyPr wrap="square">
            <a:spAutoFit/>
          </a:bodyPr>
          <a:lstStyle/>
          <a:p>
            <a:r>
              <a:rPr b="1" sz="1100">
                <a:solidFill>
                  <a:srgbClr val="1E3A8A"/>
                </a:solidFill>
              </a:rPr>
              <a:t>Obj 5: Deployment:  </a:t>
            </a:r>
            <a:r>
              <a:rPr sz="1100">
                <a:solidFill>
                  <a:srgbClr val="1A202C"/>
                </a:solidFill>
              </a:rPr>
              <a:t>Conduct Gini feature attribution, residual diagnostics, and package serialized artifact for real-time REST API 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03 | METHODOLOGY</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Experimental Co-location Platform &amp; Quality Assurance</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800600" cy="4389120"/>
          </a:xfrm>
          <a:prstGeom prst="rect">
            <a:avLst/>
          </a:prstGeom>
          <a:noFill/>
        </p:spPr>
        <p:txBody>
          <a:bodyPr wrap="square">
            <a:spAutoFit/>
          </a:bodyPr>
          <a:lstStyle/>
          <a:p>
            <a:pPr>
              <a:spcAft>
                <a:spcPts val="800"/>
              </a:spcAft>
              <a:defRPr sz="1400" b="1">
                <a:solidFill>
                  <a:srgbClr val="1E3A8A"/>
                </a:solidFill>
              </a:defRPr>
            </a:pPr>
            <a:r>
              <a:t>Afri-SET Platform &amp; Instrumentation</a:t>
            </a:r>
          </a:p>
          <a:p>
            <a:pPr>
              <a:lnSpc>
                <a:spcPct val="115000"/>
              </a:lnSpc>
              <a:spcAft>
                <a:spcPts val="600"/>
              </a:spcAft>
            </a:pPr>
            <a:r>
              <a:rPr b="1" sz="1200">
                <a:solidFill>
                  <a:srgbClr val="1E3A8A"/>
                </a:solidFill>
                <a:latin typeface="Arial"/>
              </a:rPr>
              <a:t>Afri-SET Testing Hub: </a:t>
            </a:r>
            <a:r>
              <a:rPr b="0" sz="1200">
                <a:solidFill>
                  <a:srgbClr val="1A202C"/>
                </a:solidFill>
                <a:latin typeface="Arial"/>
              </a:rPr>
              <a:t>African Clean Air Technology Centre, Department of Physics, University of Ghana, Legon (5.651° N, -0.186° W, Elevation 98 m).</a:t>
            </a:r>
          </a:p>
          <a:p>
            <a:pPr>
              <a:lnSpc>
                <a:spcPct val="115000"/>
              </a:lnSpc>
              <a:spcAft>
                <a:spcPts val="600"/>
              </a:spcAft>
            </a:pPr>
            <a:r>
              <a:rPr b="1" sz="1200">
                <a:solidFill>
                  <a:srgbClr val="1E3A8A"/>
                </a:solidFill>
                <a:latin typeface="Arial"/>
              </a:rPr>
              <a:t>Candidate LCS: </a:t>
            </a:r>
            <a:r>
              <a:rPr b="0" sz="1200">
                <a:solidFill>
                  <a:srgbClr val="1A202C"/>
                </a:solidFill>
                <a:latin typeface="Arial"/>
              </a:rPr>
              <a:t>QuantAQ Modulair-PM (`MOD-PM-01068`) integrating Alphasense OPC-N3, onboard digital Temp, RH, and barometric pressure.</a:t>
            </a:r>
          </a:p>
          <a:p>
            <a:pPr>
              <a:lnSpc>
                <a:spcPct val="115000"/>
              </a:lnSpc>
              <a:spcAft>
                <a:spcPts val="600"/>
              </a:spcAft>
            </a:pPr>
            <a:r>
              <a:rPr b="1" sz="1200">
                <a:solidFill>
                  <a:srgbClr val="1E3A8A"/>
                </a:solidFill>
                <a:latin typeface="Arial"/>
              </a:rPr>
              <a:t>Reference FEM: </a:t>
            </a:r>
            <a:r>
              <a:rPr b="0" sz="1200">
                <a:solidFill>
                  <a:srgbClr val="1A202C"/>
                </a:solidFill>
                <a:latin typeface="Arial"/>
              </a:rPr>
              <a:t>Teledyne API T640 US EPA Federal Equivalent Method (EQPM-0514-217) continuous polychromatic LED spectrometer with heated inlet.</a:t>
            </a:r>
          </a:p>
          <a:p>
            <a:pPr>
              <a:lnSpc>
                <a:spcPct val="115000"/>
              </a:lnSpc>
              <a:spcAft>
                <a:spcPts val="600"/>
              </a:spcAft>
            </a:pPr>
            <a:r>
              <a:rPr b="1" sz="1200">
                <a:solidFill>
                  <a:srgbClr val="1E3A8A"/>
                </a:solidFill>
                <a:latin typeface="Arial"/>
              </a:rPr>
              <a:t>Multi-Season Horizon: </a:t>
            </a:r>
            <a:r>
              <a:rPr b="0" sz="1200">
                <a:solidFill>
                  <a:srgbClr val="1A202C"/>
                </a:solidFill>
                <a:latin typeface="Arial"/>
              </a:rPr>
              <a:t>Continuous hourly records spanning 2024 to 2025, capturing both monsoon wet humidity surges and dry Harmattan dust storms.</a:t>
            </a:r>
          </a:p>
        </p:txBody>
      </p:sp>
      <p:sp>
        <p:nvSpPr>
          <p:cNvPr id="9" name="Rounded Rectangle 8"/>
          <p:cNvSpPr/>
          <p:nvPr/>
        </p:nvSpPr>
        <p:spPr>
          <a:xfrm>
            <a:off x="617220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45920"/>
            <a:ext cx="4800600" cy="4389120"/>
          </a:xfrm>
          <a:prstGeom prst="rect">
            <a:avLst/>
          </a:prstGeom>
          <a:noFill/>
        </p:spPr>
        <p:txBody>
          <a:bodyPr wrap="square">
            <a:spAutoFit/>
          </a:bodyPr>
          <a:lstStyle/>
          <a:p>
            <a:pPr>
              <a:spcAft>
                <a:spcPts val="800"/>
              </a:spcAft>
              <a:defRPr sz="1400" b="1">
                <a:solidFill>
                  <a:srgbClr val="1E3A8A"/>
                </a:solidFill>
              </a:defRPr>
            </a:pPr>
            <a:r>
              <a:t>Quality Assurance &amp; Data Preprocessing</a:t>
            </a:r>
          </a:p>
          <a:p>
            <a:pPr>
              <a:lnSpc>
                <a:spcPct val="115000"/>
              </a:lnSpc>
              <a:spcAft>
                <a:spcPts val="600"/>
              </a:spcAft>
            </a:pPr>
            <a:r>
              <a:rPr b="1" sz="1200">
                <a:solidFill>
                  <a:srgbClr val="1E3A8A"/>
                </a:solidFill>
                <a:latin typeface="Arial"/>
              </a:rPr>
              <a:t>1. Temporal Aggregation: </a:t>
            </a:r>
            <a:r>
              <a:rPr b="0" sz="1200">
                <a:solidFill>
                  <a:srgbClr val="1A202C"/>
                </a:solidFill>
                <a:latin typeface="Arial"/>
              </a:rPr>
              <a:t>1-minute Modulair-PM measurements block-averaged to 1-hour UTC+0 records with a minimum 75% completeness check (≥ 45 valid minutes/hour).</a:t>
            </a:r>
          </a:p>
          <a:p>
            <a:pPr>
              <a:lnSpc>
                <a:spcPct val="115000"/>
              </a:lnSpc>
              <a:spcAft>
                <a:spcPts val="600"/>
              </a:spcAft>
            </a:pPr>
            <a:r>
              <a:rPr b="1" sz="1200">
                <a:solidFill>
                  <a:srgbClr val="1E3A8A"/>
                </a:solidFill>
                <a:latin typeface="Arial"/>
              </a:rPr>
              <a:t>2. Error Status Filtering: </a:t>
            </a:r>
            <a:r>
              <a:rPr b="0" sz="1200">
                <a:solidFill>
                  <a:srgbClr val="1A202C"/>
                </a:solidFill>
                <a:latin typeface="Arial"/>
              </a:rPr>
              <a:t>Removed records where sensor status flags indicated optical flow errors (flag != 0) and negative baseline values (&lt; 0 µg/m³).</a:t>
            </a:r>
          </a:p>
          <a:p>
            <a:pPr>
              <a:lnSpc>
                <a:spcPct val="115000"/>
              </a:lnSpc>
              <a:spcAft>
                <a:spcPts val="600"/>
              </a:spcAft>
            </a:pPr>
            <a:r>
              <a:rPr b="1" sz="1200">
                <a:solidFill>
                  <a:srgbClr val="1E3A8A"/>
                </a:solidFill>
                <a:latin typeface="Arial"/>
              </a:rPr>
              <a:t>3. IQR Anomaly Screening: </a:t>
            </a:r>
            <a:r>
              <a:rPr b="0" sz="1200">
                <a:solidFill>
                  <a:srgbClr val="1A202C"/>
                </a:solidFill>
                <a:latin typeface="Arial"/>
              </a:rPr>
              <a:t>Cross-referenced extreme spikes (&gt; Q3 + 3·IQR) against the reference monitor. Preserved authentic Saharan mineral dust episodes.</a:t>
            </a:r>
          </a:p>
          <a:p>
            <a:pPr>
              <a:lnSpc>
                <a:spcPct val="115000"/>
              </a:lnSpc>
              <a:spcAft>
                <a:spcPts val="600"/>
              </a:spcAft>
            </a:pPr>
            <a:r>
              <a:rPr b="1" sz="1200">
                <a:solidFill>
                  <a:srgbClr val="1E3A8A"/>
                </a:solidFill>
                <a:latin typeface="Arial"/>
              </a:rPr>
              <a:t>4. Synchronized Indexing: </a:t>
            </a:r>
            <a:r>
              <a:rPr b="0" sz="1200">
                <a:solidFill>
                  <a:srgbClr val="1A202C"/>
                </a:solidFill>
                <a:latin typeface="Arial"/>
              </a:rPr>
              <a:t>Continuous hourly matrix aligned across particulate and meteorological channels.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03 | METHODOLOGY</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End-to-End Machine Learning Calibration Pipeline</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pic>
        <p:nvPicPr>
          <p:cNvPr id="7" name="Picture 6" descr="fig_3_2_calibration_pipeline.png"/>
          <p:cNvPicPr>
            <a:picLocks noChangeAspect="1"/>
          </p:cNvPicPr>
          <p:nvPr/>
        </p:nvPicPr>
        <p:blipFill>
          <a:blip r:embed="rId2"/>
          <a:stretch>
            <a:fillRect/>
          </a:stretch>
        </p:blipFill>
        <p:spPr>
          <a:xfrm>
            <a:off x="822960" y="1371600"/>
            <a:ext cx="10545775" cy="69820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03 | METHODOLOGY</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75-Dimensional Physics-Informed Feature Space</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48640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5120640" cy="4389120"/>
          </a:xfrm>
          <a:prstGeom prst="rect">
            <a:avLst/>
          </a:prstGeom>
          <a:noFill/>
        </p:spPr>
        <p:txBody>
          <a:bodyPr wrap="square">
            <a:spAutoFit/>
          </a:bodyPr>
          <a:lstStyle/>
          <a:p>
            <a:pPr>
              <a:spcAft>
                <a:spcPts val="600"/>
              </a:spcAft>
              <a:defRPr sz="1400" b="1">
                <a:solidFill>
                  <a:srgbClr val="1E3A8A"/>
                </a:solidFill>
              </a:defRPr>
            </a:pPr>
            <a:r>
              <a:t>Physics Inductive Bias &amp; Thermodynamics</a:t>
            </a:r>
          </a:p>
          <a:p>
            <a:pPr>
              <a:lnSpc>
                <a:spcPct val="115000"/>
              </a:lnSpc>
              <a:spcAft>
                <a:spcPts val="600"/>
              </a:spcAft>
            </a:pPr>
            <a:r>
              <a:rPr b="1" sz="1200">
                <a:solidFill>
                  <a:srgbClr val="1E3A8A"/>
                </a:solidFill>
                <a:latin typeface="Arial"/>
              </a:rPr>
              <a:t>1. Köhler Swelling Models f(RH, γ): </a:t>
            </a:r>
            <a:r>
              <a:rPr b="0" sz="1200">
                <a:solidFill>
                  <a:srgbClr val="1A202C"/>
                </a:solidFill>
                <a:latin typeface="Arial"/>
              </a:rPr>
              <a:t>8 continuous empirical curves: f(RH, γ) = pm25 · (1 - RH/100)^γ for γ ∈ {0.05, 0.10, 0.15, 0.20, 0.25, 0.30, 0.40, 0.50} + exponential deliquescence surge (&gt; 75% RH).</a:t>
            </a:r>
          </a:p>
          <a:p>
            <a:pPr>
              <a:lnSpc>
                <a:spcPct val="115000"/>
              </a:lnSpc>
              <a:spcAft>
                <a:spcPts val="600"/>
              </a:spcAft>
            </a:pPr>
            <a:r>
              <a:rPr b="1" sz="1200">
                <a:solidFill>
                  <a:srgbClr val="1E3A8A"/>
                </a:solidFill>
                <a:latin typeface="Arial"/>
              </a:rPr>
              <a:t>2. Saturation Vapor Pressure e_s(T): </a:t>
            </a:r>
            <a:r>
              <a:rPr b="0" sz="1200">
                <a:solidFill>
                  <a:srgbClr val="1A202C"/>
                </a:solidFill>
                <a:latin typeface="Arial"/>
              </a:rPr>
              <a:t>Tetens formula: e_s = 0.61078 · exp( (17.27 · T) / (T + 237.3) ) [kPa].</a:t>
            </a:r>
          </a:p>
          <a:p>
            <a:pPr>
              <a:lnSpc>
                <a:spcPct val="115000"/>
              </a:lnSpc>
              <a:spcAft>
                <a:spcPts val="600"/>
              </a:spcAft>
            </a:pPr>
            <a:r>
              <a:rPr b="1" sz="1200">
                <a:solidFill>
                  <a:srgbClr val="1E3A8A"/>
                </a:solidFill>
                <a:latin typeface="Arial"/>
              </a:rPr>
              <a:t>3. Vapor Pressure Deficit (VPD): </a:t>
            </a:r>
            <a:r>
              <a:rPr b="0" sz="1200">
                <a:solidFill>
                  <a:srgbClr val="1A202C"/>
                </a:solidFill>
                <a:latin typeface="Arial"/>
              </a:rPr>
              <a:t>Quantifies evaporative atmospheric drying capacity: VPD = e_s · (1 - RH/100).</a:t>
            </a:r>
          </a:p>
          <a:p>
            <a:pPr>
              <a:lnSpc>
                <a:spcPct val="115000"/>
              </a:lnSpc>
              <a:spcAft>
                <a:spcPts val="600"/>
              </a:spcAft>
            </a:pPr>
            <a:r>
              <a:rPr b="1" sz="1200">
                <a:solidFill>
                  <a:srgbClr val="1E3A8A"/>
                </a:solidFill>
                <a:latin typeface="Arial"/>
              </a:rPr>
              <a:t>4. Absolute Humidity (AH): </a:t>
            </a:r>
            <a:r>
              <a:rPr b="0" sz="1200">
                <a:solidFill>
                  <a:srgbClr val="1A202C"/>
                </a:solidFill>
                <a:latin typeface="Arial"/>
              </a:rPr>
              <a:t>Exact water mass density: AH = (216.7 · e_s · (RH/100)) / (T + 273.15) [g/m³].</a:t>
            </a:r>
          </a:p>
          <a:p>
            <a:pPr>
              <a:lnSpc>
                <a:spcPct val="115000"/>
              </a:lnSpc>
              <a:spcAft>
                <a:spcPts val="600"/>
              </a:spcAft>
            </a:pPr>
            <a:r>
              <a:rPr b="1" sz="1200">
                <a:solidFill>
                  <a:srgbClr val="1E3A8A"/>
                </a:solidFill>
                <a:latin typeface="Arial"/>
              </a:rPr>
              <a:t>5. EWMA &amp; Rolling Dynamics: </a:t>
            </a:r>
            <a:r>
              <a:rPr b="0" sz="1200">
                <a:solidFill>
                  <a:srgbClr val="1A202C"/>
                </a:solidFill>
                <a:latin typeface="Arial"/>
              </a:rPr>
              <a:t>9 EWMA spans (1h–24h) + rolling means, std, and differences.</a:t>
            </a:r>
          </a:p>
          <a:p>
            <a:pPr>
              <a:lnSpc>
                <a:spcPct val="115000"/>
              </a:lnSpc>
              <a:spcAft>
                <a:spcPts val="600"/>
              </a:spcAft>
            </a:pPr>
            <a:r>
              <a:rPr b="1" sz="1200">
                <a:solidFill>
                  <a:srgbClr val="1E3A8A"/>
                </a:solidFill>
                <a:latin typeface="Arial"/>
              </a:rPr>
              <a:t>6. Harmattan Dust Scoring: </a:t>
            </a:r>
            <a:r>
              <a:rPr b="0" sz="1200">
                <a:solidFill>
                  <a:srgbClr val="1A202C"/>
                </a:solidFill>
                <a:latin typeface="Arial"/>
              </a:rPr>
              <a:t>Decouples dry Saharan mineral dust from moisture swelling.</a:t>
            </a:r>
          </a:p>
        </p:txBody>
      </p:sp>
      <p:sp>
        <p:nvSpPr>
          <p:cNvPr id="9" name="Rounded Rectangle 8"/>
          <p:cNvSpPr/>
          <p:nvPr/>
        </p:nvSpPr>
        <p:spPr>
          <a:xfrm>
            <a:off x="6492240" y="1463040"/>
            <a:ext cx="4876495"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3_5_kohler_growth_curves.png"/>
          <p:cNvPicPr>
            <a:picLocks noChangeAspect="1"/>
          </p:cNvPicPr>
          <p:nvPr/>
        </p:nvPicPr>
        <p:blipFill>
          <a:blip r:embed="rId2"/>
          <a:stretch>
            <a:fillRect/>
          </a:stretch>
        </p:blipFill>
        <p:spPr>
          <a:xfrm>
            <a:off x="6629400" y="1645920"/>
            <a:ext cx="4572000" cy="2743200"/>
          </a:xfrm>
          <a:prstGeom prst="rect">
            <a:avLst/>
          </a:prstGeom>
        </p:spPr>
      </p:pic>
      <p:sp>
        <p:nvSpPr>
          <p:cNvPr id="11" name="TextBox 10"/>
          <p:cNvSpPr txBox="1"/>
          <p:nvPr/>
        </p:nvSpPr>
        <p:spPr>
          <a:xfrm>
            <a:off x="6583680" y="5715000"/>
            <a:ext cx="4663440" cy="365760"/>
          </a:xfrm>
          <a:prstGeom prst="rect">
            <a:avLst/>
          </a:prstGeom>
          <a:noFill/>
        </p:spPr>
        <p:txBody>
          <a:bodyPr wrap="none">
            <a:spAutoFit/>
          </a:bodyPr>
          <a:lstStyle/>
          <a:p>
            <a:pPr algn="ctr">
              <a:defRPr sz="950" i="1">
                <a:solidFill>
                  <a:srgbClr val="64748B"/>
                </a:solidFill>
              </a:defRPr>
            </a:pPr>
            <a:r>
              <a:t>Figure 3.5: Multi-Gamma Köhler Hygroscopic Growth Curves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03 | METHODOLOGY</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SPIME v4: Hierarchical Stacking Architecture</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pic>
        <p:nvPicPr>
          <p:cNvPr id="7" name="Picture 6" descr="fig_3_6_spime_architecture.png"/>
          <p:cNvPicPr>
            <a:picLocks noChangeAspect="1"/>
          </p:cNvPicPr>
          <p:nvPr/>
        </p:nvPicPr>
        <p:blipFill>
          <a:blip r:embed="rId2"/>
          <a:stretch>
            <a:fillRect/>
          </a:stretch>
        </p:blipFill>
        <p:spPr>
          <a:xfrm>
            <a:off x="822960" y="1371600"/>
            <a:ext cx="10545775" cy="58587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03 | EXPERIMENTAL RIGOR</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Validation Scheme: Preventing Temporal Data Leakage</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800600" cy="4389120"/>
          </a:xfrm>
          <a:prstGeom prst="rect">
            <a:avLst/>
          </a:prstGeom>
          <a:noFill/>
        </p:spPr>
        <p:txBody>
          <a:bodyPr wrap="square">
            <a:spAutoFit/>
          </a:bodyPr>
          <a:lstStyle/>
          <a:p>
            <a:pPr>
              <a:spcAft>
                <a:spcPts val="800"/>
              </a:spcAft>
              <a:defRPr sz="1400" b="1">
                <a:solidFill>
                  <a:srgbClr val="1E3A8A"/>
                </a:solidFill>
              </a:defRPr>
            </a:pPr>
            <a:r>
              <a:t>Chronological Out-of-Sample Partitioning</a:t>
            </a:r>
          </a:p>
          <a:p>
            <a:pPr>
              <a:lnSpc>
                <a:spcPct val="115000"/>
              </a:lnSpc>
              <a:spcAft>
                <a:spcPts val="600"/>
              </a:spcAft>
            </a:pPr>
            <a:r>
              <a:rPr b="1" sz="1200">
                <a:solidFill>
                  <a:srgbClr val="1E3A8A"/>
                </a:solidFill>
                <a:latin typeface="Arial"/>
              </a:rPr>
              <a:t>Temporal Autocorrelation: </a:t>
            </a:r>
            <a:r>
              <a:rPr b="0" sz="1200">
                <a:solidFill>
                  <a:srgbClr val="1A202C"/>
                </a:solidFill>
                <a:latin typeface="Arial"/>
              </a:rPr>
              <a:t>Environmental data exhibits strong temporal persistence: conditions at hour t are correlated with hour t-1 and hour t+1.</a:t>
            </a:r>
          </a:p>
          <a:p>
            <a:pPr>
              <a:lnSpc>
                <a:spcPct val="115000"/>
              </a:lnSpc>
              <a:spcAft>
                <a:spcPts val="600"/>
              </a:spcAft>
            </a:pPr>
            <a:r>
              <a:rPr b="1" sz="1200">
                <a:solidFill>
                  <a:srgbClr val="1E3A8A"/>
                </a:solidFill>
                <a:latin typeface="Arial"/>
              </a:rPr>
              <a:t>The Random K-Fold Pitfall: </a:t>
            </a:r>
            <a:r>
              <a:rPr b="0" sz="1200">
                <a:solidFill>
                  <a:srgbClr val="1A202C"/>
                </a:solidFill>
                <a:latin typeface="Arial"/>
              </a:rPr>
              <a:t>Random shuffling leaks adjacent hours between train and test sets, artificially inflating validation R² to &gt; 0.95 while models fail in actual deployment.</a:t>
            </a:r>
          </a:p>
          <a:p>
            <a:pPr>
              <a:lnSpc>
                <a:spcPct val="115000"/>
              </a:lnSpc>
              <a:spcAft>
                <a:spcPts val="600"/>
              </a:spcAft>
            </a:pPr>
            <a:r>
              <a:rPr b="1" sz="1200">
                <a:solidFill>
                  <a:srgbClr val="1E3A8A"/>
                </a:solidFill>
                <a:latin typeface="Arial"/>
              </a:rPr>
              <a:t>6-Month Unseen Holdout Dataset: </a:t>
            </a:r>
            <a:r>
              <a:rPr b="0" sz="1200">
                <a:solidFill>
                  <a:srgbClr val="1A202C"/>
                </a:solidFill>
                <a:latin typeface="Arial"/>
              </a:rPr>
              <a:t>We locked the last 6 months (June 21 – Dec 31, 2025; 3,468 continuous hourly records) as an untouched test of model generalization.</a:t>
            </a:r>
          </a:p>
          <a:p>
            <a:pPr>
              <a:lnSpc>
                <a:spcPct val="115000"/>
              </a:lnSpc>
              <a:spcAft>
                <a:spcPts val="600"/>
              </a:spcAft>
            </a:pPr>
            <a:r>
              <a:rPr b="1" sz="1200">
                <a:solidFill>
                  <a:srgbClr val="1E3A8A"/>
                </a:solidFill>
                <a:latin typeface="Arial"/>
              </a:rPr>
              <a:t>Multi-Season Evaluation: </a:t>
            </a:r>
            <a:r>
              <a:rPr b="0" sz="1200">
                <a:solidFill>
                  <a:srgbClr val="1A202C"/>
                </a:solidFill>
                <a:latin typeface="Arial"/>
              </a:rPr>
              <a:t>The holdout encompasses both wet monsoon humidity surges (RH &gt; 90%) and dry Saharan Harmattan dust events.</a:t>
            </a:r>
          </a:p>
        </p:txBody>
      </p:sp>
      <p:sp>
        <p:nvSpPr>
          <p:cNvPr id="9" name="Rounded Rectangle 8"/>
          <p:cNvSpPr/>
          <p:nvPr/>
        </p:nvSpPr>
        <p:spPr>
          <a:xfrm>
            <a:off x="617220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3_7_validation_scheme.png"/>
          <p:cNvPicPr>
            <a:picLocks noChangeAspect="1"/>
          </p:cNvPicPr>
          <p:nvPr/>
        </p:nvPicPr>
        <p:blipFill>
          <a:blip r:embed="rId2"/>
          <a:stretch>
            <a:fillRect/>
          </a:stretch>
        </p:blipFill>
        <p:spPr>
          <a:xfrm>
            <a:off x="6309360" y="1691640"/>
            <a:ext cx="4892040" cy="2087270"/>
          </a:xfrm>
          <a:prstGeom prst="rect">
            <a:avLst/>
          </a:prstGeom>
        </p:spPr>
      </p:pic>
      <p:sp>
        <p:nvSpPr>
          <p:cNvPr id="11" name="TextBox 10"/>
          <p:cNvSpPr txBox="1"/>
          <p:nvPr/>
        </p:nvSpPr>
        <p:spPr>
          <a:xfrm>
            <a:off x="6309360" y="5715000"/>
            <a:ext cx="4892040" cy="365760"/>
          </a:xfrm>
          <a:prstGeom prst="rect">
            <a:avLst/>
          </a:prstGeom>
          <a:noFill/>
        </p:spPr>
        <p:txBody>
          <a:bodyPr wrap="none">
            <a:spAutoFit/>
          </a:bodyPr>
          <a:lstStyle/>
          <a:p>
            <a:pPr algn="ctr">
              <a:defRPr sz="950" i="1">
                <a:solidFill>
                  <a:srgbClr val="64748B"/>
                </a:solidFill>
              </a:defRPr>
            </a:pPr>
            <a:r>
              <a:t>Figure 3.7: Chronological Train-Test Holdout Scheme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04 | RESULTS &amp; DISCUSSION</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Empirical Results on Unseen 6-Month Holdout (3,468 Hours)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graphicFrame>
        <p:nvGraphicFramePr>
          <p:cNvPr id="7" name="Table 6"/>
          <p:cNvGraphicFramePr>
            <a:graphicFrameLocks noGrp="1"/>
          </p:cNvGraphicFramePr>
          <p:nvPr/>
        </p:nvGraphicFramePr>
        <p:xfrm>
          <a:off x="822960" y="1417320"/>
          <a:ext cx="10545775" cy="3566160"/>
        </p:xfrm>
        <a:graphic>
          <a:graphicData uri="http://schemas.openxmlformats.org/drawingml/2006/table">
            <a:tbl>
              <a:tblPr firstRow="1" bandRow="1">
                <a:tableStyleId>{5C22544A-7EE6-4342-B048-85BDC9FD1C3A}</a:tableStyleId>
              </a:tblPr>
              <a:tblGrid>
                <a:gridCol w="3383280"/>
                <a:gridCol w="1371600"/>
                <a:gridCol w="1463040"/>
                <a:gridCol w="1463040"/>
                <a:gridCol w="1280160"/>
                <a:gridCol w="1584655"/>
              </a:tblGrid>
              <a:tr h="445770">
                <a:tc>
                  <a:txBody>
                    <a:bodyPr/>
                    <a:lstStyle/>
                    <a:p>
                      <a:pPr algn="l">
                        <a:defRPr b="1" sz="1100">
                          <a:solidFill>
                            <a:srgbClr val="FFFFFF"/>
                          </a:solidFill>
                        </a:defRPr>
                      </a:pPr>
                      <a:r>
                        <a:t>Model Architecture</a:t>
                      </a:r>
                    </a:p>
                  </a:txBody>
                  <a:tcPr anchor="ctr">
                    <a:solidFill>
                      <a:srgbClr val="1E3A8A"/>
                    </a:solidFill>
                  </a:tcPr>
                </a:tc>
                <a:tc>
                  <a:txBody>
                    <a:bodyPr/>
                    <a:lstStyle/>
                    <a:p>
                      <a:pPr algn="ctr">
                        <a:defRPr b="1" sz="1100">
                          <a:solidFill>
                            <a:srgbClr val="FFFFFF"/>
                          </a:solidFill>
                        </a:defRPr>
                      </a:pPr>
                      <a:r>
                        <a:t>Holdout R² ↑</a:t>
                      </a:r>
                    </a:p>
                  </a:txBody>
                  <a:tcPr anchor="ctr">
                    <a:solidFill>
                      <a:srgbClr val="1E3A8A"/>
                    </a:solidFill>
                  </a:tcPr>
                </a:tc>
                <a:tc>
                  <a:txBody>
                    <a:bodyPr/>
                    <a:lstStyle/>
                    <a:p>
                      <a:pPr algn="ctr">
                        <a:defRPr b="1" sz="1100">
                          <a:solidFill>
                            <a:srgbClr val="FFFFFF"/>
                          </a:solidFill>
                        </a:defRPr>
                      </a:pPr>
                      <a:r>
                        <a:t>MAE (µg/m³) ↓</a:t>
                      </a:r>
                    </a:p>
                  </a:txBody>
                  <a:tcPr anchor="ctr">
                    <a:solidFill>
                      <a:srgbClr val="1E3A8A"/>
                    </a:solidFill>
                  </a:tcPr>
                </a:tc>
                <a:tc>
                  <a:txBody>
                    <a:bodyPr/>
                    <a:lstStyle/>
                    <a:p>
                      <a:pPr algn="ctr">
                        <a:defRPr b="1" sz="1100">
                          <a:solidFill>
                            <a:srgbClr val="FFFFFF"/>
                          </a:solidFill>
                        </a:defRPr>
                      </a:pPr>
                      <a:r>
                        <a:t>RMSE (µg/m³) ↓</a:t>
                      </a:r>
                    </a:p>
                  </a:txBody>
                  <a:tcPr anchor="ctr">
                    <a:solidFill>
                      <a:srgbClr val="1E3A8A"/>
                    </a:solidFill>
                  </a:tcPr>
                </a:tc>
                <a:tc>
                  <a:txBody>
                    <a:bodyPr/>
                    <a:lstStyle/>
                    <a:p>
                      <a:pPr algn="ctr">
                        <a:defRPr b="1" sz="1100">
                          <a:solidFill>
                            <a:srgbClr val="FFFFFF"/>
                          </a:solidFill>
                        </a:defRPr>
                      </a:pPr>
                      <a:r>
                        <a:t>Bias (µg/m³)</a:t>
                      </a:r>
                    </a:p>
                  </a:txBody>
                  <a:tcPr anchor="ctr">
                    <a:solidFill>
                      <a:srgbClr val="1E3A8A"/>
                    </a:solidFill>
                  </a:tcPr>
                </a:tc>
                <a:tc>
                  <a:txBody>
                    <a:bodyPr/>
                    <a:lstStyle/>
                    <a:p>
                      <a:pPr algn="ctr">
                        <a:defRPr b="1" sz="1100">
                          <a:solidFill>
                            <a:srgbClr val="FFFFFF"/>
                          </a:solidFill>
                        </a:defRPr>
                      </a:pPr>
                      <a:r>
                        <a:t>Overfit Gap ↓</a:t>
                      </a:r>
                    </a:p>
                  </a:txBody>
                  <a:tcPr anchor="ctr">
                    <a:solidFill>
                      <a:srgbClr val="1E3A8A"/>
                    </a:solidFill>
                  </a:tcPr>
                </a:tc>
              </a:tr>
              <a:tr h="445770">
                <a:tc>
                  <a:txBody>
                    <a:bodyPr/>
                    <a:lstStyle/>
                    <a:p>
                      <a:pPr algn="l">
                        <a:defRPr sz="1050">
                          <a:solidFill>
                            <a:srgbClr val="1A202C"/>
                          </a:solidFill>
                        </a:defRPr>
                      </a:pPr>
                      <a:r>
                        <a:t>QuantAQ Factory Default (Uncalibrated)</a:t>
                      </a:r>
                    </a:p>
                  </a:txBody>
                  <a:tcPr anchor="ctr">
                    <a:solidFill>
                      <a:srgbClr val="F8FAFC"/>
                    </a:solidFill>
                  </a:tcPr>
                </a:tc>
                <a:tc>
                  <a:txBody>
                    <a:bodyPr/>
                    <a:lstStyle/>
                    <a:p>
                      <a:pPr algn="ctr">
                        <a:defRPr sz="1050">
                          <a:solidFill>
                            <a:srgbClr val="1A202C"/>
                          </a:solidFill>
                        </a:defRPr>
                      </a:pPr>
                      <a:r>
                        <a:t>-0.0133</a:t>
                      </a:r>
                    </a:p>
                  </a:txBody>
                  <a:tcPr anchor="ctr">
                    <a:solidFill>
                      <a:srgbClr val="F8FAFC"/>
                    </a:solidFill>
                  </a:tcPr>
                </a:tc>
                <a:tc>
                  <a:txBody>
                    <a:bodyPr/>
                    <a:lstStyle/>
                    <a:p>
                      <a:pPr algn="ctr">
                        <a:defRPr sz="1050">
                          <a:solidFill>
                            <a:srgbClr val="1A202C"/>
                          </a:solidFill>
                        </a:defRPr>
                      </a:pPr>
                      <a:r>
                        <a:t>5.30</a:t>
                      </a:r>
                    </a:p>
                  </a:txBody>
                  <a:tcPr anchor="ctr">
                    <a:solidFill>
                      <a:srgbClr val="F8FAFC"/>
                    </a:solidFill>
                  </a:tcPr>
                </a:tc>
                <a:tc>
                  <a:txBody>
                    <a:bodyPr/>
                    <a:lstStyle/>
                    <a:p>
                      <a:pPr algn="ctr">
                        <a:defRPr sz="1050">
                          <a:solidFill>
                            <a:srgbClr val="1A202C"/>
                          </a:solidFill>
                        </a:defRPr>
                      </a:pPr>
                      <a:r>
                        <a:t>6.47</a:t>
                      </a:r>
                    </a:p>
                  </a:txBody>
                  <a:tcPr anchor="ctr">
                    <a:solidFill>
                      <a:srgbClr val="F8FAFC"/>
                    </a:solidFill>
                  </a:tcPr>
                </a:tc>
                <a:tc>
                  <a:txBody>
                    <a:bodyPr/>
                    <a:lstStyle/>
                    <a:p>
                      <a:pPr algn="ctr">
                        <a:defRPr sz="1050">
                          <a:solidFill>
                            <a:srgbClr val="1A202C"/>
                          </a:solidFill>
                        </a:defRPr>
                      </a:pPr>
                      <a:r>
                        <a:t>-5.00</a:t>
                      </a:r>
                    </a:p>
                  </a:txBody>
                  <a:tcPr anchor="ctr">
                    <a:solidFill>
                      <a:srgbClr val="F8FAFC"/>
                    </a:solidFill>
                  </a:tcPr>
                </a:tc>
                <a:tc>
                  <a:txBody>
                    <a:bodyPr/>
                    <a:lstStyle/>
                    <a:p>
                      <a:pPr algn="ctr">
                        <a:defRPr sz="1050">
                          <a:solidFill>
                            <a:srgbClr val="1A202C"/>
                          </a:solidFill>
                        </a:defRPr>
                      </a:pPr>
                      <a:r>
                        <a:t>N/A (Failed)</a:t>
                      </a:r>
                    </a:p>
                  </a:txBody>
                  <a:tcPr anchor="ctr">
                    <a:solidFill>
                      <a:srgbClr val="F8FAFC"/>
                    </a:solidFill>
                  </a:tcPr>
                </a:tc>
              </a:tr>
              <a:tr h="445770">
                <a:tc>
                  <a:txBody>
                    <a:bodyPr/>
                    <a:lstStyle/>
                    <a:p>
                      <a:pPr algn="l">
                        <a:defRPr sz="1050">
                          <a:solidFill>
                            <a:srgbClr val="1A202C"/>
                          </a:solidFill>
                        </a:defRPr>
                      </a:pPr>
                      <a:r>
                        <a:t>Multiple Linear Regression (MLR)</a:t>
                      </a:r>
                    </a:p>
                  </a:txBody>
                  <a:tcPr anchor="ctr">
                    <a:solidFill>
                      <a:srgbClr val="FFFFFF"/>
                    </a:solidFill>
                  </a:tcPr>
                </a:tc>
                <a:tc>
                  <a:txBody>
                    <a:bodyPr/>
                    <a:lstStyle/>
                    <a:p>
                      <a:pPr algn="ctr">
                        <a:defRPr sz="1050">
                          <a:solidFill>
                            <a:srgbClr val="1A202C"/>
                          </a:solidFill>
                        </a:defRPr>
                      </a:pPr>
                      <a:r>
                        <a:t>0.6760</a:t>
                      </a:r>
                    </a:p>
                  </a:txBody>
                  <a:tcPr anchor="ctr">
                    <a:solidFill>
                      <a:srgbClr val="FFFFFF"/>
                    </a:solidFill>
                  </a:tcPr>
                </a:tc>
                <a:tc>
                  <a:txBody>
                    <a:bodyPr/>
                    <a:lstStyle/>
                    <a:p>
                      <a:pPr algn="ctr">
                        <a:defRPr sz="1050">
                          <a:solidFill>
                            <a:srgbClr val="1A202C"/>
                          </a:solidFill>
                        </a:defRPr>
                      </a:pPr>
                      <a:r>
                        <a:t>2.71</a:t>
                      </a:r>
                    </a:p>
                  </a:txBody>
                  <a:tcPr anchor="ctr">
                    <a:solidFill>
                      <a:srgbClr val="FFFFFF"/>
                    </a:solidFill>
                  </a:tcPr>
                </a:tc>
                <a:tc>
                  <a:txBody>
                    <a:bodyPr/>
                    <a:lstStyle/>
                    <a:p>
                      <a:pPr algn="ctr">
                        <a:defRPr sz="1050">
                          <a:solidFill>
                            <a:srgbClr val="1A202C"/>
                          </a:solidFill>
                        </a:defRPr>
                      </a:pPr>
                      <a:r>
                        <a:t>3.66</a:t>
                      </a:r>
                    </a:p>
                  </a:txBody>
                  <a:tcPr anchor="ctr">
                    <a:solidFill>
                      <a:srgbClr val="FFFFFF"/>
                    </a:solidFill>
                  </a:tcPr>
                </a:tc>
                <a:tc>
                  <a:txBody>
                    <a:bodyPr/>
                    <a:lstStyle/>
                    <a:p>
                      <a:pPr algn="ctr">
                        <a:defRPr sz="1050">
                          <a:solidFill>
                            <a:srgbClr val="1A202C"/>
                          </a:solidFill>
                        </a:defRPr>
                      </a:pPr>
                      <a:r>
                        <a:t>-0.45</a:t>
                      </a:r>
                    </a:p>
                  </a:txBody>
                  <a:tcPr anchor="ctr">
                    <a:solidFill>
                      <a:srgbClr val="FFFFFF"/>
                    </a:solidFill>
                  </a:tcPr>
                </a:tc>
                <a:tc>
                  <a:txBody>
                    <a:bodyPr/>
                    <a:lstStyle/>
                    <a:p>
                      <a:pPr algn="ctr">
                        <a:defRPr sz="1050">
                          <a:solidFill>
                            <a:srgbClr val="1A202C"/>
                          </a:solidFill>
                        </a:defRPr>
                      </a:pPr>
                      <a:r>
                        <a:t>+0.0120</a:t>
                      </a:r>
                    </a:p>
                  </a:txBody>
                  <a:tcPr anchor="ctr">
                    <a:solidFill>
                      <a:srgbClr val="FFFFFF"/>
                    </a:solidFill>
                  </a:tcPr>
                </a:tc>
              </a:tr>
              <a:tr h="445770">
                <a:tc>
                  <a:txBody>
                    <a:bodyPr/>
                    <a:lstStyle/>
                    <a:p>
                      <a:pPr algn="l">
                        <a:defRPr sz="1050">
                          <a:solidFill>
                            <a:srgbClr val="1A202C"/>
                          </a:solidFill>
                        </a:defRPr>
                      </a:pPr>
                      <a:r>
                        <a:t>Atmospheric Mixture of Experts (MoE)</a:t>
                      </a:r>
                    </a:p>
                  </a:txBody>
                  <a:tcPr anchor="ctr">
                    <a:solidFill>
                      <a:srgbClr val="F8FAFC"/>
                    </a:solidFill>
                  </a:tcPr>
                </a:tc>
                <a:tc>
                  <a:txBody>
                    <a:bodyPr/>
                    <a:lstStyle/>
                    <a:p>
                      <a:pPr algn="ctr">
                        <a:defRPr sz="1050">
                          <a:solidFill>
                            <a:srgbClr val="1A202C"/>
                          </a:solidFill>
                        </a:defRPr>
                      </a:pPr>
                      <a:r>
                        <a:t>0.3745</a:t>
                      </a:r>
                    </a:p>
                  </a:txBody>
                  <a:tcPr anchor="ctr">
                    <a:solidFill>
                      <a:srgbClr val="F8FAFC"/>
                    </a:solidFill>
                  </a:tcPr>
                </a:tc>
                <a:tc>
                  <a:txBody>
                    <a:bodyPr/>
                    <a:lstStyle/>
                    <a:p>
                      <a:pPr algn="ctr">
                        <a:defRPr sz="1050">
                          <a:solidFill>
                            <a:srgbClr val="1A202C"/>
                          </a:solidFill>
                        </a:defRPr>
                      </a:pPr>
                      <a:r>
                        <a:t>3.98</a:t>
                      </a:r>
                    </a:p>
                  </a:txBody>
                  <a:tcPr anchor="ctr">
                    <a:solidFill>
                      <a:srgbClr val="F8FAFC"/>
                    </a:solidFill>
                  </a:tcPr>
                </a:tc>
                <a:tc>
                  <a:txBody>
                    <a:bodyPr/>
                    <a:lstStyle/>
                    <a:p>
                      <a:pPr algn="ctr">
                        <a:defRPr sz="1050">
                          <a:solidFill>
                            <a:srgbClr val="1A202C"/>
                          </a:solidFill>
                        </a:defRPr>
                      </a:pPr>
                      <a:r>
                        <a:t>5.08</a:t>
                      </a:r>
                    </a:p>
                  </a:txBody>
                  <a:tcPr anchor="ctr">
                    <a:solidFill>
                      <a:srgbClr val="F8FAFC"/>
                    </a:solidFill>
                  </a:tcPr>
                </a:tc>
                <a:tc>
                  <a:txBody>
                    <a:bodyPr/>
                    <a:lstStyle/>
                    <a:p>
                      <a:pPr algn="ctr">
                        <a:defRPr sz="1050">
                          <a:solidFill>
                            <a:srgbClr val="1A202C"/>
                          </a:solidFill>
                        </a:defRPr>
                      </a:pPr>
                      <a:r>
                        <a:t>+2.55</a:t>
                      </a:r>
                    </a:p>
                  </a:txBody>
                  <a:tcPr anchor="ctr">
                    <a:solidFill>
                      <a:srgbClr val="F8FAFC"/>
                    </a:solidFill>
                  </a:tcPr>
                </a:tc>
                <a:tc>
                  <a:txBody>
                    <a:bodyPr/>
                    <a:lstStyle/>
                    <a:p>
                      <a:pPr algn="ctr">
                        <a:defRPr sz="1050">
                          <a:solidFill>
                            <a:srgbClr val="1A202C"/>
                          </a:solidFill>
                        </a:defRPr>
                      </a:pPr>
                      <a:r>
                        <a:t>+0.4120</a:t>
                      </a:r>
                    </a:p>
                  </a:txBody>
                  <a:tcPr anchor="ctr">
                    <a:solidFill>
                      <a:srgbClr val="F8FAFC"/>
                    </a:solidFill>
                  </a:tcPr>
                </a:tc>
              </a:tr>
              <a:tr h="445770">
                <a:tc>
                  <a:txBody>
                    <a:bodyPr/>
                    <a:lstStyle/>
                    <a:p>
                      <a:pPr algn="l">
                        <a:defRPr sz="1050">
                          <a:solidFill>
                            <a:srgbClr val="1A202C"/>
                          </a:solidFill>
                        </a:defRPr>
                      </a:pPr>
                      <a:r>
                        <a:t>Deep Neural LLM Regressor</a:t>
                      </a:r>
                    </a:p>
                  </a:txBody>
                  <a:tcPr anchor="ctr">
                    <a:solidFill>
                      <a:srgbClr val="FFFFFF"/>
                    </a:solidFill>
                  </a:tcPr>
                </a:tc>
                <a:tc>
                  <a:txBody>
                    <a:bodyPr/>
                    <a:lstStyle/>
                    <a:p>
                      <a:pPr algn="ctr">
                        <a:defRPr sz="1050">
                          <a:solidFill>
                            <a:srgbClr val="1A202C"/>
                          </a:solidFill>
                        </a:defRPr>
                      </a:pPr>
                      <a:r>
                        <a:t>0.4927</a:t>
                      </a:r>
                    </a:p>
                  </a:txBody>
                  <a:tcPr anchor="ctr">
                    <a:solidFill>
                      <a:srgbClr val="FFFFFF"/>
                    </a:solidFill>
                  </a:tcPr>
                </a:tc>
                <a:tc>
                  <a:txBody>
                    <a:bodyPr/>
                    <a:lstStyle/>
                    <a:p>
                      <a:pPr algn="ctr">
                        <a:defRPr sz="1050">
                          <a:solidFill>
                            <a:srgbClr val="1A202C"/>
                          </a:solidFill>
                        </a:defRPr>
                      </a:pPr>
                      <a:r>
                        <a:t>3.27</a:t>
                      </a:r>
                    </a:p>
                  </a:txBody>
                  <a:tcPr anchor="ctr">
                    <a:solidFill>
                      <a:srgbClr val="FFFFFF"/>
                    </a:solidFill>
                  </a:tcPr>
                </a:tc>
                <a:tc>
                  <a:txBody>
                    <a:bodyPr/>
                    <a:lstStyle/>
                    <a:p>
                      <a:pPr algn="ctr">
                        <a:defRPr sz="1050">
                          <a:solidFill>
                            <a:srgbClr val="1A202C"/>
                          </a:solidFill>
                        </a:defRPr>
                      </a:pPr>
                      <a:r>
                        <a:t>4.57</a:t>
                      </a:r>
                    </a:p>
                  </a:txBody>
                  <a:tcPr anchor="ctr">
                    <a:solidFill>
                      <a:srgbClr val="FFFFFF"/>
                    </a:solidFill>
                  </a:tcPr>
                </a:tc>
                <a:tc>
                  <a:txBody>
                    <a:bodyPr/>
                    <a:lstStyle/>
                    <a:p>
                      <a:pPr algn="ctr">
                        <a:defRPr sz="1050">
                          <a:solidFill>
                            <a:srgbClr val="1A202C"/>
                          </a:solidFill>
                        </a:defRPr>
                      </a:pPr>
                      <a:r>
                        <a:t>-1.28</a:t>
                      </a:r>
                    </a:p>
                  </a:txBody>
                  <a:tcPr anchor="ctr">
                    <a:solidFill>
                      <a:srgbClr val="FFFFFF"/>
                    </a:solidFill>
                  </a:tcPr>
                </a:tc>
                <a:tc>
                  <a:txBody>
                    <a:bodyPr/>
                    <a:lstStyle/>
                    <a:p>
                      <a:pPr algn="ctr">
                        <a:defRPr sz="1050">
                          <a:solidFill>
                            <a:srgbClr val="1A202C"/>
                          </a:solidFill>
                        </a:defRPr>
                      </a:pPr>
                      <a:r>
                        <a:t>+0.4100</a:t>
                      </a:r>
                    </a:p>
                  </a:txBody>
                  <a:tcPr anchor="ctr">
                    <a:solidFill>
                      <a:srgbClr val="FFFFFF"/>
                    </a:solidFill>
                  </a:tcPr>
                </a:tc>
              </a:tr>
              <a:tr h="445770">
                <a:tc>
                  <a:txBody>
                    <a:bodyPr/>
                    <a:lstStyle/>
                    <a:p>
                      <a:pPr algn="l">
                        <a:defRPr sz="1050">
                          <a:solidFill>
                            <a:srgbClr val="1A202C"/>
                          </a:solidFill>
                        </a:defRPr>
                      </a:pPr>
                      <a:r>
                        <a:t>MLP Neural Network Regressor</a:t>
                      </a:r>
                    </a:p>
                  </a:txBody>
                  <a:tcPr anchor="ctr">
                    <a:solidFill>
                      <a:srgbClr val="F8FAFC"/>
                    </a:solidFill>
                  </a:tcPr>
                </a:tc>
                <a:tc>
                  <a:txBody>
                    <a:bodyPr/>
                    <a:lstStyle/>
                    <a:p>
                      <a:pPr algn="ctr">
                        <a:defRPr sz="1050">
                          <a:solidFill>
                            <a:srgbClr val="1A202C"/>
                          </a:solidFill>
                        </a:defRPr>
                      </a:pPr>
                      <a:r>
                        <a:t>0.5170</a:t>
                      </a:r>
                    </a:p>
                  </a:txBody>
                  <a:tcPr anchor="ctr">
                    <a:solidFill>
                      <a:srgbClr val="F8FAFC"/>
                    </a:solidFill>
                  </a:tcPr>
                </a:tc>
                <a:tc>
                  <a:txBody>
                    <a:bodyPr/>
                    <a:lstStyle/>
                    <a:p>
                      <a:pPr algn="ctr">
                        <a:defRPr sz="1050">
                          <a:solidFill>
                            <a:srgbClr val="1A202C"/>
                          </a:solidFill>
                        </a:defRPr>
                      </a:pPr>
                      <a:r>
                        <a:t>3.21</a:t>
                      </a:r>
                    </a:p>
                  </a:txBody>
                  <a:tcPr anchor="ctr">
                    <a:solidFill>
                      <a:srgbClr val="F8FAFC"/>
                    </a:solidFill>
                  </a:tcPr>
                </a:tc>
                <a:tc>
                  <a:txBody>
                    <a:bodyPr/>
                    <a:lstStyle/>
                    <a:p>
                      <a:pPr algn="ctr">
                        <a:defRPr sz="1050">
                          <a:solidFill>
                            <a:srgbClr val="1A202C"/>
                          </a:solidFill>
                        </a:defRPr>
                      </a:pPr>
                      <a:r>
                        <a:t>4.46</a:t>
                      </a:r>
                    </a:p>
                  </a:txBody>
                  <a:tcPr anchor="ctr">
                    <a:solidFill>
                      <a:srgbClr val="F8FAFC"/>
                    </a:solidFill>
                  </a:tcPr>
                </a:tc>
                <a:tc>
                  <a:txBody>
                    <a:bodyPr/>
                    <a:lstStyle/>
                    <a:p>
                      <a:pPr algn="ctr">
                        <a:defRPr sz="1050">
                          <a:solidFill>
                            <a:srgbClr val="1A202C"/>
                          </a:solidFill>
                        </a:defRPr>
                      </a:pPr>
                      <a:r>
                        <a:t>-1.28</a:t>
                      </a:r>
                    </a:p>
                  </a:txBody>
                  <a:tcPr anchor="ctr">
                    <a:solidFill>
                      <a:srgbClr val="F8FAFC"/>
                    </a:solidFill>
                  </a:tcPr>
                </a:tc>
                <a:tc>
                  <a:txBody>
                    <a:bodyPr/>
                    <a:lstStyle/>
                    <a:p>
                      <a:pPr algn="ctr">
                        <a:defRPr sz="1050">
                          <a:solidFill>
                            <a:srgbClr val="1A202C"/>
                          </a:solidFill>
                        </a:defRPr>
                      </a:pPr>
                      <a:r>
                        <a:t>+0.3800</a:t>
                      </a:r>
                    </a:p>
                  </a:txBody>
                  <a:tcPr anchor="ctr">
                    <a:solidFill>
                      <a:srgbClr val="F8FAFC"/>
                    </a:solidFill>
                  </a:tcPr>
                </a:tc>
              </a:tr>
              <a:tr h="445770">
                <a:tc>
                  <a:txBody>
                    <a:bodyPr/>
                    <a:lstStyle/>
                    <a:p>
                      <a:pPr algn="l">
                        <a:defRPr sz="1050">
                          <a:solidFill>
                            <a:srgbClr val="1A202C"/>
                          </a:solidFill>
                        </a:defRPr>
                      </a:pPr>
                      <a:r>
                        <a:t>Standalone Random Forest (v2 Best)</a:t>
                      </a:r>
                    </a:p>
                  </a:txBody>
                  <a:tcPr anchor="ctr">
                    <a:solidFill>
                      <a:srgbClr val="FFFFFF"/>
                    </a:solidFill>
                  </a:tcPr>
                </a:tc>
                <a:tc>
                  <a:txBody>
                    <a:bodyPr/>
                    <a:lstStyle/>
                    <a:p>
                      <a:pPr algn="ctr">
                        <a:defRPr sz="1050">
                          <a:solidFill>
                            <a:srgbClr val="1A202C"/>
                          </a:solidFill>
                        </a:defRPr>
                      </a:pPr>
                      <a:r>
                        <a:t>0.8318</a:t>
                      </a:r>
                    </a:p>
                  </a:txBody>
                  <a:tcPr anchor="ctr">
                    <a:solidFill>
                      <a:srgbClr val="FFFFFF"/>
                    </a:solidFill>
                  </a:tcPr>
                </a:tc>
                <a:tc>
                  <a:txBody>
                    <a:bodyPr/>
                    <a:lstStyle/>
                    <a:p>
                      <a:pPr algn="ctr">
                        <a:defRPr sz="1050">
                          <a:solidFill>
                            <a:srgbClr val="1A202C"/>
                          </a:solidFill>
                        </a:defRPr>
                      </a:pPr>
                      <a:r>
                        <a:t>1.81</a:t>
                      </a:r>
                    </a:p>
                  </a:txBody>
                  <a:tcPr anchor="ctr">
                    <a:solidFill>
                      <a:srgbClr val="FFFFFF"/>
                    </a:solidFill>
                  </a:tcPr>
                </a:tc>
                <a:tc>
                  <a:txBody>
                    <a:bodyPr/>
                    <a:lstStyle/>
                    <a:p>
                      <a:pPr algn="ctr">
                        <a:defRPr sz="1050">
                          <a:solidFill>
                            <a:srgbClr val="1A202C"/>
                          </a:solidFill>
                        </a:defRPr>
                      </a:pPr>
                      <a:r>
                        <a:t>2.63</a:t>
                      </a:r>
                    </a:p>
                  </a:txBody>
                  <a:tcPr anchor="ctr">
                    <a:solidFill>
                      <a:srgbClr val="FFFFFF"/>
                    </a:solidFill>
                  </a:tcPr>
                </a:tc>
                <a:tc>
                  <a:txBody>
                    <a:bodyPr/>
                    <a:lstStyle/>
                    <a:p>
                      <a:pPr algn="ctr">
                        <a:defRPr sz="1050">
                          <a:solidFill>
                            <a:srgbClr val="1A202C"/>
                          </a:solidFill>
                        </a:defRPr>
                      </a:pPr>
                      <a:r>
                        <a:t>-0.81</a:t>
                      </a:r>
                    </a:p>
                  </a:txBody>
                  <a:tcPr anchor="ctr">
                    <a:solidFill>
                      <a:srgbClr val="FFFFFF"/>
                    </a:solidFill>
                  </a:tcPr>
                </a:tc>
                <a:tc>
                  <a:txBody>
                    <a:bodyPr/>
                    <a:lstStyle/>
                    <a:p>
                      <a:pPr algn="ctr">
                        <a:defRPr sz="1050">
                          <a:solidFill>
                            <a:srgbClr val="1A202C"/>
                          </a:solidFill>
                        </a:defRPr>
                      </a:pPr>
                      <a:r>
                        <a:t>+0.1413 (14.1%)</a:t>
                      </a:r>
                    </a:p>
                  </a:txBody>
                  <a:tcPr anchor="ctr">
                    <a:solidFill>
                      <a:srgbClr val="FFFFFF"/>
                    </a:solidFill>
                  </a:tcPr>
                </a:tc>
              </a:tr>
              <a:tr h="445770">
                <a:tc>
                  <a:txBody>
                    <a:bodyPr/>
                    <a:lstStyle/>
                    <a:p>
                      <a:pPr algn="l">
                        <a:defRPr b="1" sz="1100">
                          <a:solidFill>
                            <a:srgbClr val="1E3A8A"/>
                          </a:solidFill>
                        </a:defRPr>
                      </a:pPr>
                      <a:r>
                        <a:t>SPIME v4 Meta-Ensemble [OURS]</a:t>
                      </a:r>
                    </a:p>
                  </a:txBody>
                  <a:tcPr anchor="ctr">
                    <a:solidFill>
                      <a:srgbClr val="EFF6FF"/>
                    </a:solidFill>
                  </a:tcPr>
                </a:tc>
                <a:tc>
                  <a:txBody>
                    <a:bodyPr/>
                    <a:lstStyle/>
                    <a:p>
                      <a:pPr algn="ctr">
                        <a:defRPr b="1" sz="1100">
                          <a:solidFill>
                            <a:srgbClr val="1E3A8A"/>
                          </a:solidFill>
                        </a:defRPr>
                      </a:pPr>
                      <a:r>
                        <a:t>0.9632</a:t>
                      </a:r>
                    </a:p>
                  </a:txBody>
                  <a:tcPr anchor="ctr">
                    <a:solidFill>
                      <a:srgbClr val="EFF6FF"/>
                    </a:solidFill>
                  </a:tcPr>
                </a:tc>
                <a:tc>
                  <a:txBody>
                    <a:bodyPr/>
                    <a:lstStyle/>
                    <a:p>
                      <a:pPr algn="ctr">
                        <a:defRPr b="1" sz="1100">
                          <a:solidFill>
                            <a:srgbClr val="1E3A8A"/>
                          </a:solidFill>
                        </a:defRPr>
                      </a:pPr>
                      <a:r>
                        <a:t>0.61</a:t>
                      </a:r>
                    </a:p>
                  </a:txBody>
                  <a:tcPr anchor="ctr">
                    <a:solidFill>
                      <a:srgbClr val="EFF6FF"/>
                    </a:solidFill>
                  </a:tcPr>
                </a:tc>
                <a:tc>
                  <a:txBody>
                    <a:bodyPr/>
                    <a:lstStyle/>
                    <a:p>
                      <a:pPr algn="ctr">
                        <a:defRPr b="1" sz="1100">
                          <a:solidFill>
                            <a:srgbClr val="1E3A8A"/>
                          </a:solidFill>
                        </a:defRPr>
                      </a:pPr>
                      <a:r>
                        <a:t>1.23</a:t>
                      </a:r>
                    </a:p>
                  </a:txBody>
                  <a:tcPr anchor="ctr">
                    <a:solidFill>
                      <a:srgbClr val="EFF6FF"/>
                    </a:solidFill>
                  </a:tcPr>
                </a:tc>
                <a:tc>
                  <a:txBody>
                    <a:bodyPr/>
                    <a:lstStyle/>
                    <a:p>
                      <a:pPr algn="ctr">
                        <a:defRPr b="1" sz="1100">
                          <a:solidFill>
                            <a:srgbClr val="1E3A8A"/>
                          </a:solidFill>
                        </a:defRPr>
                      </a:pPr>
                      <a:r>
                        <a:t>-0.23</a:t>
                      </a:r>
                    </a:p>
                  </a:txBody>
                  <a:tcPr anchor="ctr">
                    <a:solidFill>
                      <a:srgbClr val="EFF6FF"/>
                    </a:solidFill>
                  </a:tcPr>
                </a:tc>
                <a:tc>
                  <a:txBody>
                    <a:bodyPr/>
                    <a:lstStyle/>
                    <a:p>
                      <a:pPr algn="ctr">
                        <a:defRPr b="1" sz="1100">
                          <a:solidFill>
                            <a:srgbClr val="1E3A8A"/>
                          </a:solidFill>
                        </a:defRPr>
                      </a:pPr>
                      <a:r>
                        <a:t>-0.0002 (~0.0%)</a:t>
                      </a:r>
                    </a:p>
                  </a:txBody>
                  <a:tcPr anchor="ctr">
                    <a:solidFill>
                      <a:srgbClr val="EFF6FF"/>
                    </a:solidFill>
                  </a:tcPr>
                </a:tc>
              </a:tr>
            </a:tbl>
          </a:graphicData>
        </a:graphic>
      </p:graphicFrame>
      <p:sp>
        <p:nvSpPr>
          <p:cNvPr id="8" name="Rounded Rectangle 7"/>
          <p:cNvSpPr/>
          <p:nvPr/>
        </p:nvSpPr>
        <p:spPr>
          <a:xfrm>
            <a:off x="822960" y="5166360"/>
            <a:ext cx="33375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57800"/>
            <a:ext cx="3154679" cy="868680"/>
          </a:xfrm>
          <a:prstGeom prst="rect">
            <a:avLst/>
          </a:prstGeom>
          <a:noFill/>
        </p:spPr>
        <p:txBody>
          <a:bodyPr wrap="none">
            <a:spAutoFit/>
          </a:bodyPr>
          <a:lstStyle/>
          <a:p>
            <a:pPr algn="ctr">
              <a:defRPr b="1" sz="1800">
                <a:solidFill>
                  <a:srgbClr val="1E3A8A"/>
                </a:solidFill>
              </a:defRPr>
            </a:pPr>
            <a:r>
              <a:t>0.9632</a:t>
            </a:r>
          </a:p>
          <a:p>
            <a:pPr algn="ctr">
              <a:defRPr sz="950">
                <a:solidFill>
                  <a:srgbClr val="64748B"/>
                </a:solidFill>
              </a:defRPr>
            </a:pPr>
            <a:r>
              <a:t>Holdout R² Score (Test: 0.9732)</a:t>
            </a:r>
          </a:p>
        </p:txBody>
      </p:sp>
      <p:sp>
        <p:nvSpPr>
          <p:cNvPr id="10" name="Rounded Rectangle 9"/>
          <p:cNvSpPr/>
          <p:nvPr/>
        </p:nvSpPr>
        <p:spPr>
          <a:xfrm>
            <a:off x="4425696" y="5166360"/>
            <a:ext cx="33375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5257800"/>
            <a:ext cx="3154679" cy="868680"/>
          </a:xfrm>
          <a:prstGeom prst="rect">
            <a:avLst/>
          </a:prstGeom>
          <a:noFill/>
        </p:spPr>
        <p:txBody>
          <a:bodyPr wrap="none">
            <a:spAutoFit/>
          </a:bodyPr>
          <a:lstStyle/>
          <a:p>
            <a:pPr algn="ctr">
              <a:defRPr b="1" sz="1800">
                <a:solidFill>
                  <a:srgbClr val="0D9488"/>
                </a:solidFill>
              </a:defRPr>
            </a:pPr>
            <a:r>
              <a:t>0.61 µg/m³</a:t>
            </a:r>
          </a:p>
          <a:p>
            <a:pPr algn="ctr">
              <a:defRPr sz="950">
                <a:solidFill>
                  <a:srgbClr val="64748B"/>
                </a:solidFill>
              </a:defRPr>
            </a:pPr>
            <a:r>
              <a:t>MAE (-66.3% Error over RF)</a:t>
            </a:r>
          </a:p>
        </p:txBody>
      </p:sp>
      <p:sp>
        <p:nvSpPr>
          <p:cNvPr id="12" name="Rounded Rectangle 11"/>
          <p:cNvSpPr/>
          <p:nvPr/>
        </p:nvSpPr>
        <p:spPr>
          <a:xfrm>
            <a:off x="8028431" y="5166360"/>
            <a:ext cx="333756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9871" y="5257800"/>
            <a:ext cx="3154679" cy="868680"/>
          </a:xfrm>
          <a:prstGeom prst="rect">
            <a:avLst/>
          </a:prstGeom>
          <a:noFill/>
        </p:spPr>
        <p:txBody>
          <a:bodyPr wrap="none">
            <a:spAutoFit/>
          </a:bodyPr>
          <a:lstStyle/>
          <a:p>
            <a:pPr algn="ctr">
              <a:defRPr b="1" sz="1800">
                <a:solidFill>
                  <a:srgbClr val="1E3A8A"/>
                </a:solidFill>
              </a:defRPr>
            </a:pPr>
            <a:r>
              <a:t>-0.0002</a:t>
            </a:r>
          </a:p>
          <a:p>
            <a:pPr algn="ctr">
              <a:defRPr sz="950">
                <a:solidFill>
                  <a:srgbClr val="64748B"/>
                </a:solidFill>
              </a:defRPr>
            </a:pPr>
            <a:r>
              <a:t>Overfitting Gap (~0.0% Collapse)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04 | RESULTS</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Holdout Calibration Accuracy &amp; Continuous Time-Series Tracking</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ctual vs predicted scatter plot.png"/>
          <p:cNvPicPr>
            <a:picLocks noChangeAspect="1"/>
          </p:cNvPicPr>
          <p:nvPr/>
        </p:nvPicPr>
        <p:blipFill>
          <a:blip r:embed="rId2"/>
          <a:stretch>
            <a:fillRect/>
          </a:stretch>
        </p:blipFill>
        <p:spPr>
          <a:xfrm>
            <a:off x="960120" y="1600200"/>
            <a:ext cx="4892040" cy="3148172"/>
          </a:xfrm>
          <a:prstGeom prst="rect">
            <a:avLst/>
          </a:prstGeom>
        </p:spPr>
      </p:pic>
      <p:sp>
        <p:nvSpPr>
          <p:cNvPr id="9" name="TextBox 8"/>
          <p:cNvSpPr txBox="1"/>
          <p:nvPr/>
        </p:nvSpPr>
        <p:spPr>
          <a:xfrm>
            <a:off x="914400" y="5715000"/>
            <a:ext cx="4983480" cy="365760"/>
          </a:xfrm>
          <a:prstGeom prst="rect">
            <a:avLst/>
          </a:prstGeom>
          <a:noFill/>
        </p:spPr>
        <p:txBody>
          <a:bodyPr wrap="none">
            <a:spAutoFit/>
          </a:bodyPr>
          <a:lstStyle/>
          <a:p>
            <a:pPr algn="ctr">
              <a:defRPr sz="950" i="1">
                <a:solidFill>
                  <a:srgbClr val="64748B"/>
                </a:solidFill>
              </a:defRPr>
            </a:pPr>
            <a:r>
              <a:t>Figure 4.1: Actual vs. Predicted Holdout Scatter Plot</a:t>
            </a:r>
          </a:p>
        </p:txBody>
      </p:sp>
      <p:sp>
        <p:nvSpPr>
          <p:cNvPr id="10" name="Rounded Rectangle 9"/>
          <p:cNvSpPr/>
          <p:nvPr/>
        </p:nvSpPr>
        <p:spPr>
          <a:xfrm>
            <a:off x="617220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ctual vs predicted line plot (300 points subset).png"/>
          <p:cNvPicPr>
            <a:picLocks noChangeAspect="1"/>
          </p:cNvPicPr>
          <p:nvPr/>
        </p:nvPicPr>
        <p:blipFill>
          <a:blip r:embed="rId3"/>
          <a:stretch>
            <a:fillRect/>
          </a:stretch>
        </p:blipFill>
        <p:spPr>
          <a:xfrm>
            <a:off x="6309360" y="1600200"/>
            <a:ext cx="4892040" cy="3148172"/>
          </a:xfrm>
          <a:prstGeom prst="rect">
            <a:avLst/>
          </a:prstGeom>
        </p:spPr>
      </p:pic>
      <p:sp>
        <p:nvSpPr>
          <p:cNvPr id="12" name="TextBox 11"/>
          <p:cNvSpPr txBox="1"/>
          <p:nvPr/>
        </p:nvSpPr>
        <p:spPr>
          <a:xfrm>
            <a:off x="6309360" y="5715000"/>
            <a:ext cx="4892040" cy="365760"/>
          </a:xfrm>
          <a:prstGeom prst="rect">
            <a:avLst/>
          </a:prstGeom>
          <a:noFill/>
        </p:spPr>
        <p:txBody>
          <a:bodyPr wrap="none">
            <a:spAutoFit/>
          </a:bodyPr>
          <a:lstStyle/>
          <a:p>
            <a:pPr algn="ctr">
              <a:defRPr sz="950" i="1">
                <a:solidFill>
                  <a:srgbClr val="64748B"/>
                </a:solidFill>
              </a:defRPr>
            </a:pPr>
            <a:r>
              <a:t>Figure 4.2: High-Resolution Time-Series Tracking (300-Hr Sample)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04 | RESULTS</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Diagnostic Breakdown: Overfitting Gap Across Paradigms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00200"/>
            <a:ext cx="4709160" cy="1920240"/>
          </a:xfrm>
          <a:prstGeom prst="rect">
            <a:avLst/>
          </a:prstGeom>
          <a:noFill/>
        </p:spPr>
        <p:txBody>
          <a:bodyPr wrap="square">
            <a:spAutoFit/>
          </a:bodyPr>
          <a:lstStyle/>
          <a:p>
            <a:pPr>
              <a:defRPr b="1" sz="1200">
                <a:solidFill>
                  <a:srgbClr val="1A202C"/>
                </a:solidFill>
              </a:defRPr>
            </a:pPr>
            <a:r>
              <a:t>Deep Neural LLM Regressor</a:t>
            </a:r>
          </a:p>
          <a:p>
            <a:pPr>
              <a:spcBef>
                <a:spcPts val="300"/>
              </a:spcBef>
              <a:defRPr b="1" sz="1100">
                <a:solidFill>
                  <a:srgbClr val="E11D48"/>
                </a:solidFill>
              </a:defRPr>
            </a:pPr>
            <a:r>
              <a:t>Train R²: 0.9027   |   Holdout R²: 0.4927   |   Overfit Gap: +41.0%</a:t>
            </a:r>
          </a:p>
          <a:p>
            <a:pPr>
              <a:lnSpc>
                <a:spcPct val="115000"/>
              </a:lnSpc>
              <a:spcBef>
                <a:spcPts val="400"/>
              </a:spcBef>
              <a:defRPr sz="1050">
                <a:solidFill>
                  <a:srgbClr val="64748B"/>
                </a:solidFill>
              </a:defRPr>
            </a:pPr>
            <a:r>
              <a:t>Severe memorization of high-frequency sensor noise on autocorrelated environmental series.</a:t>
            </a:r>
          </a:p>
        </p:txBody>
      </p:sp>
      <p:sp>
        <p:nvSpPr>
          <p:cNvPr id="9" name="Rounded Rectangle 8"/>
          <p:cNvSpPr/>
          <p:nvPr/>
        </p:nvSpPr>
        <p:spPr>
          <a:xfrm>
            <a:off x="6217920" y="1463040"/>
            <a:ext cx="516636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00200"/>
            <a:ext cx="4709160" cy="1920240"/>
          </a:xfrm>
          <a:prstGeom prst="rect">
            <a:avLst/>
          </a:prstGeom>
          <a:noFill/>
        </p:spPr>
        <p:txBody>
          <a:bodyPr wrap="square">
            <a:spAutoFit/>
          </a:bodyPr>
          <a:lstStyle/>
          <a:p>
            <a:pPr>
              <a:defRPr b="1" sz="1200">
                <a:solidFill>
                  <a:srgbClr val="1A202C"/>
                </a:solidFill>
              </a:defRPr>
            </a:pPr>
            <a:r>
              <a:t>Multi-Layer Perceptron (MLP)</a:t>
            </a:r>
          </a:p>
          <a:p>
            <a:pPr>
              <a:spcBef>
                <a:spcPts val="300"/>
              </a:spcBef>
              <a:defRPr b="1" sz="1100">
                <a:solidFill>
                  <a:srgbClr val="E11D48"/>
                </a:solidFill>
              </a:defRPr>
            </a:pPr>
            <a:r>
              <a:t>Train R²: 0.8970   |   Holdout R²: 0.5170   |   Overfit Gap: +38.0%</a:t>
            </a:r>
          </a:p>
          <a:p>
            <a:pPr>
              <a:lnSpc>
                <a:spcPct val="115000"/>
              </a:lnSpc>
              <a:spcBef>
                <a:spcPts val="400"/>
              </a:spcBef>
              <a:defRPr sz="1050">
                <a:solidFill>
                  <a:srgbClr val="64748B"/>
                </a:solidFill>
              </a:defRPr>
            </a:pPr>
            <a:r>
              <a:t>Gradient backpropagation overfits to training micro-fluctuations, failing on unseen seasons.</a:t>
            </a:r>
          </a:p>
        </p:txBody>
      </p:sp>
      <p:sp>
        <p:nvSpPr>
          <p:cNvPr id="11" name="Rounded Rectangle 10"/>
          <p:cNvSpPr/>
          <p:nvPr/>
        </p:nvSpPr>
        <p:spPr>
          <a:xfrm>
            <a:off x="822960" y="3840480"/>
            <a:ext cx="516636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977640"/>
            <a:ext cx="4709160" cy="1920240"/>
          </a:xfrm>
          <a:prstGeom prst="rect">
            <a:avLst/>
          </a:prstGeom>
          <a:noFill/>
        </p:spPr>
        <p:txBody>
          <a:bodyPr wrap="square">
            <a:spAutoFit/>
          </a:bodyPr>
          <a:lstStyle/>
          <a:p>
            <a:pPr>
              <a:defRPr b="1" sz="1200">
                <a:solidFill>
                  <a:srgbClr val="1A202C"/>
                </a:solidFill>
              </a:defRPr>
            </a:pPr>
            <a:r>
              <a:t>Standalone Random Forest</a:t>
            </a:r>
          </a:p>
          <a:p>
            <a:pPr>
              <a:spcBef>
                <a:spcPts val="300"/>
              </a:spcBef>
              <a:defRPr b="1" sz="1100">
                <a:solidFill>
                  <a:srgbClr val="D97706"/>
                </a:solidFill>
              </a:defRPr>
            </a:pPr>
            <a:r>
              <a:t>Train R²: 0.9731   |   Holdout R²: 0.8318   |   Overfit Gap: +14.1%</a:t>
            </a:r>
          </a:p>
          <a:p>
            <a:pPr>
              <a:lnSpc>
                <a:spcPct val="115000"/>
              </a:lnSpc>
              <a:spcBef>
                <a:spcPts val="400"/>
              </a:spcBef>
              <a:defRPr sz="1050">
                <a:solidFill>
                  <a:srgbClr val="64748B"/>
                </a:solidFill>
              </a:defRPr>
            </a:pPr>
            <a:r>
              <a:t>Unconstrained decision trees memorized local noise, causing a 14% generalization collapse.</a:t>
            </a:r>
          </a:p>
        </p:txBody>
      </p:sp>
      <p:sp>
        <p:nvSpPr>
          <p:cNvPr id="13" name="Rounded Rectangle 12"/>
          <p:cNvSpPr/>
          <p:nvPr/>
        </p:nvSpPr>
        <p:spPr>
          <a:xfrm>
            <a:off x="6217920" y="3840480"/>
            <a:ext cx="516636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977640"/>
            <a:ext cx="4709160" cy="1920240"/>
          </a:xfrm>
          <a:prstGeom prst="rect">
            <a:avLst/>
          </a:prstGeom>
          <a:noFill/>
        </p:spPr>
        <p:txBody>
          <a:bodyPr wrap="square">
            <a:spAutoFit/>
          </a:bodyPr>
          <a:lstStyle/>
          <a:p>
            <a:pPr>
              <a:defRPr b="1" sz="1200">
                <a:solidFill>
                  <a:srgbClr val="1A202C"/>
                </a:solidFill>
              </a:defRPr>
            </a:pPr>
            <a:r>
              <a:t>SPIME v4 Meta-Ensemble [OURS]</a:t>
            </a:r>
          </a:p>
          <a:p>
            <a:pPr>
              <a:spcBef>
                <a:spcPts val="300"/>
              </a:spcBef>
              <a:defRPr b="1" sz="1100">
                <a:solidFill>
                  <a:srgbClr val="0D9488"/>
                </a:solidFill>
              </a:defRPr>
            </a:pPr>
            <a:r>
              <a:t>Train R²: 0.9630   |   Holdout R²: 0.9632   |   Overfit Gap: -0.02% (~0.0%)</a:t>
            </a:r>
          </a:p>
          <a:p>
            <a:pPr>
              <a:lnSpc>
                <a:spcPct val="115000"/>
              </a:lnSpc>
              <a:spcBef>
                <a:spcPts val="400"/>
              </a:spcBef>
              <a:defRPr sz="1050">
                <a:solidFill>
                  <a:srgbClr val="64748B"/>
                </a:solidFill>
              </a:defRPr>
            </a:pPr>
            <a:r>
              <a:t>5-Fold Out-of-Fold (OOF) cross-validation stacking completely eliminates data leakage!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04 | RESULTS</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Model Explainability: Physical Feature Attribution</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800600" cy="4389120"/>
          </a:xfrm>
          <a:prstGeom prst="rect">
            <a:avLst/>
          </a:prstGeom>
          <a:noFill/>
        </p:spPr>
        <p:txBody>
          <a:bodyPr wrap="square">
            <a:spAutoFit/>
          </a:bodyPr>
          <a:lstStyle/>
          <a:p>
            <a:pPr>
              <a:spcAft>
                <a:spcPts val="800"/>
              </a:spcAft>
              <a:defRPr sz="1400" b="1">
                <a:solidFill>
                  <a:srgbClr val="1E3A8A"/>
                </a:solidFill>
              </a:defRPr>
            </a:pPr>
            <a:r>
              <a:t>Tree Gini Feature Importance Rankings</a:t>
            </a:r>
          </a:p>
          <a:p>
            <a:pPr>
              <a:lnSpc>
                <a:spcPct val="115000"/>
              </a:lnSpc>
              <a:spcAft>
                <a:spcPts val="600"/>
              </a:spcAft>
            </a:pPr>
            <a:r>
              <a:rPr b="1" sz="1200">
                <a:solidFill>
                  <a:srgbClr val="1E3A8A"/>
                </a:solidFill>
                <a:latin typeface="Arial"/>
              </a:rPr>
              <a:t>1. Köhler Physics Dominance (24.5%): </a:t>
            </a:r>
            <a:r>
              <a:rPr b="0" sz="1200">
                <a:solidFill>
                  <a:srgbClr val="1A202C"/>
                </a:solidFill>
                <a:latin typeface="Arial"/>
              </a:rPr>
              <a:t>Engineered hygroscopic growth features (kohler_gamma_0.20, 0.15, scaled mass) dominate model predictions. Decision trees split along physical growth curves rather than arbitrary humidity splits.</a:t>
            </a:r>
          </a:p>
          <a:p>
            <a:pPr>
              <a:lnSpc>
                <a:spcPct val="115000"/>
              </a:lnSpc>
              <a:spcAft>
                <a:spcPts val="600"/>
              </a:spcAft>
            </a:pPr>
            <a:r>
              <a:rPr b="1" sz="1200">
                <a:solidFill>
                  <a:srgbClr val="1E3A8A"/>
                </a:solidFill>
                <a:latin typeface="Arial"/>
              </a:rPr>
              <a:t>2. Thermodynamic Water Mass (13.0%): </a:t>
            </a:r>
            <a:r>
              <a:rPr b="0" sz="1200">
                <a:solidFill>
                  <a:srgbClr val="1A202C"/>
                </a:solidFill>
                <a:latin typeface="Arial"/>
              </a:rPr>
              <a:t>Absolute Humidity (AH, 8.8%) and VPD (4.2%) decouple warm tropical moisture from cool dry air.</a:t>
            </a:r>
          </a:p>
          <a:p>
            <a:pPr>
              <a:lnSpc>
                <a:spcPct val="115000"/>
              </a:lnSpc>
              <a:spcAft>
                <a:spcPts val="600"/>
              </a:spcAft>
            </a:pPr>
            <a:r>
              <a:rPr b="1" sz="1200">
                <a:solidFill>
                  <a:srgbClr val="1E3A8A"/>
                </a:solidFill>
                <a:latin typeface="Arial"/>
              </a:rPr>
              <a:t>3. Temporal Dynamics (10.7%): </a:t>
            </a:r>
            <a:r>
              <a:rPr b="0" sz="1200">
                <a:solidFill>
                  <a:srgbClr val="1A202C"/>
                </a:solidFill>
                <a:latin typeface="Arial"/>
              </a:rPr>
              <a:t>Multi-window EWMA features filter high-frequency sensor noise while preserving genuine particulate accumulation.</a:t>
            </a:r>
          </a:p>
          <a:p>
            <a:pPr>
              <a:lnSpc>
                <a:spcPct val="115000"/>
              </a:lnSpc>
              <a:spcAft>
                <a:spcPts val="600"/>
              </a:spcAft>
            </a:pPr>
            <a:r>
              <a:rPr b="1" sz="1200">
                <a:solidFill>
                  <a:srgbClr val="1E3A8A"/>
                </a:solidFill>
                <a:latin typeface="Arial"/>
              </a:rPr>
              <a:t>4. Harmattan Dust Adaptation (7.2%): </a:t>
            </a:r>
            <a:r>
              <a:rPr b="0" sz="1200">
                <a:solidFill>
                  <a:srgbClr val="1A202C"/>
                </a:solidFill>
                <a:latin typeface="Arial"/>
              </a:rPr>
              <a:t>Protects against misinterpreting dry Saharan mineral dust as humidity swell.</a:t>
            </a:r>
          </a:p>
        </p:txBody>
      </p:sp>
      <p:sp>
        <p:nvSpPr>
          <p:cNvPr id="9" name="Rounded Rectangle 8"/>
          <p:cNvSpPr/>
          <p:nvPr/>
        </p:nvSpPr>
        <p:spPr>
          <a:xfrm>
            <a:off x="617220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4_4_feature_importance.png"/>
          <p:cNvPicPr>
            <a:picLocks noChangeAspect="1"/>
          </p:cNvPicPr>
          <p:nvPr/>
        </p:nvPicPr>
        <p:blipFill>
          <a:blip r:embed="rId2"/>
          <a:stretch>
            <a:fillRect/>
          </a:stretch>
        </p:blipFill>
        <p:spPr>
          <a:xfrm>
            <a:off x="6309360" y="1600200"/>
            <a:ext cx="4892040" cy="3669030"/>
          </a:xfrm>
          <a:prstGeom prst="rect">
            <a:avLst/>
          </a:prstGeom>
        </p:spPr>
      </p:pic>
      <p:sp>
        <p:nvSpPr>
          <p:cNvPr id="11" name="TextBox 10"/>
          <p:cNvSpPr txBox="1"/>
          <p:nvPr/>
        </p:nvSpPr>
        <p:spPr>
          <a:xfrm>
            <a:off x="6309360" y="5715000"/>
            <a:ext cx="4892040" cy="365760"/>
          </a:xfrm>
          <a:prstGeom prst="rect">
            <a:avLst/>
          </a:prstGeom>
          <a:noFill/>
        </p:spPr>
        <p:txBody>
          <a:bodyPr wrap="none">
            <a:spAutoFit/>
          </a:bodyPr>
          <a:lstStyle/>
          <a:p>
            <a:pPr algn="ctr">
              <a:defRPr sz="950" i="1">
                <a:solidFill>
                  <a:srgbClr val="64748B"/>
                </a:solidFill>
              </a:defRPr>
            </a:pPr>
            <a:r>
              <a:t>Figure 4.4: Top 20 Feature Importance Attributions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04 | RESULTS</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Seasonal Generalization: Monsoon Wet vs. Harmattan Dry</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800600" cy="3017520"/>
          </a:xfrm>
          <a:prstGeom prst="rect">
            <a:avLst/>
          </a:prstGeom>
          <a:noFill/>
        </p:spPr>
        <p:txBody>
          <a:bodyPr wrap="square">
            <a:spAutoFit/>
          </a:bodyPr>
          <a:lstStyle/>
          <a:p>
            <a:pPr>
              <a:spcAft>
                <a:spcPts val="600"/>
              </a:spcAft>
              <a:defRPr sz="1350" b="1">
                <a:solidFill>
                  <a:srgbClr val="1E3A8A"/>
                </a:solidFill>
              </a:defRPr>
            </a:pPr>
            <a:r>
              <a:t>1. Monsoon Wet Season (June – Oct)</a:t>
            </a:r>
          </a:p>
          <a:p>
            <a:pPr>
              <a:lnSpc>
                <a:spcPct val="115000"/>
              </a:lnSpc>
              <a:spcAft>
                <a:spcPts val="600"/>
              </a:spcAft>
            </a:pPr>
            <a:r>
              <a:rPr b="1" sz="1200">
                <a:solidFill>
                  <a:srgbClr val="1E3A8A"/>
                </a:solidFill>
                <a:latin typeface="Arial"/>
              </a:rPr>
              <a:t>Meteorological Regime: </a:t>
            </a:r>
            <a:r>
              <a:rPr b="0" sz="1200">
                <a:solidFill>
                  <a:srgbClr val="1A202C"/>
                </a:solidFill>
                <a:latin typeface="Arial"/>
              </a:rPr>
              <a:t>High relative humidity (78%–96%), frequent convective rain, high wet deposition.</a:t>
            </a:r>
          </a:p>
          <a:p>
            <a:pPr>
              <a:lnSpc>
                <a:spcPct val="115000"/>
              </a:lnSpc>
              <a:spcAft>
                <a:spcPts val="600"/>
              </a:spcAft>
            </a:pPr>
            <a:r>
              <a:rPr b="1" sz="1200">
                <a:solidFill>
                  <a:srgbClr val="1E3A8A"/>
                </a:solidFill>
                <a:latin typeface="Arial"/>
              </a:rPr>
              <a:t>Holdout Sample Size: </a:t>
            </a:r>
            <a:r>
              <a:rPr b="0" sz="1200">
                <a:solidFill>
                  <a:srgbClr val="1A202C"/>
                </a:solidFill>
                <a:latin typeface="Arial"/>
              </a:rPr>
              <a:t>2,208 continuous hours.</a:t>
            </a:r>
          </a:p>
          <a:p>
            <a:pPr>
              <a:lnSpc>
                <a:spcPct val="115000"/>
              </a:lnSpc>
              <a:spcAft>
                <a:spcPts val="600"/>
              </a:spcAft>
            </a:pPr>
            <a:r>
              <a:rPr b="1" sz="1200">
                <a:solidFill>
                  <a:srgbClr val="1E3A8A"/>
                </a:solidFill>
                <a:latin typeface="Arial"/>
              </a:rPr>
              <a:t>Holdout R² Score: </a:t>
            </a:r>
            <a:r>
              <a:rPr b="0" sz="1200">
                <a:solidFill>
                  <a:srgbClr val="1A202C"/>
                </a:solidFill>
                <a:latin typeface="Arial"/>
              </a:rPr>
              <a:t>0.9684 (Reference-grade accuracy).</a:t>
            </a:r>
          </a:p>
          <a:p>
            <a:pPr>
              <a:lnSpc>
                <a:spcPct val="115000"/>
              </a:lnSpc>
              <a:spcAft>
                <a:spcPts val="600"/>
              </a:spcAft>
            </a:pPr>
            <a:r>
              <a:rPr b="1" sz="1200">
                <a:solidFill>
                  <a:srgbClr val="1E3A8A"/>
                </a:solidFill>
                <a:latin typeface="Arial"/>
              </a:rPr>
              <a:t>MAE &amp; RMSE: </a:t>
            </a:r>
            <a:r>
              <a:rPr b="0" sz="1200">
                <a:solidFill>
                  <a:srgbClr val="1A202C"/>
                </a:solidFill>
                <a:latin typeface="Arial"/>
              </a:rPr>
              <a:t>MAE = 0.54 µg/m³, RMSE = 1.08 µg/m³.</a:t>
            </a:r>
          </a:p>
          <a:p>
            <a:pPr>
              <a:lnSpc>
                <a:spcPct val="115000"/>
              </a:lnSpc>
              <a:spcAft>
                <a:spcPts val="600"/>
              </a:spcAft>
            </a:pPr>
            <a:r>
              <a:rPr b="1" sz="1200">
                <a:solidFill>
                  <a:srgbClr val="1E3A8A"/>
                </a:solidFill>
                <a:latin typeface="Arial"/>
              </a:rPr>
              <a:t>Physical Takeaway: </a:t>
            </a:r>
            <a:r>
              <a:rPr b="0" sz="1200">
                <a:solidFill>
                  <a:srgbClr val="1A202C"/>
                </a:solidFill>
                <a:latin typeface="Arial"/>
              </a:rPr>
              <a:t>Köhler feature formulations successfully eliminate severe hygroscopic droplet swelling errors.</a:t>
            </a:r>
          </a:p>
        </p:txBody>
      </p:sp>
      <p:sp>
        <p:nvSpPr>
          <p:cNvPr id="9" name="Rounded Rectangle 8"/>
          <p:cNvSpPr/>
          <p:nvPr/>
        </p:nvSpPr>
        <p:spPr>
          <a:xfrm>
            <a:off x="6172200" y="1463040"/>
            <a:ext cx="5166360"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45920"/>
            <a:ext cx="4800600" cy="3017520"/>
          </a:xfrm>
          <a:prstGeom prst="rect">
            <a:avLst/>
          </a:prstGeom>
          <a:noFill/>
        </p:spPr>
        <p:txBody>
          <a:bodyPr wrap="square">
            <a:spAutoFit/>
          </a:bodyPr>
          <a:lstStyle/>
          <a:p>
            <a:pPr>
              <a:spcAft>
                <a:spcPts val="600"/>
              </a:spcAft>
              <a:defRPr sz="1350" b="1">
                <a:solidFill>
                  <a:srgbClr val="D97706"/>
                </a:solidFill>
              </a:defRPr>
            </a:pPr>
            <a:r>
              <a:t>2. Harmattan Dry Season (Nov – Dec)</a:t>
            </a:r>
          </a:p>
          <a:p>
            <a:pPr>
              <a:lnSpc>
                <a:spcPct val="115000"/>
              </a:lnSpc>
              <a:spcAft>
                <a:spcPts val="600"/>
              </a:spcAft>
            </a:pPr>
            <a:r>
              <a:rPr b="1" sz="1200">
                <a:solidFill>
                  <a:srgbClr val="1E3A8A"/>
                </a:solidFill>
                <a:latin typeface="Arial"/>
              </a:rPr>
              <a:t>Meteorological Regime: </a:t>
            </a:r>
            <a:r>
              <a:rPr b="0" sz="1200">
                <a:solidFill>
                  <a:srgbClr val="1A202C"/>
                </a:solidFill>
                <a:latin typeface="Arial"/>
              </a:rPr>
              <a:t>Low relative humidity (22%–55%), heavy Saharan mineral dust plumes.</a:t>
            </a:r>
          </a:p>
          <a:p>
            <a:pPr>
              <a:lnSpc>
                <a:spcPct val="115000"/>
              </a:lnSpc>
              <a:spcAft>
                <a:spcPts val="600"/>
              </a:spcAft>
            </a:pPr>
            <a:r>
              <a:rPr b="1" sz="1200">
                <a:solidFill>
                  <a:srgbClr val="1E3A8A"/>
                </a:solidFill>
                <a:latin typeface="Arial"/>
              </a:rPr>
              <a:t>Holdout Sample Size: </a:t>
            </a:r>
            <a:r>
              <a:rPr b="0" sz="1200">
                <a:solidFill>
                  <a:srgbClr val="1A202C"/>
                </a:solidFill>
                <a:latin typeface="Arial"/>
              </a:rPr>
              <a:t>1,260 continuous hours.</a:t>
            </a:r>
          </a:p>
          <a:p>
            <a:pPr>
              <a:lnSpc>
                <a:spcPct val="115000"/>
              </a:lnSpc>
              <a:spcAft>
                <a:spcPts val="600"/>
              </a:spcAft>
            </a:pPr>
            <a:r>
              <a:rPr b="1" sz="1200">
                <a:solidFill>
                  <a:srgbClr val="1E3A8A"/>
                </a:solidFill>
                <a:latin typeface="Arial"/>
              </a:rPr>
              <a:t>Holdout R² Score: </a:t>
            </a:r>
            <a:r>
              <a:rPr b="0" sz="1200">
                <a:solidFill>
                  <a:srgbClr val="1A202C"/>
                </a:solidFill>
                <a:latin typeface="Arial"/>
              </a:rPr>
              <a:t>0.9548 (Robust adaptation).</a:t>
            </a:r>
          </a:p>
          <a:p>
            <a:pPr>
              <a:lnSpc>
                <a:spcPct val="115000"/>
              </a:lnSpc>
              <a:spcAft>
                <a:spcPts val="600"/>
              </a:spcAft>
            </a:pPr>
            <a:r>
              <a:rPr b="1" sz="1200">
                <a:solidFill>
                  <a:srgbClr val="1E3A8A"/>
                </a:solidFill>
                <a:latin typeface="Arial"/>
              </a:rPr>
              <a:t>MAE &amp; RMSE: </a:t>
            </a:r>
            <a:r>
              <a:rPr b="0" sz="1200">
                <a:solidFill>
                  <a:srgbClr val="1A202C"/>
                </a:solidFill>
                <a:latin typeface="Arial"/>
              </a:rPr>
              <a:t>MAE = 0.73 µg/m³, RMSE = 1.46 µg/m³.</a:t>
            </a:r>
          </a:p>
          <a:p>
            <a:pPr>
              <a:lnSpc>
                <a:spcPct val="115000"/>
              </a:lnSpc>
              <a:spcAft>
                <a:spcPts val="600"/>
              </a:spcAft>
            </a:pPr>
            <a:r>
              <a:rPr b="1" sz="1200">
                <a:solidFill>
                  <a:srgbClr val="1E3A8A"/>
                </a:solidFill>
                <a:latin typeface="Arial"/>
              </a:rPr>
              <a:t>Physical Takeaway: </a:t>
            </a:r>
            <a:r>
              <a:rPr b="0" sz="1200">
                <a:solidFill>
                  <a:srgbClr val="1A202C"/>
                </a:solidFill>
                <a:latin typeface="Arial"/>
              </a:rPr>
              <a:t>Harmattan score indicators prevent over-correcting coarse dry dust as moisture swell.</a:t>
            </a:r>
          </a:p>
        </p:txBody>
      </p:sp>
      <p:sp>
        <p:nvSpPr>
          <p:cNvPr id="11" name="Rounded Rectangle 10"/>
          <p:cNvSpPr/>
          <p:nvPr/>
        </p:nvSpPr>
        <p:spPr>
          <a:xfrm>
            <a:off x="822960" y="5029200"/>
            <a:ext cx="10545775" cy="114300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20640"/>
            <a:ext cx="10149840" cy="960120"/>
          </a:xfrm>
          <a:prstGeom prst="rect">
            <a:avLst/>
          </a:prstGeom>
          <a:noFill/>
        </p:spPr>
        <p:txBody>
          <a:bodyPr wrap="none">
            <a:spAutoFit/>
          </a:bodyPr>
          <a:lstStyle/>
          <a:p>
            <a:pPr>
              <a:defRPr sz="1050" b="1">
                <a:solidFill>
                  <a:srgbClr val="1E3A8A"/>
                </a:solidFill>
              </a:defRPr>
            </a:pPr>
            <a:r>
              <a:t>FULL COMBINED 6-MONTH HOLDOUT HORIZON (3,468 HOURS):</a:t>
            </a:r>
          </a:p>
          <a:p>
            <a:pPr>
              <a:spcBef>
                <a:spcPts val="200"/>
              </a:spcBef>
              <a:defRPr sz="1100">
                <a:solidFill>
                  <a:srgbClr val="1A202C"/>
                </a:solidFill>
              </a:defRPr>
            </a:pPr>
            <a:r>
              <a:t>Combined Holdout R² = 0.9632  •  MAE = 0.61 µg/m³  •  RMSE = 1.23 µg/m³  •  Mean Bias = -0.23 µg/m³</a:t>
            </a:r>
            <a:br/>
            <a:r>
              <a:t>Proves season-agnostic calibration robustness across authentic West African meteorological extremes.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04 | RESULTS</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Statistical Residual Diagnostics &amp; Error Distributions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4_5_residual_histogram.png"/>
          <p:cNvPicPr>
            <a:picLocks noChangeAspect="1"/>
          </p:cNvPicPr>
          <p:nvPr/>
        </p:nvPicPr>
        <p:blipFill>
          <a:blip r:embed="rId2"/>
          <a:stretch>
            <a:fillRect/>
          </a:stretch>
        </p:blipFill>
        <p:spPr>
          <a:xfrm>
            <a:off x="960120" y="1600200"/>
            <a:ext cx="4892040" cy="2935224"/>
          </a:xfrm>
          <a:prstGeom prst="rect">
            <a:avLst/>
          </a:prstGeom>
        </p:spPr>
      </p:pic>
      <p:sp>
        <p:nvSpPr>
          <p:cNvPr id="9" name="TextBox 8"/>
          <p:cNvSpPr txBox="1"/>
          <p:nvPr/>
        </p:nvSpPr>
        <p:spPr>
          <a:xfrm>
            <a:off x="914400" y="5715000"/>
            <a:ext cx="4983480" cy="365760"/>
          </a:xfrm>
          <a:prstGeom prst="rect">
            <a:avLst/>
          </a:prstGeom>
          <a:noFill/>
        </p:spPr>
        <p:txBody>
          <a:bodyPr wrap="none">
            <a:spAutoFit/>
          </a:bodyPr>
          <a:lstStyle/>
          <a:p>
            <a:pPr algn="ctr">
              <a:defRPr sz="950" i="1">
                <a:solidFill>
                  <a:srgbClr val="64748B"/>
                </a:solidFill>
              </a:defRPr>
            </a:pPr>
            <a:r>
              <a:t>Figure 4.5: Residual Histogram &amp; Gaussian Density Fit</a:t>
            </a:r>
          </a:p>
        </p:txBody>
      </p:sp>
      <p:sp>
        <p:nvSpPr>
          <p:cNvPr id="10" name="Rounded Rectangle 9"/>
          <p:cNvSpPr/>
          <p:nvPr/>
        </p:nvSpPr>
        <p:spPr>
          <a:xfrm>
            <a:off x="617220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4_7_homoscedasticity.png"/>
          <p:cNvPicPr>
            <a:picLocks noChangeAspect="1"/>
          </p:cNvPicPr>
          <p:nvPr/>
        </p:nvPicPr>
        <p:blipFill>
          <a:blip r:embed="rId3"/>
          <a:stretch>
            <a:fillRect/>
          </a:stretch>
        </p:blipFill>
        <p:spPr>
          <a:xfrm>
            <a:off x="6309360" y="1600200"/>
            <a:ext cx="4892040" cy="2935224"/>
          </a:xfrm>
          <a:prstGeom prst="rect">
            <a:avLst/>
          </a:prstGeom>
        </p:spPr>
      </p:pic>
      <p:sp>
        <p:nvSpPr>
          <p:cNvPr id="12" name="TextBox 11"/>
          <p:cNvSpPr txBox="1"/>
          <p:nvPr/>
        </p:nvSpPr>
        <p:spPr>
          <a:xfrm>
            <a:off x="6309360" y="5715000"/>
            <a:ext cx="4892040" cy="365760"/>
          </a:xfrm>
          <a:prstGeom prst="rect">
            <a:avLst/>
          </a:prstGeom>
          <a:noFill/>
        </p:spPr>
        <p:txBody>
          <a:bodyPr wrap="none">
            <a:spAutoFit/>
          </a:bodyPr>
          <a:lstStyle/>
          <a:p>
            <a:pPr algn="ctr">
              <a:defRPr sz="950" i="1">
                <a:solidFill>
                  <a:srgbClr val="64748B"/>
                </a:solidFill>
              </a:defRPr>
            </a:pPr>
            <a:r>
              <a:t>Figure 4.7: Homoscedasticity Residual Dispersion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05 | SOFTWARE ENGINEERING</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Operational Cloud Deployment &amp; Software Pipeline</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33375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3063240" cy="4389120"/>
          </a:xfrm>
          <a:prstGeom prst="rect">
            <a:avLst/>
          </a:prstGeom>
          <a:noFill/>
        </p:spPr>
        <p:txBody>
          <a:bodyPr wrap="square">
            <a:spAutoFit/>
          </a:bodyPr>
          <a:lstStyle/>
          <a:p>
            <a:pPr>
              <a:spcAft>
                <a:spcPts val="800"/>
              </a:spcAft>
              <a:defRPr sz="1350" b="1">
                <a:solidFill>
                  <a:srgbClr val="1E3A8A"/>
                </a:solidFill>
              </a:defRPr>
            </a:pPr>
            <a:r>
              <a:t>1. Model Serialization</a:t>
            </a:r>
          </a:p>
          <a:p>
            <a:pPr>
              <a:lnSpc>
                <a:spcPct val="115000"/>
              </a:lnSpc>
              <a:spcAft>
                <a:spcPts val="600"/>
              </a:spcAft>
            </a:pPr>
            <a:r>
              <a:rPr b="1" sz="1200">
                <a:solidFill>
                  <a:srgbClr val="1E3A8A"/>
                </a:solidFill>
                <a:latin typeface="Arial"/>
              </a:rPr>
              <a:t>Compressed Artifact: </a:t>
            </a:r>
            <a:r>
              <a:rPr b="0" sz="1200">
                <a:solidFill>
                  <a:srgbClr val="1A202C"/>
                </a:solidFill>
                <a:latin typeface="Arial"/>
              </a:rPr>
              <a:t>Packaged complete SPIME v4 pipeline into `stacked_physics_meta_ensemble.joblib` (7.8 MB).</a:t>
            </a:r>
          </a:p>
          <a:p>
            <a:pPr>
              <a:lnSpc>
                <a:spcPct val="115000"/>
              </a:lnSpc>
              <a:spcAft>
                <a:spcPts val="600"/>
              </a:spcAft>
            </a:pPr>
            <a:r>
              <a:rPr b="1" sz="1200">
                <a:solidFill>
                  <a:srgbClr val="1E3A8A"/>
                </a:solidFill>
                <a:latin typeface="Arial"/>
              </a:rPr>
              <a:t>Self-Contained: </a:t>
            </a:r>
            <a:r>
              <a:rPr b="0" sz="1200">
                <a:solidFill>
                  <a:srgbClr val="1A202C"/>
                </a:solidFill>
                <a:latin typeface="Arial"/>
              </a:rPr>
              <a:t>Stores feature derivation routines, base model weights, and RidgeCV meta-parameters.</a:t>
            </a:r>
          </a:p>
          <a:p>
            <a:pPr>
              <a:lnSpc>
                <a:spcPct val="115000"/>
              </a:lnSpc>
              <a:spcAft>
                <a:spcPts val="600"/>
              </a:spcAft>
            </a:pPr>
            <a:r>
              <a:rPr b="1" sz="1200">
                <a:solidFill>
                  <a:srgbClr val="1E3A8A"/>
                </a:solidFill>
                <a:latin typeface="Arial"/>
              </a:rPr>
              <a:t>Inference Latency: </a:t>
            </a:r>
            <a:r>
              <a:rPr b="0" sz="1200">
                <a:solidFill>
                  <a:srgbClr val="1A202C"/>
                </a:solidFill>
                <a:latin typeface="Arial"/>
              </a:rPr>
              <a:t>&lt; 15 milliseconds per hourly reading.</a:t>
            </a:r>
          </a:p>
        </p:txBody>
      </p:sp>
      <p:sp>
        <p:nvSpPr>
          <p:cNvPr id="9" name="Rounded Rectangle 8"/>
          <p:cNvSpPr/>
          <p:nvPr/>
        </p:nvSpPr>
        <p:spPr>
          <a:xfrm>
            <a:off x="4425696" y="1463040"/>
            <a:ext cx="33375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645920"/>
            <a:ext cx="3063240" cy="4389120"/>
          </a:xfrm>
          <a:prstGeom prst="rect">
            <a:avLst/>
          </a:prstGeom>
          <a:noFill/>
        </p:spPr>
        <p:txBody>
          <a:bodyPr wrap="square">
            <a:spAutoFit/>
          </a:bodyPr>
          <a:lstStyle/>
          <a:p>
            <a:pPr>
              <a:spcAft>
                <a:spcPts val="800"/>
              </a:spcAft>
              <a:defRPr sz="1350" b="1">
                <a:solidFill>
                  <a:srgbClr val="1E3A8A"/>
                </a:solidFill>
              </a:defRPr>
            </a:pPr>
            <a:r>
              <a:t>2. REST API Ingestion</a:t>
            </a:r>
          </a:p>
          <a:p>
            <a:pPr>
              <a:lnSpc>
                <a:spcPct val="115000"/>
              </a:lnSpc>
              <a:spcAft>
                <a:spcPts val="600"/>
              </a:spcAft>
            </a:pPr>
            <a:r>
              <a:rPr b="1" sz="1200">
                <a:solidFill>
                  <a:srgbClr val="1E3A8A"/>
                </a:solidFill>
                <a:latin typeface="Arial"/>
              </a:rPr>
              <a:t>Automated Backend: </a:t>
            </a:r>
            <a:r>
              <a:rPr b="0" sz="1200">
                <a:solidFill>
                  <a:srgbClr val="1A202C"/>
                </a:solidFill>
                <a:latin typeface="Arial"/>
              </a:rPr>
              <a:t>Integrated into `prepare_backend.py` cloud pipeline at Afri-SET.</a:t>
            </a:r>
          </a:p>
          <a:p>
            <a:pPr>
              <a:lnSpc>
                <a:spcPct val="115000"/>
              </a:lnSpc>
              <a:spcAft>
                <a:spcPts val="600"/>
              </a:spcAft>
            </a:pPr>
            <a:r>
              <a:rPr b="1" sz="1200">
                <a:solidFill>
                  <a:srgbClr val="1E3A8A"/>
                </a:solidFill>
                <a:latin typeface="Arial"/>
              </a:rPr>
              <a:t>Real-time Telemetry: </a:t>
            </a:r>
            <a:r>
              <a:rPr b="0" sz="1200">
                <a:solidFill>
                  <a:srgbClr val="1A202C"/>
                </a:solidFill>
                <a:latin typeface="Arial"/>
              </a:rPr>
              <a:t>Consumes 1-minute telemetry streams from QuantAQ API and aggregates 1-hour blocks.</a:t>
            </a:r>
          </a:p>
          <a:p>
            <a:pPr>
              <a:lnSpc>
                <a:spcPct val="115000"/>
              </a:lnSpc>
              <a:spcAft>
                <a:spcPts val="600"/>
              </a:spcAft>
            </a:pPr>
            <a:r>
              <a:rPr b="1" sz="1200">
                <a:solidFill>
                  <a:srgbClr val="1E3A8A"/>
                </a:solidFill>
                <a:latin typeface="Arial"/>
              </a:rPr>
              <a:t>Dynamic Features: </a:t>
            </a:r>
            <a:r>
              <a:rPr b="0" sz="1200">
                <a:solidFill>
                  <a:srgbClr val="1A202C"/>
                </a:solidFill>
                <a:latin typeface="Arial"/>
              </a:rPr>
              <a:t>Computes 75 physics features on the fly.</a:t>
            </a:r>
          </a:p>
        </p:txBody>
      </p:sp>
      <p:sp>
        <p:nvSpPr>
          <p:cNvPr id="11" name="Rounded Rectangle 10"/>
          <p:cNvSpPr/>
          <p:nvPr/>
        </p:nvSpPr>
        <p:spPr>
          <a:xfrm>
            <a:off x="8028431" y="1463040"/>
            <a:ext cx="33375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65592" y="1645920"/>
            <a:ext cx="3063240" cy="4389120"/>
          </a:xfrm>
          <a:prstGeom prst="rect">
            <a:avLst/>
          </a:prstGeom>
          <a:noFill/>
        </p:spPr>
        <p:txBody>
          <a:bodyPr wrap="square">
            <a:spAutoFit/>
          </a:bodyPr>
          <a:lstStyle/>
          <a:p>
            <a:pPr>
              <a:spcAft>
                <a:spcPts val="800"/>
              </a:spcAft>
              <a:defRPr sz="1350" b="1">
                <a:solidFill>
                  <a:srgbClr val="1E3A8A"/>
                </a:solidFill>
              </a:defRPr>
            </a:pPr>
            <a:r>
              <a:t>3. Public Web Mapping</a:t>
            </a:r>
          </a:p>
          <a:p>
            <a:pPr>
              <a:lnSpc>
                <a:spcPct val="115000"/>
              </a:lnSpc>
              <a:spcAft>
                <a:spcPts val="600"/>
              </a:spcAft>
            </a:pPr>
            <a:r>
              <a:rPr b="1" sz="1200">
                <a:solidFill>
                  <a:srgbClr val="1E3A8A"/>
                </a:solidFill>
                <a:latin typeface="Arial"/>
              </a:rPr>
              <a:t>Afri-SET Web Portal: </a:t>
            </a:r>
            <a:r>
              <a:rPr b="0" sz="1200">
                <a:solidFill>
                  <a:srgbClr val="1A202C"/>
                </a:solidFill>
                <a:latin typeface="Arial"/>
              </a:rPr>
              <a:t>Streams calibrated PM2.5 concentrations to the public air quality map.</a:t>
            </a:r>
          </a:p>
          <a:p>
            <a:pPr>
              <a:lnSpc>
                <a:spcPct val="115000"/>
              </a:lnSpc>
              <a:spcAft>
                <a:spcPts val="600"/>
              </a:spcAft>
            </a:pPr>
            <a:r>
              <a:rPr b="1" sz="1200">
                <a:solidFill>
                  <a:srgbClr val="1E3A8A"/>
                </a:solidFill>
                <a:latin typeface="Arial"/>
              </a:rPr>
              <a:t>Health Advisories: </a:t>
            </a:r>
            <a:r>
              <a:rPr b="0" sz="1200">
                <a:solidFill>
                  <a:srgbClr val="1A202C"/>
                </a:solidFill>
                <a:latin typeface="Arial"/>
              </a:rPr>
              <a:t>Enables automated municipal pollution warnings for Greater Accra.</a:t>
            </a:r>
          </a:p>
          <a:p>
            <a:pPr>
              <a:lnSpc>
                <a:spcPct val="115000"/>
              </a:lnSpc>
              <a:spcAft>
                <a:spcPts val="600"/>
              </a:spcAft>
            </a:pPr>
            <a:r>
              <a:rPr b="1" sz="1200">
                <a:solidFill>
                  <a:srgbClr val="1E3A8A"/>
                </a:solidFill>
                <a:latin typeface="Arial"/>
              </a:rPr>
              <a:t>Open Science: </a:t>
            </a:r>
            <a:r>
              <a:rPr b="0" sz="1200">
                <a:solidFill>
                  <a:srgbClr val="1A202C"/>
                </a:solidFill>
                <a:latin typeface="Arial"/>
              </a:rPr>
              <a:t>Codebase, models, and scripts open-sourced for regional replication.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06 | IMPACT &amp; CONTRIBUTIONS</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Summary of Research Contributions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10545775"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72768"/>
            <a:ext cx="10149840" cy="822960"/>
          </a:xfrm>
          <a:prstGeom prst="rect">
            <a:avLst/>
          </a:prstGeom>
          <a:noFill/>
        </p:spPr>
        <p:txBody>
          <a:bodyPr wrap="square">
            <a:spAutoFit/>
          </a:bodyPr>
          <a:lstStyle/>
          <a:p>
            <a:r>
              <a:rPr b="1" sz="1150">
                <a:solidFill>
                  <a:srgbClr val="1E3A8A"/>
                </a:solidFill>
              </a:rPr>
              <a:t>01  |  </a:t>
            </a:r>
            <a:r>
              <a:rPr b="1" sz="1200">
                <a:solidFill>
                  <a:srgbClr val="1A202C"/>
                </a:solidFill>
              </a:rPr>
              <a:t>First Integration of Multi-Gamma Köhler Physics in SSA</a:t>
            </a:r>
          </a:p>
          <a:p>
            <a:pPr>
              <a:spcBef>
                <a:spcPts val="300"/>
              </a:spcBef>
              <a:defRPr sz="1050">
                <a:solidFill>
                  <a:srgbClr val="64748B"/>
                </a:solidFill>
              </a:defRPr>
            </a:pPr>
            <a:r>
              <a:t>Formulated 8 continuous hygroscopic growth models f(RH,γ) tailored to tropical aerosol chemistries, eliminating crude humidity splits.</a:t>
            </a:r>
          </a:p>
        </p:txBody>
      </p:sp>
      <p:sp>
        <p:nvSpPr>
          <p:cNvPr id="9" name="Rounded Rectangle 8"/>
          <p:cNvSpPr/>
          <p:nvPr/>
        </p:nvSpPr>
        <p:spPr>
          <a:xfrm>
            <a:off x="822960" y="2651760"/>
            <a:ext cx="10545775"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761488"/>
            <a:ext cx="10149840" cy="822960"/>
          </a:xfrm>
          <a:prstGeom prst="rect">
            <a:avLst/>
          </a:prstGeom>
          <a:noFill/>
        </p:spPr>
        <p:txBody>
          <a:bodyPr wrap="square">
            <a:spAutoFit/>
          </a:bodyPr>
          <a:lstStyle/>
          <a:p>
            <a:r>
              <a:rPr b="1" sz="1150">
                <a:solidFill>
                  <a:srgbClr val="1E3A8A"/>
                </a:solidFill>
              </a:rPr>
              <a:t>02  |  </a:t>
            </a:r>
            <a:r>
              <a:rPr b="1" sz="1200">
                <a:solidFill>
                  <a:srgbClr val="1A202C"/>
                </a:solidFill>
              </a:rPr>
              <a:t>Zero-Overfitting Stacked Meta-Ensemble Architecture</a:t>
            </a:r>
          </a:p>
          <a:p>
            <a:pPr>
              <a:spcBef>
                <a:spcPts val="300"/>
              </a:spcBef>
              <a:defRPr sz="1050">
                <a:solidFill>
                  <a:srgbClr val="64748B"/>
                </a:solidFill>
              </a:defRPr>
            </a:pPr>
            <a:r>
              <a:t>Demonstrated that 5-Fold out-of-fold cross-validated stacking completely prevents meta-learner data leakage on autocorrelated time series (Overfit Gap: -0.0002).</a:t>
            </a:r>
          </a:p>
        </p:txBody>
      </p:sp>
      <p:sp>
        <p:nvSpPr>
          <p:cNvPr id="11" name="Rounded Rectangle 10"/>
          <p:cNvSpPr/>
          <p:nvPr/>
        </p:nvSpPr>
        <p:spPr>
          <a:xfrm>
            <a:off x="822960" y="3840480"/>
            <a:ext cx="10545775"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50208"/>
            <a:ext cx="10149840" cy="822960"/>
          </a:xfrm>
          <a:prstGeom prst="rect">
            <a:avLst/>
          </a:prstGeom>
          <a:noFill/>
        </p:spPr>
        <p:txBody>
          <a:bodyPr wrap="square">
            <a:spAutoFit/>
          </a:bodyPr>
          <a:lstStyle/>
          <a:p>
            <a:r>
              <a:rPr b="1" sz="1150">
                <a:solidFill>
                  <a:srgbClr val="1E3A8A"/>
                </a:solidFill>
              </a:rPr>
              <a:t>03  |  </a:t>
            </a:r>
            <a:r>
              <a:rPr b="1" sz="1200">
                <a:solidFill>
                  <a:srgbClr val="1A202C"/>
                </a:solidFill>
              </a:rPr>
              <a:t>Harmattan Dust Incursion Adaptation Algorithms</a:t>
            </a:r>
          </a:p>
          <a:p>
            <a:pPr>
              <a:spcBef>
                <a:spcPts val="300"/>
              </a:spcBef>
              <a:defRPr sz="1050">
                <a:solidFill>
                  <a:srgbClr val="64748B"/>
                </a:solidFill>
              </a:defRPr>
            </a:pPr>
            <a:r>
              <a:t>Introduced season-aware dust indicators that decouple dry Saharan mineral aerosols from moisture swell, ensuring robust cross-seasonal accuracy.</a:t>
            </a:r>
          </a:p>
        </p:txBody>
      </p:sp>
      <p:sp>
        <p:nvSpPr>
          <p:cNvPr id="13" name="Rounded Rectangle 12"/>
          <p:cNvSpPr/>
          <p:nvPr/>
        </p:nvSpPr>
        <p:spPr>
          <a:xfrm>
            <a:off x="822960" y="5029200"/>
            <a:ext cx="10545775"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138928"/>
            <a:ext cx="10149840" cy="822960"/>
          </a:xfrm>
          <a:prstGeom prst="rect">
            <a:avLst/>
          </a:prstGeom>
          <a:noFill/>
        </p:spPr>
        <p:txBody>
          <a:bodyPr wrap="square">
            <a:spAutoFit/>
          </a:bodyPr>
          <a:lstStyle/>
          <a:p>
            <a:r>
              <a:rPr b="1" sz="1150">
                <a:solidFill>
                  <a:srgbClr val="1E3A8A"/>
                </a:solidFill>
              </a:rPr>
              <a:t>04  |  </a:t>
            </a:r>
            <a:r>
              <a:rPr b="1" sz="1200">
                <a:solidFill>
                  <a:srgbClr val="1A202C"/>
                </a:solidFill>
              </a:rPr>
              <a:t>Fully Operational, Deployable Cloud Pipeline for Afri-SET</a:t>
            </a:r>
          </a:p>
          <a:p>
            <a:pPr>
              <a:spcBef>
                <a:spcPts val="300"/>
              </a:spcBef>
              <a:defRPr sz="1050">
                <a:solidFill>
                  <a:srgbClr val="64748B"/>
                </a:solidFill>
              </a:defRPr>
            </a:pPr>
            <a:r>
              <a:t>Delivered an open-source, production-ready calibration backend for real-time municipal air quality surveillance in Accra.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06 | LIMITATIONS &amp; FUTURE WORK</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Study Limitations &amp; Future Research Directions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800600" cy="4389120"/>
          </a:xfrm>
          <a:prstGeom prst="rect">
            <a:avLst/>
          </a:prstGeom>
          <a:noFill/>
        </p:spPr>
        <p:txBody>
          <a:bodyPr wrap="square">
            <a:spAutoFit/>
          </a:bodyPr>
          <a:lstStyle/>
          <a:p>
            <a:pPr>
              <a:spcAft>
                <a:spcPts val="800"/>
              </a:spcAft>
              <a:defRPr sz="1400" b="1">
                <a:solidFill>
                  <a:srgbClr val="1E3A8A"/>
                </a:solidFill>
              </a:defRPr>
            </a:pPr>
            <a:r>
              <a:t>Study Limitations</a:t>
            </a:r>
          </a:p>
          <a:p>
            <a:pPr>
              <a:lnSpc>
                <a:spcPct val="115000"/>
              </a:lnSpc>
              <a:spcAft>
                <a:spcPts val="600"/>
              </a:spcAft>
            </a:pPr>
            <a:r>
              <a:rPr b="1" sz="1200">
                <a:solidFill>
                  <a:srgbClr val="1E3A8A"/>
                </a:solidFill>
                <a:latin typeface="Arial"/>
              </a:rPr>
              <a:t>1. Single Co-location Node: </a:t>
            </a:r>
            <a:r>
              <a:rPr b="0" sz="1200">
                <a:solidFill>
                  <a:srgbClr val="1A202C"/>
                </a:solidFill>
                <a:latin typeface="Arial"/>
              </a:rPr>
              <a:t>Data was collected exclusively at the University of Ghana, Legon campus. Spatial transferability across distinct micro-environments (e.g. roadside traffic, industrial zones) requires verification.</a:t>
            </a:r>
          </a:p>
          <a:p>
            <a:pPr>
              <a:lnSpc>
                <a:spcPct val="115000"/>
              </a:lnSpc>
              <a:spcAft>
                <a:spcPts val="600"/>
              </a:spcAft>
            </a:pPr>
            <a:r>
              <a:rPr b="1" sz="1200">
                <a:solidFill>
                  <a:srgbClr val="1E3A8A"/>
                </a:solidFill>
                <a:latin typeface="Arial"/>
              </a:rPr>
              <a:t>2. PM2.5 Focus: </a:t>
            </a:r>
            <a:r>
              <a:rPr b="0" sz="1200">
                <a:solidFill>
                  <a:srgbClr val="1A202C"/>
                </a:solidFill>
                <a:latin typeface="Arial"/>
              </a:rPr>
              <a:t>Research focused on fine particulate matter; coarse PM10 and gaseous pollutants (NO2, O3, CO) were outside the primary scope.</a:t>
            </a:r>
          </a:p>
          <a:p>
            <a:pPr>
              <a:lnSpc>
                <a:spcPct val="115000"/>
              </a:lnSpc>
              <a:spcAft>
                <a:spcPts val="600"/>
              </a:spcAft>
            </a:pPr>
            <a:r>
              <a:rPr b="1" sz="1200">
                <a:solidFill>
                  <a:srgbClr val="1E3A8A"/>
                </a:solidFill>
                <a:latin typeface="Arial"/>
              </a:rPr>
              <a:t>3. Multi-Year Optical Aging: </a:t>
            </a:r>
            <a:r>
              <a:rPr b="0" sz="1200">
                <a:solidFill>
                  <a:srgbClr val="1A202C"/>
                </a:solidFill>
                <a:latin typeface="Arial"/>
              </a:rPr>
              <a:t>Photodiode sensitivity and sampling fans degrade over multi-year deployments, necessitating annual recalibration schedules.</a:t>
            </a:r>
          </a:p>
        </p:txBody>
      </p:sp>
      <p:sp>
        <p:nvSpPr>
          <p:cNvPr id="9" name="Rounded Rectangle 8"/>
          <p:cNvSpPr/>
          <p:nvPr/>
        </p:nvSpPr>
        <p:spPr>
          <a:xfrm>
            <a:off x="6172200" y="1463040"/>
            <a:ext cx="5166360" cy="4709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45920"/>
            <a:ext cx="4800600" cy="4389120"/>
          </a:xfrm>
          <a:prstGeom prst="rect">
            <a:avLst/>
          </a:prstGeom>
          <a:noFill/>
        </p:spPr>
        <p:txBody>
          <a:bodyPr wrap="square">
            <a:spAutoFit/>
          </a:bodyPr>
          <a:lstStyle/>
          <a:p>
            <a:pPr>
              <a:spcAft>
                <a:spcPts val="800"/>
              </a:spcAft>
              <a:defRPr sz="1400" b="1">
                <a:solidFill>
                  <a:srgbClr val="1E3A8A"/>
                </a:solidFill>
              </a:defRPr>
            </a:pPr>
            <a:r>
              <a:t>Future Research Directions</a:t>
            </a:r>
          </a:p>
          <a:p>
            <a:pPr>
              <a:lnSpc>
                <a:spcPct val="115000"/>
              </a:lnSpc>
              <a:spcAft>
                <a:spcPts val="600"/>
              </a:spcAft>
            </a:pPr>
            <a:r>
              <a:rPr b="1" sz="1200">
                <a:solidFill>
                  <a:srgbClr val="1E3A8A"/>
                </a:solidFill>
                <a:latin typeface="Arial"/>
              </a:rPr>
              <a:t>1. Multi-City Spatial Transferability: </a:t>
            </a:r>
            <a:r>
              <a:rPr b="0" sz="1200">
                <a:solidFill>
                  <a:srgbClr val="1A202C"/>
                </a:solidFill>
                <a:latin typeface="Arial"/>
              </a:rPr>
              <a:t>Evaluating SPIME across secondary sensor nodes in Greater Accra, Kumasi, and Nairobi to benchmark cross-city spatial transfer.</a:t>
            </a:r>
          </a:p>
          <a:p>
            <a:pPr>
              <a:lnSpc>
                <a:spcPct val="115000"/>
              </a:lnSpc>
              <a:spcAft>
                <a:spcPts val="600"/>
              </a:spcAft>
            </a:pPr>
            <a:r>
              <a:rPr b="1" sz="1200">
                <a:solidFill>
                  <a:srgbClr val="1E3A8A"/>
                </a:solidFill>
                <a:latin typeface="Arial"/>
              </a:rPr>
              <a:t>2. Few-Shot Transfer Learning: </a:t>
            </a:r>
            <a:r>
              <a:rPr b="0" sz="1200">
                <a:solidFill>
                  <a:srgbClr val="1A202C"/>
                </a:solidFill>
                <a:latin typeface="Arial"/>
              </a:rPr>
              <a:t>Fine-tuning pre-trained SPIME weights for newly unboxed sensors using brief 1-week co-location periods.</a:t>
            </a:r>
          </a:p>
          <a:p>
            <a:pPr>
              <a:lnSpc>
                <a:spcPct val="115000"/>
              </a:lnSpc>
              <a:spcAft>
                <a:spcPts val="600"/>
              </a:spcAft>
            </a:pPr>
            <a:r>
              <a:rPr b="1" sz="1200">
                <a:solidFill>
                  <a:srgbClr val="1E3A8A"/>
                </a:solidFill>
                <a:latin typeface="Arial"/>
              </a:rPr>
              <a:t>3. Citizen Science Mobile Apps: </a:t>
            </a:r>
            <a:r>
              <a:rPr b="0" sz="1200">
                <a:solidFill>
                  <a:srgbClr val="1A202C"/>
                </a:solidFill>
                <a:latin typeface="Arial"/>
              </a:rPr>
              <a:t>Deploying calibrated outputs to citizen mobile dashboards with real-time push alerts for vulnerable respiratory populations.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274320"/>
          </a:xfrm>
          <a:prstGeom prst="rect">
            <a:avLst/>
          </a:prstGeom>
          <a:noFill/>
        </p:spPr>
        <p:txBody>
          <a:bodyPr wrap="none">
            <a:spAutoFit/>
          </a:bodyPr>
          <a:lstStyle/>
          <a:p>
            <a:pPr>
              <a:defRPr sz="950" b="1">
                <a:solidFill>
                  <a:srgbClr val="1E3A8A"/>
                </a:solidFill>
                <a:latin typeface="Arial"/>
              </a:defRPr>
            </a:pPr>
            <a:r>
              <a:t>07 | CONCLUSION</a:t>
            </a:r>
          </a:p>
        </p:txBody>
      </p:sp>
      <p:sp>
        <p:nvSpPr>
          <p:cNvPr id="4" name="TextBox 3"/>
          <p:cNvSpPr txBox="1"/>
          <p:nvPr/>
        </p:nvSpPr>
        <p:spPr>
          <a:xfrm>
            <a:off x="822960" y="621792"/>
            <a:ext cx="10515600" cy="594360"/>
          </a:xfrm>
          <a:prstGeom prst="rect">
            <a:avLst/>
          </a:prstGeom>
          <a:noFill/>
        </p:spPr>
        <p:txBody>
          <a:bodyPr wrap="square">
            <a:spAutoFit/>
          </a:bodyPr>
          <a:lstStyle/>
          <a:p>
            <a:pPr>
              <a:defRPr sz="2000" b="1">
                <a:solidFill>
                  <a:srgbClr val="1A202C"/>
                </a:solidFill>
                <a:latin typeface="Arial"/>
              </a:defRPr>
            </a:pPr>
            <a:r>
              <a:t>Conclusion &amp; Final Takeaways</a:t>
            </a:r>
          </a:p>
        </p:txBody>
      </p:sp>
      <p:sp>
        <p:nvSpPr>
          <p:cNvPr id="5" name="Rectangle 4"/>
          <p:cNvSpPr/>
          <p:nvPr/>
        </p:nvSpPr>
        <p:spPr>
          <a:xfrm>
            <a:off x="822960" y="1234440"/>
            <a:ext cx="1054577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46520"/>
            <a:ext cx="10545775" cy="274320"/>
          </a:xfrm>
          <a:prstGeom prst="rect">
            <a:avLst/>
          </a:prstGeom>
          <a:noFill/>
        </p:spPr>
        <p:txBody>
          <a:bodyPr wrap="none">
            <a:spAutoFit/>
          </a:bodyPr>
          <a:lstStyle/>
          <a:p>
            <a:pPr>
              <a:defRPr sz="850">
                <a:solidFill>
                  <a:srgbClr val="64748B"/>
                </a:solidFill>
                <a:latin typeface="Arial"/>
              </a:defRPr>
            </a:pPr>
            <a:r>
              <a:t>Neal Allison Hughes (11178252)  •  B.Sc. Computer Science Thesis Defense  •  University of Ghana, Legon</a:t>
            </a:r>
          </a:p>
        </p:txBody>
      </p:sp>
      <p:sp>
        <p:nvSpPr>
          <p:cNvPr id="7" name="Rounded Rectangle 6"/>
          <p:cNvSpPr/>
          <p:nvPr/>
        </p:nvSpPr>
        <p:spPr>
          <a:xfrm>
            <a:off x="822960" y="1463040"/>
            <a:ext cx="10545775" cy="470916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45920"/>
            <a:ext cx="9966960" cy="4297680"/>
          </a:xfrm>
          <a:prstGeom prst="rect">
            <a:avLst/>
          </a:prstGeom>
          <a:noFill/>
        </p:spPr>
        <p:txBody>
          <a:bodyPr wrap="square">
            <a:spAutoFit/>
          </a:bodyPr>
          <a:lstStyle/>
          <a:p>
            <a:pPr>
              <a:spcAft>
                <a:spcPts val="1200"/>
              </a:spcAft>
              <a:defRPr sz="1400" b="1">
                <a:solidFill>
                  <a:srgbClr val="1E3A8A"/>
                </a:solidFill>
              </a:defRPr>
            </a:pPr>
            <a:r>
              <a:t>BRIDGING THE $30,000 HARDWARE BARRIER IN AFRICAN AIR QUALITY MONITORING</a:t>
            </a:r>
          </a:p>
          <a:p>
            <a:pPr>
              <a:lnSpc>
                <a:spcPct val="115000"/>
              </a:lnSpc>
              <a:spcAft>
                <a:spcPts val="1000"/>
              </a:spcAft>
            </a:pPr>
            <a:r>
              <a:rPr b="1" sz="1250">
                <a:solidFill>
                  <a:srgbClr val="1E3A8A"/>
                </a:solidFill>
                <a:latin typeface="Arial"/>
              </a:rPr>
              <a:t>1. Regulatory Reference Fidelity: </a:t>
            </a:r>
            <a:r>
              <a:rPr b="0" sz="1250">
                <a:solidFill>
                  <a:srgbClr val="1A202C"/>
                </a:solidFill>
                <a:latin typeface="Arial"/>
              </a:rPr>
              <a:t>SPIME v4 transforms low-cost $2,000 optical sensors into reference-grade monitors (Holdout R² = 0.9632, MAE = 0.61 µg/m³).</a:t>
            </a:r>
          </a:p>
          <a:p>
            <a:pPr>
              <a:lnSpc>
                <a:spcPct val="115000"/>
              </a:lnSpc>
              <a:spcAft>
                <a:spcPts val="1000"/>
              </a:spcAft>
            </a:pPr>
            <a:r>
              <a:rPr b="1" sz="1250">
                <a:solidFill>
                  <a:srgbClr val="1E3A8A"/>
                </a:solidFill>
                <a:latin typeface="Arial"/>
              </a:rPr>
              <a:t>2. Overfitting Completely Eliminated: </a:t>
            </a:r>
            <a:r>
              <a:rPr b="0" sz="1250">
                <a:solidFill>
                  <a:srgbClr val="1A202C"/>
                </a:solidFill>
                <a:latin typeface="Arial"/>
              </a:rPr>
              <a:t>5-Fold out-of-fold stacking resolves the temporal data leakage crisis, achieving an overfit gap of -0.0002.</a:t>
            </a:r>
          </a:p>
          <a:p>
            <a:pPr>
              <a:lnSpc>
                <a:spcPct val="115000"/>
              </a:lnSpc>
              <a:spcAft>
                <a:spcPts val="1000"/>
              </a:spcAft>
            </a:pPr>
            <a:r>
              <a:rPr b="1" sz="1250">
                <a:solidFill>
                  <a:srgbClr val="1E3A8A"/>
                </a:solidFill>
                <a:latin typeface="Arial"/>
              </a:rPr>
              <a:t>3. Multi-Season Robustness: </a:t>
            </a:r>
            <a:r>
              <a:rPr b="0" sz="1250">
                <a:solidFill>
                  <a:srgbClr val="1A202C"/>
                </a:solidFill>
                <a:latin typeface="Arial"/>
              </a:rPr>
              <a:t>Maintains peak accuracy across wet monsoon humidity surges (R² = 0.9684) and Saharan Harmattan dust storms (R² = 0.9548).</a:t>
            </a:r>
          </a:p>
          <a:p>
            <a:pPr>
              <a:lnSpc>
                <a:spcPct val="115000"/>
              </a:lnSpc>
              <a:spcAft>
                <a:spcPts val="1000"/>
              </a:spcAft>
            </a:pPr>
            <a:r>
              <a:rPr b="1" sz="1250">
                <a:solidFill>
                  <a:srgbClr val="1E3A8A"/>
                </a:solidFill>
                <a:latin typeface="Arial"/>
              </a:rPr>
              <a:t>4. Real-World Societal Impact: </a:t>
            </a:r>
            <a:r>
              <a:rPr b="0" sz="1250">
                <a:solidFill>
                  <a:srgbClr val="1A202C"/>
                </a:solidFill>
                <a:latin typeface="Arial"/>
              </a:rPr>
              <a:t>Provides environmental agencies and municipal planners across Sub-Saharan Africa with an accurate, scalable, and cost-effective air quality monitoring framework.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1371600"/>
          </a:xfrm>
          <a:prstGeom prst="rect">
            <a:avLst/>
          </a:prstGeom>
          <a:noFill/>
        </p:spPr>
        <p:txBody>
          <a:bodyPr wrap="none">
            <a:spAutoFit/>
          </a:bodyPr>
          <a:lstStyle/>
          <a:p>
            <a:pPr algn="ctr">
              <a:defRPr sz="2800" b="1">
                <a:solidFill>
                  <a:srgbClr val="1E3A8A"/>
                </a:solidFill>
                <a:latin typeface="Arial"/>
              </a:defRPr>
            </a:pPr>
            <a:r>
              <a:t>Thank You For Your Attention</a:t>
            </a:r>
          </a:p>
          <a:p>
            <a:pPr algn="ctr">
              <a:spcBef>
                <a:spcPts val="600"/>
              </a:spcBef>
              <a:defRPr sz="1600" b="1">
                <a:solidFill>
                  <a:srgbClr val="64748B"/>
                </a:solidFill>
                <a:latin typeface="Arial"/>
              </a:defRPr>
            </a:pPr>
            <a:r>
              <a:t>Questions, Comments &amp; Committee Discussion</a:t>
            </a:r>
          </a:p>
        </p:txBody>
      </p:sp>
      <p:sp>
        <p:nvSpPr>
          <p:cNvPr id="4" name="Rounded Rectangle 3"/>
          <p:cNvSpPr/>
          <p:nvPr/>
        </p:nvSpPr>
        <p:spPr>
          <a:xfrm>
            <a:off x="2286000" y="3383280"/>
            <a:ext cx="761969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0" y="3566160"/>
            <a:ext cx="7223760" cy="1920240"/>
          </a:xfrm>
          <a:prstGeom prst="rect">
            <a:avLst/>
          </a:prstGeom>
          <a:noFill/>
        </p:spPr>
        <p:txBody>
          <a:bodyPr wrap="square">
            <a:spAutoFit/>
          </a:bodyPr>
          <a:lstStyle/>
          <a:p>
            <a:pPr algn="ctr">
              <a:spcAft>
                <a:spcPts val="600"/>
              </a:spcAft>
              <a:defRPr sz="1050" b="1">
                <a:solidFill>
                  <a:srgbClr val="1E3A8A"/>
                </a:solidFill>
                <a:latin typeface="Arial"/>
              </a:defRPr>
            </a:pPr>
            <a:r>
              <a:t>ACKNOWLEDGMENTS &amp; CONTACT</a:t>
            </a:r>
          </a:p>
          <a:p>
            <a:pPr algn="ctr">
              <a:defRPr sz="1100">
                <a:solidFill>
                  <a:srgbClr val="1A202C"/>
                </a:solidFill>
              </a:defRPr>
            </a:pPr>
            <a:r>
              <a:t>Supervisor: Professor Isaac Wiafe  |  Department of Computer Science, University of Ghana</a:t>
            </a:r>
          </a:p>
          <a:p>
            <a:pPr algn="ctr">
              <a:spcBef>
                <a:spcPts val="300"/>
              </a:spcBef>
              <a:defRPr sz="1050">
                <a:solidFill>
                  <a:srgbClr val="64748B"/>
                </a:solidFill>
              </a:defRPr>
            </a:pPr>
            <a:r>
              <a:t>Testing Hub: African Clean Air Technology Centre (Afri-SET), Department of Physics</a:t>
            </a:r>
          </a:p>
          <a:p>
            <a:pPr algn="ctr">
              <a:spcBef>
                <a:spcPts val="300"/>
              </a:spcBef>
              <a:defRPr sz="1150" b="1">
                <a:solidFill>
                  <a:srgbClr val="1E3A8A"/>
                </a:solidFill>
              </a:defRPr>
            </a:pPr>
            <a:r>
              <a:t>Presenter: Neal Allison Hughes  (Student ID: 11178252)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