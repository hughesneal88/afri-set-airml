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
  </p:notesMasterIdLst>
  <p:sldIdLst>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7CA5DE-5554-433E-998B-5706BBA3DDB9}" type="datetimeFigureOut">
              <a:rPr lang="en-US" smtClean="0"/>
              <a:t>9/15/2025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B57E44-CA01-48B4-9714-7B5CDB51CDA6}" type="slidenum">
              <a:rPr lang="en-US" smtClean="0"/>
              <a:t>‹#›</a:t>
            </a:fld>
            <a:endParaRPr lang="en-US"/>
          </a:p>
        </p:txBody>
      </p:sp>
    </p:spTree>
    <p:extLst>
      <p:ext uri="{BB962C8B-B14F-4D97-AF65-F5344CB8AC3E}">
        <p14:creationId xmlns:p14="http://schemas.microsoft.com/office/powerpoint/2010/main" val="1707738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D7EC2-E5D8-F742-1B67-054FF0866F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A00BB6-1739-C6B5-9716-28AB89FF2D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92B4C73-ACB3-7C9F-7EA5-2938A0344044}"/>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5" name="Footer Placeholder 4">
            <a:extLst>
              <a:ext uri="{FF2B5EF4-FFF2-40B4-BE49-F238E27FC236}">
                <a16:creationId xmlns:a16="http://schemas.microsoft.com/office/drawing/2014/main" id="{5912DAEB-3F38-A327-9E2B-F5B42236E7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D2C4D2-F373-1FDD-0C14-B0A5EE67898B}"/>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320258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58BDB-9BFB-33BD-36E2-CB774FA507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0EBEC1-929D-A242-6F90-1148AB735D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7C69D1-F584-0904-FC78-1845E1CE9CB1}"/>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5" name="Footer Placeholder 4">
            <a:extLst>
              <a:ext uri="{FF2B5EF4-FFF2-40B4-BE49-F238E27FC236}">
                <a16:creationId xmlns:a16="http://schemas.microsoft.com/office/drawing/2014/main" id="{C06E6342-5ECF-1C98-5658-39498D805F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2FAC61-7EF5-A0A9-7407-77FCBC604580}"/>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653090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3C68F-4357-6C0B-EFF4-6056CFE027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7434F9-9472-5E2E-37A2-1C668D4EE77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65E404-4C0A-77ED-B4F0-F150408E2701}"/>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5" name="Footer Placeholder 4">
            <a:extLst>
              <a:ext uri="{FF2B5EF4-FFF2-40B4-BE49-F238E27FC236}">
                <a16:creationId xmlns:a16="http://schemas.microsoft.com/office/drawing/2014/main" id="{CC47E8BC-3C9D-288D-A877-4B49F26D41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304336-DB89-C939-F991-F3B56B48D96C}"/>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988383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DE173-84FE-131A-FDEC-10EB764DA2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9AD527-C4A0-467A-A074-20997F2F9B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E8166C-5D25-2F7A-68E2-89811F37E2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FA11F9-6FE3-AE70-BB60-74D68595EF93}"/>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6" name="Footer Placeholder 5">
            <a:extLst>
              <a:ext uri="{FF2B5EF4-FFF2-40B4-BE49-F238E27FC236}">
                <a16:creationId xmlns:a16="http://schemas.microsoft.com/office/drawing/2014/main" id="{4BDC4B88-4529-9622-3DFF-0A9E8F047F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149887-301D-192D-6E4E-0B5CD9F58651}"/>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3610742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8185E-3938-13F4-071F-9C47FBD6098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5328229-9E26-4A8D-CE13-5195A4F3BE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04DE16-D620-E567-A074-2B6A54D885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A6B1B9-8555-7B1C-2D30-CA652A2818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0F61AE-EC15-64C2-A098-EC225FEFBF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92DFBB5-D787-915A-9095-24B00FA2AC94}"/>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8" name="Footer Placeholder 7">
            <a:extLst>
              <a:ext uri="{FF2B5EF4-FFF2-40B4-BE49-F238E27FC236}">
                <a16:creationId xmlns:a16="http://schemas.microsoft.com/office/drawing/2014/main" id="{F711DC54-8C33-C55A-F365-B3AC72A6BA0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5363D3E-D67B-702D-ADA5-2F2C9111BF9F}"/>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961651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C649D-C7B1-FC2E-BE2E-20E16B49B25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6BDD17-2483-9991-3C02-F104B65F2F73}"/>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4" name="Footer Placeholder 3">
            <a:extLst>
              <a:ext uri="{FF2B5EF4-FFF2-40B4-BE49-F238E27FC236}">
                <a16:creationId xmlns:a16="http://schemas.microsoft.com/office/drawing/2014/main" id="{9D1C0FB9-E42D-9741-BA7C-C811901B70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A55081D-BB5A-9B2F-8F12-4376917E0894}"/>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2649400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16FCAA-D61A-19AA-2CFD-EDCFFE232B38}"/>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3" name="Footer Placeholder 2">
            <a:extLst>
              <a:ext uri="{FF2B5EF4-FFF2-40B4-BE49-F238E27FC236}">
                <a16:creationId xmlns:a16="http://schemas.microsoft.com/office/drawing/2014/main" id="{CDD15071-F236-77A8-4671-2C96684897F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83CB8E-1A45-9FF7-122B-46108F80B893}"/>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971559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57F21-6BEA-4D7A-A020-D2D73BA2D3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F6C2EB-2067-EDE8-6730-13C6866263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9A68C07-B368-9A92-7D94-899AA230A9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1C4715-8548-B8CD-E46B-32F52F97AC6B}"/>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6" name="Footer Placeholder 5">
            <a:extLst>
              <a:ext uri="{FF2B5EF4-FFF2-40B4-BE49-F238E27FC236}">
                <a16:creationId xmlns:a16="http://schemas.microsoft.com/office/drawing/2014/main" id="{D94805EB-68F0-0925-B5E2-992A26ACDC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78064D-3984-66E1-79F6-BF412DE9007B}"/>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23878899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E40A8-7CE6-6E2F-987D-F9931444B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9A3B3C-B1CD-FC66-30C0-066CC8711E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7130723-2359-C212-1784-4C60E5DC26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86E1BF-418B-5A5E-B8CE-971EBA46EBA1}"/>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6" name="Footer Placeholder 5">
            <a:extLst>
              <a:ext uri="{FF2B5EF4-FFF2-40B4-BE49-F238E27FC236}">
                <a16:creationId xmlns:a16="http://schemas.microsoft.com/office/drawing/2014/main" id="{0D858B19-C047-7376-4094-335A262B87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E3E811-B1A3-3062-66D6-3B924C39DCF1}"/>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22140510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E613B-3E08-B9D4-3543-2765320040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4B8505-E673-B14D-57BC-B609C294E3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ED7D8F-1AC7-0420-F070-FDFD3C35B784}"/>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5" name="Footer Placeholder 4">
            <a:extLst>
              <a:ext uri="{FF2B5EF4-FFF2-40B4-BE49-F238E27FC236}">
                <a16:creationId xmlns:a16="http://schemas.microsoft.com/office/drawing/2014/main" id="{3692FD22-A5B5-C5E8-19C9-E29BD895B0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2D55BE-B31F-9976-5801-16A4491DC193}"/>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802274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714E13-7DDD-7B01-B532-2B2A88B6633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B1CBB8E-647A-192C-E328-241E73841B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BDFD78-3A20-22DE-6D4C-9A66BC0078A4}"/>
              </a:ext>
            </a:extLst>
          </p:cNvPr>
          <p:cNvSpPr>
            <a:spLocks noGrp="1"/>
          </p:cNvSpPr>
          <p:nvPr>
            <p:ph type="dt" sz="half" idx="10"/>
          </p:nvPr>
        </p:nvSpPr>
        <p:spPr/>
        <p:txBody>
          <a:bodyPr/>
          <a:lstStyle/>
          <a:p>
            <a:fld id="{F10901DB-E840-4150-8207-866BDD25D22F}" type="datetimeFigureOut">
              <a:rPr lang="en-US" smtClean="0"/>
              <a:t>9/15/2025</a:t>
            </a:fld>
            <a:endParaRPr lang="en-US"/>
          </a:p>
        </p:txBody>
      </p:sp>
      <p:sp>
        <p:nvSpPr>
          <p:cNvPr id="5" name="Footer Placeholder 4">
            <a:extLst>
              <a:ext uri="{FF2B5EF4-FFF2-40B4-BE49-F238E27FC236}">
                <a16:creationId xmlns:a16="http://schemas.microsoft.com/office/drawing/2014/main" id="{639FA80B-D752-6CA7-C60B-AAF3A51B52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C1C125-E0EA-8BB4-A43E-4E1CCF0CDD89}"/>
              </a:ext>
            </a:extLst>
          </p:cNvPr>
          <p:cNvSpPr>
            <a:spLocks noGrp="1"/>
          </p:cNvSpPr>
          <p:nvPr>
            <p:ph type="sldNum" sz="quarter" idx="12"/>
          </p:nvPr>
        </p:nvSpPr>
        <p:spPr/>
        <p:txBody>
          <a:bodyPr/>
          <a:lstStyle/>
          <a:p>
            <a:fld id="{C41024BC-5968-4735-8D30-B72DEF6BE683}" type="slidenum">
              <a:rPr lang="en-US" smtClean="0"/>
              <a:t>‹#›</a:t>
            </a:fld>
            <a:endParaRPr lang="en-US"/>
          </a:p>
        </p:txBody>
      </p:sp>
    </p:spTree>
    <p:extLst>
      <p:ext uri="{BB962C8B-B14F-4D97-AF65-F5344CB8AC3E}">
        <p14:creationId xmlns:p14="http://schemas.microsoft.com/office/powerpoint/2010/main" val="1660196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pPr fontAlgn="base"/>
            <a:r>
              <a:rPr lang="en-US" strike="noStrike" noProof="1"/>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fontAlgn="base"/>
            <a:r>
              <a:rPr lang="en-US" strike="noStrike" noProof="1"/>
              <a:t>Click to edit Master subtitle style</a:t>
            </a:r>
          </a:p>
        </p:txBody>
      </p:sp>
      <p:sp>
        <p:nvSpPr>
          <p:cNvPr id="4" name="Date Placeholder 3"/>
          <p:cNvSpPr>
            <a:spLocks noGrp="1"/>
          </p:cNvSpPr>
          <p:nvPr>
            <p:ph type="dt" sz="half" idx="10"/>
          </p:nvPr>
        </p:nvSpPr>
        <p:spPr/>
        <p:txBody>
          <a:bodyPr/>
          <a:lstStyle/>
          <a:p>
            <a:pPr fontAlgn="base">
              <a:spcBef>
                <a:spcPct val="0"/>
              </a:spcBef>
              <a:spcAft>
                <a:spcPct val="0"/>
              </a:spcAft>
              <a:defRPr/>
            </a:pPr>
            <a:fld id="{74E860EC-E542-457A-B70C-3F9F24F46ECA}"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4483390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Content Placeholder 2"/>
          <p:cNvSpPr>
            <a:spLocks noGrp="1"/>
          </p:cNvSpPr>
          <p:nvPr>
            <p:ph idx="1"/>
          </p:nvPr>
        </p:nvSpPr>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Date Placeholder 3"/>
          <p:cNvSpPr>
            <a:spLocks noGrp="1"/>
          </p:cNvSpPr>
          <p:nvPr>
            <p:ph type="dt" sz="half" idx="10"/>
          </p:nvPr>
        </p:nvSpPr>
        <p:spPr/>
        <p:txBody>
          <a:bodyPr/>
          <a:lstStyle/>
          <a:p>
            <a:pPr fontAlgn="base">
              <a:spcBef>
                <a:spcPct val="0"/>
              </a:spcBef>
              <a:spcAft>
                <a:spcPct val="0"/>
              </a:spcAft>
              <a:defRPr/>
            </a:pPr>
            <a:fld id="{A9287898-D9AE-4049-9D19-ED0B1E1963CA}"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33042258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pPr fontAlgn="base"/>
            <a:r>
              <a:rPr lang="en-US" strike="noStrike" noProof="1"/>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fontAlgn="base"/>
            <a:r>
              <a:rPr lang="en-US" strike="noStrike" noProof="1"/>
              <a:t>Click to edit Master text styles</a:t>
            </a:r>
          </a:p>
        </p:txBody>
      </p:sp>
      <p:sp>
        <p:nvSpPr>
          <p:cNvPr id="4" name="Date Placeholder 3"/>
          <p:cNvSpPr>
            <a:spLocks noGrp="1"/>
          </p:cNvSpPr>
          <p:nvPr>
            <p:ph type="dt" sz="half" idx="10"/>
          </p:nvPr>
        </p:nvSpPr>
        <p:spPr/>
        <p:txBody>
          <a:bodyPr/>
          <a:lstStyle/>
          <a:p>
            <a:pPr fontAlgn="base">
              <a:spcBef>
                <a:spcPct val="0"/>
              </a:spcBef>
              <a:spcAft>
                <a:spcPct val="0"/>
              </a:spcAft>
              <a:defRPr/>
            </a:pPr>
            <a:fld id="{39162D6E-70EE-4FB2-88ED-8A53CBADEAC3}"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41851392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5" name="Date Placeholder 4"/>
          <p:cNvSpPr>
            <a:spLocks noGrp="1"/>
          </p:cNvSpPr>
          <p:nvPr>
            <p:ph type="dt" sz="half" idx="10"/>
          </p:nvPr>
        </p:nvSpPr>
        <p:spPr/>
        <p:txBody>
          <a:bodyPr/>
          <a:lstStyle/>
          <a:p>
            <a:pPr fontAlgn="base">
              <a:spcBef>
                <a:spcPct val="0"/>
              </a:spcBef>
              <a:spcAft>
                <a:spcPct val="0"/>
              </a:spcAft>
              <a:defRPr/>
            </a:pPr>
            <a:fld id="{D3680DC9-3D5C-4B78-93A2-8216A5967CEE}"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9596568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pPr fontAlgn="base"/>
            <a:r>
              <a:rPr lang="en-US" strike="noStrike" noProof="1"/>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7" name="Date Placeholder 6"/>
          <p:cNvSpPr>
            <a:spLocks noGrp="1"/>
          </p:cNvSpPr>
          <p:nvPr>
            <p:ph type="dt" sz="half" idx="10"/>
          </p:nvPr>
        </p:nvSpPr>
        <p:spPr/>
        <p:txBody>
          <a:bodyPr/>
          <a:lstStyle/>
          <a:p>
            <a:pPr fontAlgn="base">
              <a:spcBef>
                <a:spcPct val="0"/>
              </a:spcBef>
              <a:spcAft>
                <a:spcPct val="0"/>
              </a:spcAft>
              <a:defRPr/>
            </a:pPr>
            <a:fld id="{BB9EE8C9-0B5D-4609-8390-6AA8549DB10F}"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17800536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Date Placeholder 2"/>
          <p:cNvSpPr>
            <a:spLocks noGrp="1"/>
          </p:cNvSpPr>
          <p:nvPr>
            <p:ph type="dt" sz="half" idx="10"/>
          </p:nvPr>
        </p:nvSpPr>
        <p:spPr/>
        <p:txBody>
          <a:bodyPr/>
          <a:lstStyle/>
          <a:p>
            <a:pPr fontAlgn="base">
              <a:spcBef>
                <a:spcPct val="0"/>
              </a:spcBef>
              <a:spcAft>
                <a:spcPct val="0"/>
              </a:spcAft>
              <a:defRPr/>
            </a:pPr>
            <a:fld id="{DCD4ABCE-EACE-4151-B61F-945E2463617C}"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38173220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fontAlgn="base">
              <a:spcBef>
                <a:spcPct val="0"/>
              </a:spcBef>
              <a:spcAft>
                <a:spcPct val="0"/>
              </a:spcAft>
              <a:defRPr/>
            </a:pPr>
            <a:fld id="{CDF28FB7-0FB9-463E-BF45-7E2885595341}"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15306472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pPr fontAlgn="base"/>
            <a:r>
              <a:rPr lang="en-US" strike="noStrike" noProof="1"/>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fontAlgn="base">
              <a:spcBef>
                <a:spcPct val="0"/>
              </a:spcBef>
              <a:spcAft>
                <a:spcPct val="0"/>
              </a:spcAft>
              <a:defRPr/>
            </a:pPr>
            <a:fld id="{68F30A16-9233-43B3-A274-11457D04124B}"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24659799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pPr fontAlgn="base"/>
            <a:r>
              <a:rPr lang="en-US" strike="noStrike" noProof="1"/>
              <a:t>Click to edit Master title style</a:t>
            </a:r>
          </a:p>
        </p:txBody>
      </p:sp>
      <p:sp>
        <p:nvSpPr>
          <p:cNvPr id="3" name="Picture Placeholder 2"/>
          <p:cNvSpPr>
            <a:spLocks noGrp="1"/>
          </p:cNvSpPr>
          <p:nvPr>
            <p:ph type="pic" idx="1"/>
          </p:nvPr>
        </p:nvSpPr>
        <p:spPr>
          <a:xfrm>
            <a:off x="2389717" y="612775"/>
            <a:ext cx="73152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a:ln>
                <a:noFill/>
              </a:ln>
              <a:solidFill>
                <a:schemeClr val="tx1"/>
              </a:solidFill>
              <a:effectLst/>
              <a:uLnTx/>
              <a:uFillTx/>
              <a:latin typeface="+mn-lt"/>
              <a:ea typeface="MS PGothic" panose="020B0600070205080204" pitchFamily="34" charset="-128"/>
              <a:cs typeface="+mn-cs"/>
            </a:endParaRP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fontAlgn="base">
              <a:spcBef>
                <a:spcPct val="0"/>
              </a:spcBef>
              <a:spcAft>
                <a:spcPct val="0"/>
              </a:spcAft>
              <a:defRPr/>
            </a:pPr>
            <a:fld id="{E8677AB9-B3E0-47F2-91D3-109594D79C4B}"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6194319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Vertical Text Placeholder 2"/>
          <p:cNvSpPr>
            <a:spLocks noGrp="1"/>
          </p:cNvSpPr>
          <p:nvPr>
            <p:ph type="body" orient="vert" idx="1"/>
          </p:nvPr>
        </p:nvSpPr>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Date Placeholder 3"/>
          <p:cNvSpPr>
            <a:spLocks noGrp="1"/>
          </p:cNvSpPr>
          <p:nvPr>
            <p:ph type="dt" sz="half" idx="10"/>
          </p:nvPr>
        </p:nvSpPr>
        <p:spPr/>
        <p:txBody>
          <a:bodyPr/>
          <a:lstStyle/>
          <a:p>
            <a:pPr fontAlgn="base">
              <a:spcBef>
                <a:spcPct val="0"/>
              </a:spcBef>
              <a:spcAft>
                <a:spcPct val="0"/>
              </a:spcAft>
              <a:defRPr/>
            </a:pPr>
            <a:fld id="{A7F2A97E-5CE7-416F-AB2B-5750179EE4FB}"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28607127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pPr fontAlgn="base"/>
            <a:r>
              <a:rPr lang="en-US" strike="noStrike" noProof="1"/>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Date Placeholder 3"/>
          <p:cNvSpPr>
            <a:spLocks noGrp="1"/>
          </p:cNvSpPr>
          <p:nvPr>
            <p:ph type="dt" sz="half" idx="10"/>
          </p:nvPr>
        </p:nvSpPr>
        <p:spPr/>
        <p:txBody>
          <a:bodyPr/>
          <a:lstStyle/>
          <a:p>
            <a:pPr fontAlgn="base">
              <a:spcBef>
                <a:spcPct val="0"/>
              </a:spcBef>
              <a:spcAft>
                <a:spcPct val="0"/>
              </a:spcAft>
              <a:defRPr/>
            </a:pPr>
            <a:fld id="{A6E4A193-398A-4DA3-ABE0-39035D81DE08}"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240452778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E749AA-DFC1-412B-8D1A-31ABB7D916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9CA5D24-207D-F318-C215-A84F996DFE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CF0A67-ABB6-4314-7B8E-00F52B15C8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0901DB-E840-4150-8207-866BDD25D22F}" type="datetimeFigureOut">
              <a:rPr lang="en-US" smtClean="0"/>
              <a:t>9/15/2025</a:t>
            </a:fld>
            <a:endParaRPr lang="en-US"/>
          </a:p>
        </p:txBody>
      </p:sp>
      <p:sp>
        <p:nvSpPr>
          <p:cNvPr id="5" name="Footer Placeholder 4">
            <a:extLst>
              <a:ext uri="{FF2B5EF4-FFF2-40B4-BE49-F238E27FC236}">
                <a16:creationId xmlns:a16="http://schemas.microsoft.com/office/drawing/2014/main" id="{1A1418D7-FCBF-5B99-17E2-6C586E0722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5FCDC88-7F57-5757-67CB-EED5899359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41024BC-5968-4735-8D30-B72DEF6BE683}" type="slidenum">
              <a:rPr lang="en-US" smtClean="0"/>
              <a:t>‹#›</a:t>
            </a:fld>
            <a:endParaRPr lang="en-US"/>
          </a:p>
        </p:txBody>
      </p:sp>
    </p:spTree>
    <p:extLst>
      <p:ext uri="{BB962C8B-B14F-4D97-AF65-F5344CB8AC3E}">
        <p14:creationId xmlns:p14="http://schemas.microsoft.com/office/powerpoint/2010/main" val="30118941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609600" y="274638"/>
            <a:ext cx="10972800" cy="1143000"/>
          </a:xfrm>
          <a:prstGeom prst="rect">
            <a:avLst/>
          </a:prstGeom>
          <a:noFill/>
          <a:ln w="9525">
            <a:noFill/>
          </a:ln>
        </p:spPr>
        <p:txBody>
          <a:bodyPr anchor="ctr" anchorCtr="0"/>
          <a:lstStyle/>
          <a:p>
            <a:pPr lvl="0"/>
            <a:r>
              <a:rPr lang="en-US" altLang="en-US" dirty="0"/>
              <a:t>Click to edit Master title style</a:t>
            </a:r>
          </a:p>
        </p:txBody>
      </p:sp>
      <p:sp>
        <p:nvSpPr>
          <p:cNvPr id="1027" name="Text Placeholder 2"/>
          <p:cNvSpPr>
            <a:spLocks noGrp="1"/>
          </p:cNvSpPr>
          <p:nvPr>
            <p:ph type="body"/>
          </p:nvPr>
        </p:nvSpPr>
        <p:spPr>
          <a:xfrm>
            <a:off x="609600" y="1600201"/>
            <a:ext cx="10972800" cy="4525963"/>
          </a:xfrm>
          <a:prstGeom prst="rect">
            <a:avLst/>
          </a:prstGeom>
          <a:noFill/>
          <a:ln w="9525">
            <a:noFill/>
          </a:ln>
        </p:spPr>
        <p:txBody>
          <a:bodyPr anchor="t" anchorCtr="0"/>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wrap="square" lIns="91440" tIns="45720" rIns="91440" bIns="45720" numCol="1" anchor="ctr" anchorCtr="0" compatLnSpc="1"/>
          <a:lstStyle>
            <a:lvl1pPr eaLnBrk="1" hangingPunct="1">
              <a:defRPr sz="1200">
                <a:solidFill>
                  <a:srgbClr val="898989"/>
                </a:solidFill>
              </a:defRPr>
            </a:lvl1pPr>
          </a:lstStyle>
          <a:p>
            <a:pPr fontAlgn="base">
              <a:spcBef>
                <a:spcPct val="0"/>
              </a:spcBef>
              <a:spcAft>
                <a:spcPct val="0"/>
              </a:spcAft>
              <a:defRPr/>
            </a:pPr>
            <a:fld id="{AE91B204-41D7-48AE-A13E-6E23B3D8CB2B}" type="datetime1">
              <a:rPr lang="en-US" smtClean="0">
                <a:ea typeface="MS PGothic" panose="020B0600070205080204" pitchFamily="34" charset="-128"/>
              </a:rPr>
              <a:pPr fontAlgn="base">
                <a:spcBef>
                  <a:spcPct val="0"/>
                </a:spcBef>
                <a:spcAft>
                  <a:spcPct val="0"/>
                </a:spcAft>
                <a:defRPr/>
              </a:pPr>
              <a:t>9/15/2025</a:t>
            </a:fld>
            <a:endParaRPr lang="en-US">
              <a:ea typeface="MS PGothic" panose="020B0600070205080204" pitchFamily="34" charset="-128"/>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defRPr>
            </a:lvl1pPr>
          </a:lstStyle>
          <a:p>
            <a:pPr fontAlgn="base">
              <a:spcBef>
                <a:spcPct val="0"/>
              </a:spcBef>
              <a:spcAft>
                <a:spcPct val="0"/>
              </a:spcAft>
              <a:defRPr/>
            </a:pPr>
            <a:fld id="{B724CBE9-E6DE-4AAC-8453-7697DD7A6035}" type="slidenum">
              <a:rPr lang="en-US" altLang="en-US" smtClean="0">
                <a:ea typeface="MS PGothic" panose="020B0600070205080204" pitchFamily="34" charset="-128"/>
              </a:rPr>
              <a:pPr fontAlgn="base">
                <a:spcBef>
                  <a:spcPct val="0"/>
                </a:spcBef>
                <a:spcAft>
                  <a:spcPct val="0"/>
                </a:spcAft>
                <a:defRPr/>
              </a:pPr>
              <a:t>‹#›</a:t>
            </a:fld>
            <a:endParaRPr lang="en-US" altLang="en-US">
              <a:ea typeface="MS PGothic" panose="020B0600070205080204" pitchFamily="34" charset="-128"/>
            </a:endParaRPr>
          </a:p>
        </p:txBody>
      </p:sp>
    </p:spTree>
    <p:extLst>
      <p:ext uri="{BB962C8B-B14F-4D97-AF65-F5344CB8AC3E}">
        <p14:creationId xmlns:p14="http://schemas.microsoft.com/office/powerpoint/2010/main" val="4295518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ctr" rtl="0" eaLnBrk="0" fontAlgn="base" hangingPunct="0">
        <a:spcBef>
          <a:spcPct val="0"/>
        </a:spcBef>
        <a:spcAft>
          <a:spcPct val="0"/>
        </a:spcAft>
        <a:defRPr sz="4400" kern="1200">
          <a:solidFill>
            <a:schemeClr val="tx1"/>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defRPr>
      </a:lvl2pPr>
      <a:lvl3pPr algn="ctr"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defRPr>
      </a:lvl3pPr>
      <a:lvl4pPr algn="ctr"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defRPr>
      </a:lvl4pPr>
      <a:lvl5pPr algn="ctr"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34" charset="-128"/>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34" charset="-128"/>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jpeg"/></Relationships>
</file>

<file path=ppt/slides/slide9.xml><?xml version="1.0" encoding="utf-8"?>
<p:sld xmlns:a="http://schemas.openxmlformats.org/drawingml/2006/main" xmlns:p="http://schemas.openxmlformats.org/presentationml/2006/main" xmlns:r="http://schemas.openxmlformats.org/officeDocument/2006/relationships">
  <p:bg>
    <p:bgPr>
      <a:blipFill rotWithShape="0">
        <a:blip r:embed="rId2"/>
        <a:stretch>
          <a:fillRect/>
        </a:stretch>
      </a:blipFill>
      <a:effectLst/>
    </p:bgPr>
  </p:bg>
  <p:cSld>
    <p:spTree>
      <p:nvGrpSpPr>
        <p:cNvPr id="1" name=""/>
        <p:cNvGrpSpPr/>
        <p:nvPr/>
      </p:nvGrpSpPr>
      <p:grpSpPr/>
      <p:sp>
        <p:nvSpPr>
          <p:cNvPr id="2" name="TextBox 1"/>
          <p:cNvSpPr txBox="1"/>
          <p:nvPr/>
        </p:nvSpPr>
        <p:spPr>
          <a:xfrm>
            <a:off x="914400" y="411480"/>
            <a:ext cx="10360152" cy="594360"/>
          </a:xfrm>
          <a:prstGeom prst="rect">
            <a:avLst/>
          </a:prstGeom>
          <a:noFill/>
        </p:spPr>
        <p:txBody>
          <a:bodyPr wrap="square">
            <a:spAutoFit/>
          </a:bodyPr>
          <a:lstStyle/>
          <a:p>
            <a:pPr algn="ctr">
              <a:defRPr sz="1300" b="1">
                <a:solidFill>
                  <a:srgbClr val="DAA520"/>
                </a:solidFill>
                <a:latin typeface="Arial"/>
              </a:defRPr>
            </a:pPr>
            <a:r>
              <a:t>COLLEGE OF BASIC AND APPLIED SCIENCES  •  DEPARTMENT OF COMPUTER SCIENCE</a:t>
            </a:r>
          </a:p>
        </p:txBody>
      </p:sp>
      <p:sp>
        <p:nvSpPr>
          <p:cNvPr id="3" name="TextBox 2"/>
          <p:cNvSpPr txBox="1"/>
          <p:nvPr/>
        </p:nvSpPr>
        <p:spPr>
          <a:xfrm>
            <a:off x="914400" y="1051560"/>
            <a:ext cx="10360152" cy="1508760"/>
          </a:xfrm>
          <a:prstGeom prst="rect">
            <a:avLst/>
          </a:prstGeom>
          <a:noFill/>
        </p:spPr>
        <p:txBody>
          <a:bodyPr wrap="square">
            <a:spAutoFit/>
          </a:bodyPr>
          <a:lstStyle/>
          <a:p>
            <a:pPr algn="ctr">
              <a:defRPr sz="2300" b="1">
                <a:solidFill>
                  <a:srgbClr val="FFFFFF"/>
                </a:solidFill>
                <a:latin typeface="Arial"/>
              </a:defRPr>
            </a:pPr>
            <a:r>
              <a:t>SPIME: A Stacked Physics-Informed Meta-Ensemble for Low-Cost PM2.5 Sensor Calibration Under High Humidity and Harmattan Dust in Sub-Saharan Africa</a:t>
            </a:r>
          </a:p>
        </p:txBody>
      </p:sp>
      <p:sp>
        <p:nvSpPr>
          <p:cNvPr id="4" name="TextBox 3"/>
          <p:cNvSpPr txBox="1"/>
          <p:nvPr/>
        </p:nvSpPr>
        <p:spPr>
          <a:xfrm>
            <a:off x="914400" y="2697480"/>
            <a:ext cx="10360152" cy="502920"/>
          </a:xfrm>
          <a:prstGeom prst="rect">
            <a:avLst/>
          </a:prstGeom>
          <a:noFill/>
        </p:spPr>
        <p:txBody>
          <a:bodyPr wrap="none">
            <a:spAutoFit/>
          </a:bodyPr>
          <a:lstStyle/>
          <a:p>
            <a:pPr algn="ctr">
              <a:defRPr sz="1500" b="1">
                <a:solidFill>
                  <a:srgbClr val="F59E0B"/>
                </a:solidFill>
                <a:latin typeface="Calibri"/>
              </a:defRPr>
            </a:pPr>
            <a:r>
              <a:t>B.Sc. Computer Science  •  Final Year Project Defense &amp; Oral Examination</a:t>
            </a:r>
          </a:p>
        </p:txBody>
      </p:sp>
      <p:sp>
        <p:nvSpPr>
          <p:cNvPr id="5" name="Rounded Rectangle 4"/>
          <p:cNvSpPr/>
          <p:nvPr/>
        </p:nvSpPr>
        <p:spPr>
          <a:xfrm>
            <a:off x="1371600" y="3337560"/>
            <a:ext cx="4480560" cy="1874519"/>
          </a:xfrm>
          <a:prstGeom prst="roundRect">
            <a:avLst/>
          </a:prstGeom>
          <a:solidFill>
            <a:srgbClr val="111F35"/>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00200" y="3474720"/>
            <a:ext cx="4023360" cy="1600200"/>
          </a:xfrm>
          <a:prstGeom prst="rect">
            <a:avLst/>
          </a:prstGeom>
          <a:noFill/>
        </p:spPr>
        <p:txBody>
          <a:bodyPr wrap="square">
            <a:spAutoFit/>
          </a:bodyPr>
          <a:lstStyle/>
          <a:p>
            <a:pPr>
              <a:spcAft>
                <a:spcPts val="600"/>
              </a:spcAft>
              <a:defRPr sz="1100" b="1">
                <a:solidFill>
                  <a:srgbClr val="DAA520"/>
                </a:solidFill>
                <a:latin typeface="Arial"/>
              </a:defRPr>
            </a:pPr>
            <a:r>
              <a:t>CANDIDATE DETAILS</a:t>
            </a:r>
          </a:p>
          <a:p>
            <a:pPr>
              <a:spcAft>
                <a:spcPts val="400"/>
              </a:spcAft>
              <a:defRPr sz="1200">
                <a:latin typeface="Calibri"/>
              </a:defRPr>
            </a:pPr>
            <a:r>
              <a:rPr b="1">
                <a:solidFill>
                  <a:srgbClr val="0F172A"/>
                </a:solidFill>
              </a:rPr>
              <a:t>Candidate Name: </a:t>
            </a:r>
            <a:r>
              <a:rPr>
                <a:solidFill>
                  <a:srgbClr val="475569"/>
                </a:solidFill>
              </a:rPr>
              <a:t>Neal Allison Hughes</a:t>
            </a:r>
          </a:p>
          <a:p>
            <a:pPr>
              <a:spcAft>
                <a:spcPts val="400"/>
              </a:spcAft>
              <a:defRPr sz="1200">
                <a:latin typeface="Calibri"/>
              </a:defRPr>
            </a:pPr>
            <a:r>
              <a:rPr b="1">
                <a:solidFill>
                  <a:srgbClr val="0F172A"/>
                </a:solidFill>
              </a:rPr>
              <a:t>Student ID: </a:t>
            </a:r>
            <a:r>
              <a:rPr>
                <a:solidFill>
                  <a:srgbClr val="475569"/>
                </a:solidFill>
              </a:rPr>
              <a:t>11178252</a:t>
            </a:r>
          </a:p>
          <a:p>
            <a:pPr>
              <a:spcAft>
                <a:spcPts val="400"/>
              </a:spcAft>
              <a:defRPr sz="1200">
                <a:latin typeface="Calibri"/>
              </a:defRPr>
            </a:pPr>
            <a:r>
              <a:rPr b="1">
                <a:solidFill>
                  <a:srgbClr val="0F172A"/>
                </a:solidFill>
              </a:rPr>
              <a:t>Programme: </a:t>
            </a:r>
            <a:r>
              <a:rPr>
                <a:solidFill>
                  <a:srgbClr val="475569"/>
                </a:solidFill>
              </a:rPr>
              <a:t>B.Sc. Computer Science (Honours)</a:t>
            </a:r>
          </a:p>
        </p:txBody>
      </p:sp>
      <p:sp>
        <p:nvSpPr>
          <p:cNvPr id="7" name="Rounded Rectangle 6"/>
          <p:cNvSpPr/>
          <p:nvPr/>
        </p:nvSpPr>
        <p:spPr>
          <a:xfrm>
            <a:off x="6309360" y="3337560"/>
            <a:ext cx="4480560" cy="1874519"/>
          </a:xfrm>
          <a:prstGeom prst="roundRect">
            <a:avLst/>
          </a:prstGeom>
          <a:solidFill>
            <a:srgbClr val="111F35"/>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3474720"/>
            <a:ext cx="4023360" cy="1600200"/>
          </a:xfrm>
          <a:prstGeom prst="rect">
            <a:avLst/>
          </a:prstGeom>
          <a:noFill/>
        </p:spPr>
        <p:txBody>
          <a:bodyPr wrap="square">
            <a:spAutoFit/>
          </a:bodyPr>
          <a:lstStyle/>
          <a:p>
            <a:pPr>
              <a:spcAft>
                <a:spcPts val="600"/>
              </a:spcAft>
              <a:defRPr sz="1100" b="1">
                <a:solidFill>
                  <a:srgbClr val="DAA520"/>
                </a:solidFill>
                <a:latin typeface="Arial"/>
              </a:defRPr>
            </a:pPr>
            <a:r>
              <a:t>SUPERVISION &amp; RESEARCH FACILITY</a:t>
            </a:r>
          </a:p>
          <a:p>
            <a:pPr>
              <a:spcAft>
                <a:spcPts val="300"/>
              </a:spcAft>
              <a:defRPr sz="1150">
                <a:latin typeface="Calibri"/>
              </a:defRPr>
            </a:pPr>
            <a:r>
              <a:rPr b="1">
                <a:solidFill>
                  <a:srgbClr val="0F172A"/>
                </a:solidFill>
              </a:rPr>
              <a:t>Principal Supervisor: </a:t>
            </a:r>
            <a:r>
              <a:rPr>
                <a:solidFill>
                  <a:srgbClr val="475569"/>
                </a:solidFill>
              </a:rPr>
              <a:t>Prof. Isaac Wiafe</a:t>
            </a:r>
          </a:p>
          <a:p>
            <a:pPr>
              <a:spcAft>
                <a:spcPts val="300"/>
              </a:spcAft>
              <a:defRPr sz="1150">
                <a:latin typeface="Calibri"/>
              </a:defRPr>
            </a:pPr>
            <a:r>
              <a:rPr b="1">
                <a:solidFill>
                  <a:srgbClr val="0F172A"/>
                </a:solidFill>
              </a:rPr>
              <a:t>Academic Unit: </a:t>
            </a:r>
            <a:r>
              <a:rPr>
                <a:solidFill>
                  <a:srgbClr val="475569"/>
                </a:solidFill>
              </a:rPr>
              <a:t>Department of Computer Science</a:t>
            </a:r>
          </a:p>
          <a:p>
            <a:pPr>
              <a:spcAft>
                <a:spcPts val="300"/>
              </a:spcAft>
              <a:defRPr sz="1150">
                <a:latin typeface="Calibri"/>
              </a:defRPr>
            </a:pPr>
            <a:r>
              <a:rPr b="1">
                <a:solidFill>
                  <a:srgbClr val="0F172A"/>
                </a:solidFill>
              </a:rPr>
              <a:t>Evaluation Hub: </a:t>
            </a:r>
            <a:r>
              <a:rPr>
                <a:solidFill>
                  <a:srgbClr val="475569"/>
                </a:solidFill>
              </a:rPr>
              <a:t>Afri-SET Facility, Dept. of Physics</a:t>
            </a:r>
          </a:p>
          <a:p>
            <a:pPr>
              <a:spcAft>
                <a:spcPts val="300"/>
              </a:spcAft>
              <a:defRPr sz="1150">
                <a:latin typeface="Calibri"/>
              </a:defRPr>
            </a:pPr>
            <a:r>
              <a:rPr b="1">
                <a:solidFill>
                  <a:srgbClr val="0F172A"/>
                </a:solidFill>
              </a:rPr>
              <a:t>Date of Defense: </a:t>
            </a:r>
            <a:r>
              <a:rPr>
                <a:solidFill>
                  <a:srgbClr val="475569"/>
                </a:solidFill>
              </a:rPr>
              <a:t>October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01168"/>
            <a:ext cx="10698480" cy="1078992"/>
          </a:xfrm>
          <a:prstGeom prst="rect">
            <a:avLst/>
          </a:prstGeom>
          <a:noFill/>
        </p:spPr>
        <p:txBody>
          <a:bodyPr wrap="square" lIns="0" rIns="0" tIns="0" bIns="0">
            <a:spAutoFit/>
          </a:bodyPr>
          <a:lstStyle/>
          <a:p>
            <a:pPr>
              <a:spcAft>
                <a:spcPts val="200"/>
              </a:spcAft>
              <a:defRPr sz="1100" b="1">
                <a:solidFill>
                  <a:srgbClr val="DAA520"/>
                </a:solidFill>
                <a:latin typeface="Arial"/>
              </a:defRPr>
            </a:pPr>
            <a:r>
              <a:t>00 | OVERVIEW</a:t>
            </a:r>
          </a:p>
          <a:p>
            <a:pPr>
              <a:defRPr sz="2000" b="1">
                <a:solidFill>
                  <a:srgbClr val="FFFFFF"/>
                </a:solidFill>
                <a:latin typeface="Arial"/>
              </a:defRPr>
            </a:pPr>
            <a:r>
              <a:t>Presentation Outline &amp; Research Roadmap</a:t>
            </a:r>
          </a:p>
        </p:txBody>
      </p:sp>
      <p:sp>
        <p:nvSpPr>
          <p:cNvPr id="3" name="TextBox 2"/>
          <p:cNvSpPr txBox="1"/>
          <p:nvPr/>
        </p:nvSpPr>
        <p:spPr>
          <a:xfrm>
            <a:off x="731520" y="6263640"/>
            <a:ext cx="8046720" cy="320040"/>
          </a:xfrm>
          <a:prstGeom prst="rect">
            <a:avLst/>
          </a:prstGeom>
          <a:noFill/>
        </p:spPr>
        <p:txBody>
          <a:bodyPr wrap="none" lIns="0" rIns="0" tIns="0" bIns="0">
            <a:spAutoFit/>
          </a:bodyPr>
          <a:lstStyle/>
          <a:p>
            <a:pPr>
              <a:defRPr sz="1000">
                <a:solidFill>
                  <a:srgbClr val="64748B"/>
                </a:solidFill>
                <a:latin typeface="Calibri"/>
              </a:defRPr>
            </a:pPr>
            <a:r>
              <a:t>Department of Computer Science • University of Ghana  |  SPIME v4 Defense  |  Slide 2 of 22</a:t>
            </a:r>
          </a:p>
        </p:txBody>
      </p:sp>
      <p:sp>
        <p:nvSpPr>
          <p:cNvPr id="4" name="Rounded Rectangle 3"/>
          <p:cNvSpPr/>
          <p:nvPr/>
        </p:nvSpPr>
        <p:spPr>
          <a:xfrm>
            <a:off x="731520" y="1600200"/>
            <a:ext cx="1005840" cy="804672"/>
          </a:xfrm>
          <a:prstGeom prst="roundRect">
            <a:avLst/>
          </a:prstGeom>
          <a:solidFill>
            <a:srgbClr val="000066"/>
          </a:solidFill>
          <a:ln w="12700">
            <a:solidFill>
              <a:srgbClr val="DAA5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64792"/>
            <a:ext cx="1005840" cy="457200"/>
          </a:xfrm>
          <a:prstGeom prst="rect">
            <a:avLst/>
          </a:prstGeom>
          <a:noFill/>
        </p:spPr>
        <p:txBody>
          <a:bodyPr wrap="none">
            <a:spAutoFit/>
          </a:bodyPr>
          <a:lstStyle/>
          <a:p>
            <a:pPr algn="ctr">
              <a:defRPr sz="2200" b="1">
                <a:solidFill>
                  <a:srgbClr val="FFFFFF"/>
                </a:solidFill>
                <a:latin typeface="Arial"/>
              </a:defRPr>
            </a:pPr>
            <a:r>
              <a:t>01</a:t>
            </a:r>
          </a:p>
        </p:txBody>
      </p:sp>
      <p:sp>
        <p:nvSpPr>
          <p:cNvPr id="6" name="Rounded Rectangle 5"/>
          <p:cNvSpPr/>
          <p:nvPr/>
        </p:nvSpPr>
        <p:spPr>
          <a:xfrm>
            <a:off x="1874519" y="1600200"/>
            <a:ext cx="9555480" cy="80467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57400" y="1691640"/>
            <a:ext cx="9189720" cy="621792"/>
          </a:xfrm>
          <a:prstGeom prst="rect">
            <a:avLst/>
          </a:prstGeom>
          <a:noFill/>
        </p:spPr>
        <p:txBody>
          <a:bodyPr wrap="square">
            <a:spAutoFit/>
          </a:bodyPr>
          <a:lstStyle/>
          <a:p>
            <a:pPr>
              <a:spcAft>
                <a:spcPts val="200"/>
              </a:spcAft>
              <a:defRPr sz="1350" b="1">
                <a:solidFill>
                  <a:srgbClr val="2563EB"/>
                </a:solidFill>
                <a:latin typeface="Arial"/>
              </a:defRPr>
            </a:pPr>
            <a:r>
              <a:t>Context &amp; Problem Statement</a:t>
            </a:r>
          </a:p>
          <a:p>
            <a:pPr>
              <a:defRPr sz="1100">
                <a:solidFill>
                  <a:srgbClr val="475569"/>
                </a:solidFill>
                <a:latin typeface="Calibri"/>
              </a:defRPr>
            </a:pPr>
            <a:r>
              <a:t>Sub-Saharan Africa air quality health burden, low-cost optical particle counter (OPC) mechanics, physical hygroscopic swelling, and factory calibration failure.</a:t>
            </a:r>
          </a:p>
        </p:txBody>
      </p:sp>
      <p:sp>
        <p:nvSpPr>
          <p:cNvPr id="8" name="Rounded Rectangle 7"/>
          <p:cNvSpPr/>
          <p:nvPr/>
        </p:nvSpPr>
        <p:spPr>
          <a:xfrm>
            <a:off x="731520" y="2514600"/>
            <a:ext cx="1005840" cy="804672"/>
          </a:xfrm>
          <a:prstGeom prst="roundRect">
            <a:avLst/>
          </a:prstGeom>
          <a:solidFill>
            <a:srgbClr val="000066"/>
          </a:solidFill>
          <a:ln w="12700">
            <a:solidFill>
              <a:srgbClr val="DAA5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679192"/>
            <a:ext cx="1005840" cy="457200"/>
          </a:xfrm>
          <a:prstGeom prst="rect">
            <a:avLst/>
          </a:prstGeom>
          <a:noFill/>
        </p:spPr>
        <p:txBody>
          <a:bodyPr wrap="none">
            <a:spAutoFit/>
          </a:bodyPr>
          <a:lstStyle/>
          <a:p>
            <a:pPr algn="ctr">
              <a:defRPr sz="2200" b="1">
                <a:solidFill>
                  <a:srgbClr val="FFFFFF"/>
                </a:solidFill>
                <a:latin typeface="Arial"/>
              </a:defRPr>
            </a:pPr>
            <a:r>
              <a:t>02</a:t>
            </a:r>
          </a:p>
        </p:txBody>
      </p:sp>
      <p:sp>
        <p:nvSpPr>
          <p:cNvPr id="10" name="Rounded Rectangle 9"/>
          <p:cNvSpPr/>
          <p:nvPr/>
        </p:nvSpPr>
        <p:spPr>
          <a:xfrm>
            <a:off x="1874519" y="2514600"/>
            <a:ext cx="9555480" cy="80467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57400" y="2606040"/>
            <a:ext cx="9189720" cy="621792"/>
          </a:xfrm>
          <a:prstGeom prst="rect">
            <a:avLst/>
          </a:prstGeom>
          <a:noFill/>
        </p:spPr>
        <p:txBody>
          <a:bodyPr wrap="square">
            <a:spAutoFit/>
          </a:bodyPr>
          <a:lstStyle/>
          <a:p>
            <a:pPr>
              <a:spcAft>
                <a:spcPts val="200"/>
              </a:spcAft>
              <a:defRPr sz="1350" b="1">
                <a:solidFill>
                  <a:srgbClr val="2563EB"/>
                </a:solidFill>
                <a:latin typeface="Arial"/>
              </a:defRPr>
            </a:pPr>
            <a:r>
              <a:t>Research Objectives &amp; Experimental Hub</a:t>
            </a:r>
          </a:p>
          <a:p>
            <a:pPr>
              <a:defRPr sz="1100">
                <a:solidFill>
                  <a:srgbClr val="475569"/>
                </a:solidFill>
                <a:latin typeface="Calibri"/>
              </a:defRPr>
            </a:pPr>
            <a:r>
              <a:t>Primary research aim, four measurable specific objectives, and the Afri-SET co-location evaluation platform at University of Ghana, Legon.</a:t>
            </a:r>
          </a:p>
        </p:txBody>
      </p:sp>
      <p:sp>
        <p:nvSpPr>
          <p:cNvPr id="12" name="Rounded Rectangle 11"/>
          <p:cNvSpPr/>
          <p:nvPr/>
        </p:nvSpPr>
        <p:spPr>
          <a:xfrm>
            <a:off x="731520" y="3429000"/>
            <a:ext cx="1005840" cy="804672"/>
          </a:xfrm>
          <a:prstGeom prst="roundRect">
            <a:avLst/>
          </a:prstGeom>
          <a:solidFill>
            <a:srgbClr val="000066"/>
          </a:solidFill>
          <a:ln w="12700">
            <a:solidFill>
              <a:srgbClr val="DAA5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593592"/>
            <a:ext cx="1005840" cy="457200"/>
          </a:xfrm>
          <a:prstGeom prst="rect">
            <a:avLst/>
          </a:prstGeom>
          <a:noFill/>
        </p:spPr>
        <p:txBody>
          <a:bodyPr wrap="none">
            <a:spAutoFit/>
          </a:bodyPr>
          <a:lstStyle/>
          <a:p>
            <a:pPr algn="ctr">
              <a:defRPr sz="2200" b="1">
                <a:solidFill>
                  <a:srgbClr val="FFFFFF"/>
                </a:solidFill>
                <a:latin typeface="Arial"/>
              </a:defRPr>
            </a:pPr>
            <a:r>
              <a:t>03</a:t>
            </a:r>
          </a:p>
        </p:txBody>
      </p:sp>
      <p:sp>
        <p:nvSpPr>
          <p:cNvPr id="14" name="Rounded Rectangle 13"/>
          <p:cNvSpPr/>
          <p:nvPr/>
        </p:nvSpPr>
        <p:spPr>
          <a:xfrm>
            <a:off x="1874519" y="3429000"/>
            <a:ext cx="9555480" cy="80467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057400" y="3520440"/>
            <a:ext cx="9189720" cy="621792"/>
          </a:xfrm>
          <a:prstGeom prst="rect">
            <a:avLst/>
          </a:prstGeom>
          <a:noFill/>
        </p:spPr>
        <p:txBody>
          <a:bodyPr wrap="square">
            <a:spAutoFit/>
          </a:bodyPr>
          <a:lstStyle/>
          <a:p>
            <a:pPr>
              <a:spcAft>
                <a:spcPts val="200"/>
              </a:spcAft>
              <a:defRPr sz="1350" b="1">
                <a:solidFill>
                  <a:srgbClr val="2563EB"/>
                </a:solidFill>
                <a:latin typeface="Arial"/>
              </a:defRPr>
            </a:pPr>
            <a:r>
              <a:t>Methodology &amp; Architecture</a:t>
            </a:r>
          </a:p>
          <a:p>
            <a:pPr>
              <a:defRPr sz="1100">
                <a:solidFill>
                  <a:srgbClr val="475569"/>
                </a:solidFill>
                <a:latin typeface="Calibri"/>
              </a:defRPr>
            </a:pPr>
            <a:r>
              <a:t>75-dimensional physics-informed feature engineering, multi-gamma empirical Köhler curves, and the SPIME v4 hierarchical stacking meta-ensemble.</a:t>
            </a:r>
          </a:p>
        </p:txBody>
      </p:sp>
      <p:sp>
        <p:nvSpPr>
          <p:cNvPr id="16" name="Rounded Rectangle 15"/>
          <p:cNvSpPr/>
          <p:nvPr/>
        </p:nvSpPr>
        <p:spPr>
          <a:xfrm>
            <a:off x="731520" y="4343400"/>
            <a:ext cx="1005840" cy="804672"/>
          </a:xfrm>
          <a:prstGeom prst="roundRect">
            <a:avLst/>
          </a:prstGeom>
          <a:solidFill>
            <a:srgbClr val="000066"/>
          </a:solidFill>
          <a:ln w="12700">
            <a:solidFill>
              <a:srgbClr val="DAA5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507992"/>
            <a:ext cx="1005840" cy="457200"/>
          </a:xfrm>
          <a:prstGeom prst="rect">
            <a:avLst/>
          </a:prstGeom>
          <a:noFill/>
        </p:spPr>
        <p:txBody>
          <a:bodyPr wrap="none">
            <a:spAutoFit/>
          </a:bodyPr>
          <a:lstStyle/>
          <a:p>
            <a:pPr algn="ctr">
              <a:defRPr sz="2200" b="1">
                <a:solidFill>
                  <a:srgbClr val="FFFFFF"/>
                </a:solidFill>
                <a:latin typeface="Arial"/>
              </a:defRPr>
            </a:pPr>
            <a:r>
              <a:t>04</a:t>
            </a:r>
          </a:p>
        </p:txBody>
      </p:sp>
      <p:sp>
        <p:nvSpPr>
          <p:cNvPr id="18" name="Rounded Rectangle 17"/>
          <p:cNvSpPr/>
          <p:nvPr/>
        </p:nvSpPr>
        <p:spPr>
          <a:xfrm>
            <a:off x="1874519" y="4343400"/>
            <a:ext cx="9555480" cy="80467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57400" y="4434840"/>
            <a:ext cx="9189720" cy="621792"/>
          </a:xfrm>
          <a:prstGeom prst="rect">
            <a:avLst/>
          </a:prstGeom>
          <a:noFill/>
        </p:spPr>
        <p:txBody>
          <a:bodyPr wrap="square">
            <a:spAutoFit/>
          </a:bodyPr>
          <a:lstStyle/>
          <a:p>
            <a:pPr>
              <a:spcAft>
                <a:spcPts val="200"/>
              </a:spcAft>
              <a:defRPr sz="1350" b="1">
                <a:solidFill>
                  <a:srgbClr val="2563EB"/>
                </a:solidFill>
                <a:latin typeface="Arial"/>
              </a:defRPr>
            </a:pPr>
            <a:r>
              <a:t>Empirical Results &amp; Diagnostics</a:t>
            </a:r>
          </a:p>
          <a:p>
            <a:pPr>
              <a:defRPr sz="1100">
                <a:solidFill>
                  <a:srgbClr val="475569"/>
                </a:solidFill>
                <a:latin typeface="Calibri"/>
              </a:defRPr>
            </a:pPr>
            <a:r>
              <a:t>Out-of-sample 6-month holdout performance (R² = 0.9632, MAE = 0.61 µg/m³), elimination of overfitting, 1:1 parity alignment, SHAP attribution, and residual diagnostics.</a:t>
            </a:r>
          </a:p>
        </p:txBody>
      </p:sp>
      <p:sp>
        <p:nvSpPr>
          <p:cNvPr id="20" name="Rounded Rectangle 19"/>
          <p:cNvSpPr/>
          <p:nvPr/>
        </p:nvSpPr>
        <p:spPr>
          <a:xfrm>
            <a:off x="731520" y="5257800"/>
            <a:ext cx="1005840" cy="804672"/>
          </a:xfrm>
          <a:prstGeom prst="roundRect">
            <a:avLst/>
          </a:prstGeom>
          <a:solidFill>
            <a:srgbClr val="000066"/>
          </a:solidFill>
          <a:ln w="12700">
            <a:solidFill>
              <a:srgbClr val="DAA5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422392"/>
            <a:ext cx="1005840" cy="457200"/>
          </a:xfrm>
          <a:prstGeom prst="rect">
            <a:avLst/>
          </a:prstGeom>
          <a:noFill/>
        </p:spPr>
        <p:txBody>
          <a:bodyPr wrap="none">
            <a:spAutoFit/>
          </a:bodyPr>
          <a:lstStyle/>
          <a:p>
            <a:pPr algn="ctr">
              <a:defRPr sz="2200" b="1">
                <a:solidFill>
                  <a:srgbClr val="FFFFFF"/>
                </a:solidFill>
                <a:latin typeface="Arial"/>
              </a:defRPr>
            </a:pPr>
            <a:r>
              <a:t>05</a:t>
            </a:r>
          </a:p>
        </p:txBody>
      </p:sp>
      <p:sp>
        <p:nvSpPr>
          <p:cNvPr id="22" name="Rounded Rectangle 21"/>
          <p:cNvSpPr/>
          <p:nvPr/>
        </p:nvSpPr>
        <p:spPr>
          <a:xfrm>
            <a:off x="1874519" y="5257800"/>
            <a:ext cx="9555480" cy="80467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057400" y="5349240"/>
            <a:ext cx="9189720" cy="621792"/>
          </a:xfrm>
          <a:prstGeom prst="rect">
            <a:avLst/>
          </a:prstGeom>
          <a:noFill/>
        </p:spPr>
        <p:txBody>
          <a:bodyPr wrap="square">
            <a:spAutoFit/>
          </a:bodyPr>
          <a:lstStyle/>
          <a:p>
            <a:pPr>
              <a:spcAft>
                <a:spcPts val="200"/>
              </a:spcAft>
              <a:defRPr sz="1350" b="1">
                <a:solidFill>
                  <a:srgbClr val="2563EB"/>
                </a:solidFill>
                <a:latin typeface="Arial"/>
              </a:defRPr>
            </a:pPr>
            <a:r>
              <a:t>Cloud Deployment &amp; Conclusion</a:t>
            </a:r>
          </a:p>
          <a:p>
            <a:pPr>
              <a:defRPr sz="1100">
                <a:solidFill>
                  <a:srgbClr val="475569"/>
                </a:solidFill>
                <a:latin typeface="Calibri"/>
              </a:defRPr>
            </a:pPr>
            <a:r>
              <a:t>Asynchronous containerized FastAPI microservice, AirSense live web studio, core scientific contributions, study limitations, and future research roadmap.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01168"/>
            <a:ext cx="10698480" cy="1078992"/>
          </a:xfrm>
          <a:prstGeom prst="rect">
            <a:avLst/>
          </a:prstGeom>
          <a:noFill/>
        </p:spPr>
        <p:txBody>
          <a:bodyPr wrap="square" lIns="0" rIns="0" tIns="0" bIns="0">
            <a:spAutoFit/>
          </a:bodyPr>
          <a:lstStyle/>
          <a:p>
            <a:pPr>
              <a:spcAft>
                <a:spcPts val="200"/>
              </a:spcAft>
              <a:defRPr sz="1100" b="1">
                <a:solidFill>
                  <a:srgbClr val="DAA520"/>
                </a:solidFill>
                <a:latin typeface="Arial"/>
              </a:defRPr>
            </a:pPr>
            <a:r>
              <a:t>01 | INTRODUCTION</a:t>
            </a:r>
          </a:p>
          <a:p>
            <a:pPr>
              <a:defRPr sz="2000" b="1">
                <a:solidFill>
                  <a:srgbClr val="FFFFFF"/>
                </a:solidFill>
                <a:latin typeface="Arial"/>
              </a:defRPr>
            </a:pPr>
            <a:r>
              <a:t>Background: The Air Quality Crisis &amp; Monitoring Void in Sub-Saharan Africa</a:t>
            </a:r>
          </a:p>
        </p:txBody>
      </p:sp>
      <p:sp>
        <p:nvSpPr>
          <p:cNvPr id="3" name="TextBox 2"/>
          <p:cNvSpPr txBox="1"/>
          <p:nvPr/>
        </p:nvSpPr>
        <p:spPr>
          <a:xfrm>
            <a:off x="731520" y="6263640"/>
            <a:ext cx="8046720" cy="320040"/>
          </a:xfrm>
          <a:prstGeom prst="rect">
            <a:avLst/>
          </a:prstGeom>
          <a:noFill/>
        </p:spPr>
        <p:txBody>
          <a:bodyPr wrap="none" lIns="0" rIns="0" tIns="0" bIns="0">
            <a:spAutoFit/>
          </a:bodyPr>
          <a:lstStyle/>
          <a:p>
            <a:pPr>
              <a:defRPr sz="1000">
                <a:solidFill>
                  <a:srgbClr val="64748B"/>
                </a:solidFill>
                <a:latin typeface="Calibri"/>
              </a:defRPr>
            </a:pPr>
            <a:r>
              <a:t>Department of Computer Science • University of Ghana  |  SPIME v4 Defense  |  Slide 3 of 22</a:t>
            </a:r>
          </a:p>
        </p:txBody>
      </p:sp>
      <p:sp>
        <p:nvSpPr>
          <p:cNvPr id="4" name="Rounded Rectangle 3"/>
          <p:cNvSpPr/>
          <p:nvPr/>
        </p:nvSpPr>
        <p:spPr>
          <a:xfrm>
            <a:off x="731520" y="1600200"/>
            <a:ext cx="5120640" cy="4434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783080"/>
            <a:ext cx="4663440" cy="4069080"/>
          </a:xfrm>
          <a:prstGeom prst="rect">
            <a:avLst/>
          </a:prstGeom>
          <a:noFill/>
        </p:spPr>
        <p:txBody>
          <a:bodyPr wrap="square">
            <a:spAutoFit/>
          </a:bodyPr>
          <a:lstStyle/>
          <a:p>
            <a:pPr>
              <a:spcAft>
                <a:spcPts val="1000"/>
              </a:spcAft>
              <a:defRPr sz="1500" b="1">
                <a:solidFill>
                  <a:srgbClr val="2563EB"/>
                </a:solidFill>
                <a:latin typeface="Arial"/>
              </a:defRPr>
            </a:pPr>
            <a:r>
              <a:t>The Sub-Saharan Africa Air Pollution Burden</a:t>
            </a:r>
          </a:p>
          <a:p>
            <a:pPr>
              <a:spcAft>
                <a:spcPts val="800"/>
              </a:spcAft>
              <a:defRPr sz="1150">
                <a:latin typeface="Calibri"/>
              </a:defRPr>
            </a:pPr>
            <a:r>
              <a:rPr b="1">
                <a:solidFill>
                  <a:srgbClr val="0F172A"/>
                </a:solidFill>
              </a:rPr>
              <a:t>Global Health Toll: </a:t>
            </a:r>
            <a:r>
              <a:rPr>
                <a:solidFill>
                  <a:srgbClr val="475569"/>
                </a:solidFill>
              </a:rPr>
              <a:t>Ambient fine particulate matter (PM2.5) is the second leading risk factor for premature death in Sub-Saharan Africa, responsible for over 1.1 million deaths annually.</a:t>
            </a:r>
          </a:p>
          <a:p>
            <a:pPr>
              <a:spcAft>
                <a:spcPts val="800"/>
              </a:spcAft>
              <a:defRPr sz="1150">
                <a:latin typeface="Calibri"/>
              </a:defRPr>
            </a:pPr>
            <a:r>
              <a:rPr b="1">
                <a:solidFill>
                  <a:srgbClr val="0F172A"/>
                </a:solidFill>
              </a:rPr>
              <a:t>Urban Emission Hotspots: </a:t>
            </a:r>
            <a:r>
              <a:rPr>
                <a:solidFill>
                  <a:srgbClr val="475569"/>
                </a:solidFill>
              </a:rPr>
              <a:t>Rapid urban expansion across Greater Accra drives severe particulate exposure from vehicular exhaust, unpaved road dust, and biomass burning.</a:t>
            </a:r>
          </a:p>
          <a:p>
            <a:pPr>
              <a:spcAft>
                <a:spcPts val="800"/>
              </a:spcAft>
              <a:defRPr sz="1150">
                <a:latin typeface="Calibri"/>
              </a:defRPr>
            </a:pPr>
            <a:r>
              <a:rPr b="1">
                <a:solidFill>
                  <a:srgbClr val="0F172A"/>
                </a:solidFill>
              </a:rPr>
              <a:t>The Regulatory Cost Barrier: </a:t>
            </a:r>
            <a:r>
              <a:rPr>
                <a:solidFill>
                  <a:srgbClr val="475569"/>
                </a:solidFill>
              </a:rPr>
              <a:t>Reference-grade Beta Attenuation Monitors (BAM-1020) and Teledyne T640 spectrometers cost $30,000–$50,000 each with high recurring operational costs, resulting in fewer than 1 regulatory monitor per 10 million residents.</a:t>
            </a:r>
          </a:p>
          <a:p>
            <a:pPr>
              <a:spcAft>
                <a:spcPts val="800"/>
              </a:spcAft>
              <a:defRPr sz="1150">
                <a:latin typeface="Calibri"/>
              </a:defRPr>
            </a:pPr>
            <a:r>
              <a:rPr b="1">
                <a:solidFill>
                  <a:srgbClr val="0F172A"/>
                </a:solidFill>
              </a:rPr>
              <a:t>Low-Cost Sensor Opportunity: </a:t>
            </a:r>
            <a:r>
              <a:rPr>
                <a:solidFill>
                  <a:srgbClr val="475569"/>
                </a:solidFill>
              </a:rPr>
              <a:t>Low-cost optical particle counters ($150–$300) offer unprecedented spatial density, but suffer from catastrophic measurement errors in tropical climates without advanced calibration.</a:t>
            </a:r>
          </a:p>
        </p:txBody>
      </p:sp>
      <p:sp>
        <p:nvSpPr>
          <p:cNvPr id="6" name="Rounded Rectangle 5"/>
          <p:cNvSpPr/>
          <p:nvPr/>
        </p:nvSpPr>
        <p:spPr>
          <a:xfrm>
            <a:off x="6035040" y="1600200"/>
            <a:ext cx="5394960" cy="1051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72200" y="1709928"/>
            <a:ext cx="5120640" cy="832104"/>
          </a:xfrm>
          <a:prstGeom prst="rect">
            <a:avLst/>
          </a:prstGeom>
          <a:noFill/>
        </p:spPr>
        <p:txBody>
          <a:bodyPr wrap="square" lIns="0" rIns="0" tIns="0" bIns="0">
            <a:spAutoFit/>
          </a:bodyPr>
          <a:lstStyle/>
          <a:p>
            <a:pPr algn="ctr">
              <a:defRPr sz="2200" b="1">
                <a:solidFill>
                  <a:srgbClr val="E11D48"/>
                </a:solidFill>
                <a:latin typeface="Arial"/>
              </a:defRPr>
            </a:pPr>
            <a:r>
              <a:t>1.1 Million+</a:t>
            </a:r>
          </a:p>
          <a:p>
            <a:pPr algn="ctr">
              <a:spcBef>
                <a:spcPts val="300"/>
              </a:spcBef>
              <a:defRPr sz="1000" b="1">
                <a:solidFill>
                  <a:srgbClr val="0F172A"/>
                </a:solidFill>
                <a:latin typeface="Arial"/>
              </a:defRPr>
            </a:pPr>
            <a:r>
              <a:t>ANNUAL PREMATURE DEATHS IN AFRICA</a:t>
            </a:r>
          </a:p>
          <a:p>
            <a:pPr algn="ctr">
              <a:defRPr sz="950">
                <a:solidFill>
                  <a:srgbClr val="475569"/>
                </a:solidFill>
                <a:latin typeface="Calibri"/>
              </a:defRPr>
            </a:pPr>
            <a:r>
              <a:t>Attributable to ambient fine particulate matter (HEI, 2022)</a:t>
            </a:r>
          </a:p>
        </p:txBody>
      </p:sp>
      <p:sp>
        <p:nvSpPr>
          <p:cNvPr id="8" name="Rounded Rectangle 7"/>
          <p:cNvSpPr/>
          <p:nvPr/>
        </p:nvSpPr>
        <p:spPr>
          <a:xfrm>
            <a:off x="6035040" y="2761488"/>
            <a:ext cx="5394960" cy="1051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2871216"/>
            <a:ext cx="5120640" cy="832104"/>
          </a:xfrm>
          <a:prstGeom prst="rect">
            <a:avLst/>
          </a:prstGeom>
          <a:noFill/>
        </p:spPr>
        <p:txBody>
          <a:bodyPr wrap="square" lIns="0" rIns="0" tIns="0" bIns="0">
            <a:spAutoFit/>
          </a:bodyPr>
          <a:lstStyle/>
          <a:p>
            <a:pPr algn="ctr">
              <a:defRPr sz="2200" b="1">
                <a:solidFill>
                  <a:srgbClr val="000066"/>
                </a:solidFill>
                <a:latin typeface="Arial"/>
              </a:defRPr>
            </a:pPr>
            <a:r>
              <a:t>$30,000 – $50,000</a:t>
            </a:r>
          </a:p>
          <a:p>
            <a:pPr algn="ctr">
              <a:spcBef>
                <a:spcPts val="300"/>
              </a:spcBef>
              <a:defRPr sz="1000" b="1">
                <a:solidFill>
                  <a:srgbClr val="0F172A"/>
                </a:solidFill>
                <a:latin typeface="Arial"/>
              </a:defRPr>
            </a:pPr>
            <a:r>
              <a:t>REFERENCE MONITOR COST BARRIER</a:t>
            </a:r>
          </a:p>
          <a:p>
            <a:pPr algn="ctr">
              <a:defRPr sz="950">
                <a:solidFill>
                  <a:srgbClr val="475569"/>
                </a:solidFill>
                <a:latin typeface="Calibri"/>
              </a:defRPr>
            </a:pPr>
            <a:r>
              <a:t>Teledyne T640 / BAM-1020 capital expense per monitoring station</a:t>
            </a:r>
          </a:p>
        </p:txBody>
      </p:sp>
      <p:sp>
        <p:nvSpPr>
          <p:cNvPr id="10" name="Rounded Rectangle 9"/>
          <p:cNvSpPr/>
          <p:nvPr/>
        </p:nvSpPr>
        <p:spPr>
          <a:xfrm>
            <a:off x="6035040" y="3922776"/>
            <a:ext cx="5394960" cy="1051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72200" y="4032504"/>
            <a:ext cx="5120640" cy="832104"/>
          </a:xfrm>
          <a:prstGeom prst="rect">
            <a:avLst/>
          </a:prstGeom>
          <a:noFill/>
        </p:spPr>
        <p:txBody>
          <a:bodyPr wrap="square" lIns="0" rIns="0" tIns="0" bIns="0">
            <a:spAutoFit/>
          </a:bodyPr>
          <a:lstStyle/>
          <a:p>
            <a:pPr algn="ctr">
              <a:defRPr sz="2200" b="1">
                <a:solidFill>
                  <a:srgbClr val="DAA520"/>
                </a:solidFill>
                <a:latin typeface="Arial"/>
              </a:defRPr>
            </a:pPr>
            <a:r>
              <a:t>&lt; 1 Per 10M People</a:t>
            </a:r>
          </a:p>
          <a:p>
            <a:pPr algn="ctr">
              <a:spcBef>
                <a:spcPts val="300"/>
              </a:spcBef>
              <a:defRPr sz="1000" b="1">
                <a:solidFill>
                  <a:srgbClr val="0F172A"/>
                </a:solidFill>
                <a:latin typeface="Arial"/>
              </a:defRPr>
            </a:pPr>
            <a:r>
              <a:t>REGULATORY MONITORING DENSITY</a:t>
            </a:r>
          </a:p>
          <a:p>
            <a:pPr algn="ctr">
              <a:defRPr sz="950">
                <a:solidFill>
                  <a:srgbClr val="475569"/>
                </a:solidFill>
                <a:latin typeface="Calibri"/>
              </a:defRPr>
            </a:pPr>
            <a:r>
              <a:t>Severe spatial data void across West African population centers</a:t>
            </a:r>
          </a:p>
        </p:txBody>
      </p:sp>
      <p:sp>
        <p:nvSpPr>
          <p:cNvPr id="12" name="Rounded Rectangle 11"/>
          <p:cNvSpPr/>
          <p:nvPr/>
        </p:nvSpPr>
        <p:spPr>
          <a:xfrm>
            <a:off x="6035040" y="5084064"/>
            <a:ext cx="5394960" cy="950976"/>
          </a:xfrm>
          <a:prstGeom prst="roundRect">
            <a:avLst/>
          </a:prstGeom>
          <a:solidFill>
            <a:srgbClr val="F0F9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5138928"/>
            <a:ext cx="5029200" cy="841248"/>
          </a:xfrm>
          <a:prstGeom prst="rect">
            <a:avLst/>
          </a:prstGeom>
          <a:noFill/>
        </p:spPr>
        <p:txBody>
          <a:bodyPr wrap="square">
            <a:spAutoFit/>
          </a:bodyPr>
          <a:lstStyle/>
          <a:p>
            <a:pPr>
              <a:defRPr sz="1100" b="1">
                <a:solidFill>
                  <a:srgbClr val="2563EB"/>
                </a:solidFill>
                <a:latin typeface="Arial"/>
              </a:defRPr>
            </a:pPr>
            <a:r>
              <a:t>CORE RESEARCH MOTIVATION:</a:t>
            </a:r>
          </a:p>
          <a:p>
            <a:pPr>
              <a:defRPr sz="1100">
                <a:solidFill>
                  <a:srgbClr val="0F172A"/>
                </a:solidFill>
                <a:latin typeface="Calibri"/>
              </a:defRPr>
            </a:pPr>
            <a:r>
              <a:t>To bridge this $30,000 economic divide by transforming affordable $200 sensors into regulatory-grade environmental instruments via physics-informed machine learning.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01168"/>
            <a:ext cx="10698480" cy="1078992"/>
          </a:xfrm>
          <a:prstGeom prst="rect">
            <a:avLst/>
          </a:prstGeom>
          <a:noFill/>
        </p:spPr>
        <p:txBody>
          <a:bodyPr wrap="square" lIns="0" rIns="0" tIns="0" bIns="0">
            <a:spAutoFit/>
          </a:bodyPr>
          <a:lstStyle/>
          <a:p>
            <a:pPr>
              <a:spcAft>
                <a:spcPts val="200"/>
              </a:spcAft>
              <a:defRPr sz="1100" b="1">
                <a:solidFill>
                  <a:srgbClr val="DAA520"/>
                </a:solidFill>
                <a:latin typeface="Arial"/>
              </a:defRPr>
            </a:pPr>
            <a:r>
              <a:t>01 | INTRODUCTION</a:t>
            </a:r>
          </a:p>
          <a:p>
            <a:pPr>
              <a:defRPr sz="2000" b="1">
                <a:solidFill>
                  <a:srgbClr val="FFFFFF"/>
                </a:solidFill>
                <a:latin typeface="Arial"/>
              </a:defRPr>
            </a:pPr>
            <a:r>
              <a:t>Optical Particle Counters: Working Principles &amp; Physical Distortions</a:t>
            </a:r>
          </a:p>
        </p:txBody>
      </p:sp>
      <p:sp>
        <p:nvSpPr>
          <p:cNvPr id="3" name="TextBox 2"/>
          <p:cNvSpPr txBox="1"/>
          <p:nvPr/>
        </p:nvSpPr>
        <p:spPr>
          <a:xfrm>
            <a:off x="731520" y="6263640"/>
            <a:ext cx="8046720" cy="320040"/>
          </a:xfrm>
          <a:prstGeom prst="rect">
            <a:avLst/>
          </a:prstGeom>
          <a:noFill/>
        </p:spPr>
        <p:txBody>
          <a:bodyPr wrap="none" lIns="0" rIns="0" tIns="0" bIns="0">
            <a:spAutoFit/>
          </a:bodyPr>
          <a:lstStyle/>
          <a:p>
            <a:pPr>
              <a:defRPr sz="1000">
                <a:solidFill>
                  <a:srgbClr val="64748B"/>
                </a:solidFill>
                <a:latin typeface="Calibri"/>
              </a:defRPr>
            </a:pPr>
            <a:r>
              <a:t>Department of Computer Science • University of Ghana  |  SPIME v4 Defense  |  Slide 4 of 22</a:t>
            </a:r>
          </a:p>
        </p:txBody>
      </p:sp>
      <p:sp>
        <p:nvSpPr>
          <p:cNvPr id="4" name="Rounded Rectangle 3"/>
          <p:cNvSpPr/>
          <p:nvPr/>
        </p:nvSpPr>
        <p:spPr>
          <a:xfrm>
            <a:off x="731520" y="1600200"/>
            <a:ext cx="4937760" cy="4434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572000" cy="4069080"/>
          </a:xfrm>
          <a:prstGeom prst="rect">
            <a:avLst/>
          </a:prstGeom>
          <a:noFill/>
        </p:spPr>
        <p:txBody>
          <a:bodyPr wrap="square">
            <a:spAutoFit/>
          </a:bodyPr>
          <a:lstStyle/>
          <a:p>
            <a:pPr>
              <a:spcAft>
                <a:spcPts val="1000"/>
              </a:spcAft>
              <a:defRPr sz="1500" b="1">
                <a:solidFill>
                  <a:srgbClr val="2563EB"/>
                </a:solidFill>
                <a:latin typeface="Arial"/>
              </a:defRPr>
            </a:pPr>
            <a:r>
              <a:t>Optical Particle Counter (OPC) Mechanics</a:t>
            </a:r>
          </a:p>
          <a:p>
            <a:pPr>
              <a:spcAft>
                <a:spcPts val="800"/>
              </a:spcAft>
              <a:defRPr sz="1150">
                <a:latin typeface="Calibri"/>
              </a:defRPr>
            </a:pPr>
            <a:r>
              <a:rPr b="1">
                <a:solidFill>
                  <a:srgbClr val="0F172A"/>
                </a:solidFill>
              </a:rPr>
              <a:t>Mie Light Scattering: </a:t>
            </a:r>
            <a:r>
              <a:rPr>
                <a:solidFill>
                  <a:srgbClr val="475569"/>
                </a:solidFill>
              </a:rPr>
              <a:t>An internal infrared laser diode illuminates aerosol particles traversing the optical sensing chamber. A photo-detector captures scattered light pulses.</a:t>
            </a:r>
          </a:p>
          <a:p>
            <a:pPr>
              <a:spcAft>
                <a:spcPts val="800"/>
              </a:spcAft>
              <a:defRPr sz="1150">
                <a:latin typeface="Calibri"/>
              </a:defRPr>
            </a:pPr>
            <a:r>
              <a:rPr b="1">
                <a:solidFill>
                  <a:srgbClr val="0F172A"/>
                </a:solidFill>
              </a:rPr>
              <a:t>Pulse-Height Sizing: </a:t>
            </a:r>
            <a:r>
              <a:rPr>
                <a:solidFill>
                  <a:srgbClr val="475569"/>
                </a:solidFill>
              </a:rPr>
              <a:t>The intensity of scattered light scales with optical particle diameter, binning counts into size categories assuming spherical particles with constant refractive index (m = 1.5 + 0i).</a:t>
            </a:r>
          </a:p>
          <a:p>
            <a:pPr>
              <a:spcAft>
                <a:spcPts val="800"/>
              </a:spcAft>
              <a:defRPr sz="1150">
                <a:latin typeface="Calibri"/>
              </a:defRPr>
            </a:pPr>
            <a:r>
              <a:rPr b="1">
                <a:solidFill>
                  <a:srgbClr val="0F172A"/>
                </a:solidFill>
              </a:rPr>
              <a:t>Physical Distortion 1 (Hygroscopic Swelling): </a:t>
            </a:r>
            <a:r>
              <a:rPr>
                <a:solidFill>
                  <a:srgbClr val="475569"/>
                </a:solidFill>
              </a:rPr>
              <a:t>When relative humidity exceeds the Deliquescence point (~75%), soluble aerosols absorb ambient moisture and swell in size. The sensor counts water droplets as dry dust, inflating PM2.5 by up to 300%.</a:t>
            </a:r>
          </a:p>
          <a:p>
            <a:pPr>
              <a:spcAft>
                <a:spcPts val="800"/>
              </a:spcAft>
              <a:defRPr sz="1150">
                <a:latin typeface="Calibri"/>
              </a:defRPr>
            </a:pPr>
            <a:r>
              <a:rPr b="1">
                <a:solidFill>
                  <a:srgbClr val="0F172A"/>
                </a:solidFill>
              </a:rPr>
              <a:t>Physical Distortion 2 (Harmattan Coarse Dust): </a:t>
            </a:r>
            <a:r>
              <a:rPr>
                <a:solidFill>
                  <a:srgbClr val="475569"/>
                </a:solidFill>
              </a:rPr>
              <a:t>Irregular, non-spherical Saharan mineral dust grains cause optical scattering saturation, leading to severe under-counting in dry winter months.</a:t>
            </a:r>
          </a:p>
        </p:txBody>
      </p:sp>
      <p:sp>
        <p:nvSpPr>
          <p:cNvPr id="6" name="Rounded Rectangle 5"/>
          <p:cNvSpPr/>
          <p:nvPr/>
        </p:nvSpPr>
        <p:spPr>
          <a:xfrm>
            <a:off x="5943600" y="1600200"/>
            <a:ext cx="5486400" cy="4434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2_1_opc_working_principle.png"/>
          <p:cNvPicPr>
            <a:picLocks noChangeAspect="1"/>
          </p:cNvPicPr>
          <p:nvPr/>
        </p:nvPicPr>
        <p:blipFill>
          <a:blip r:embed="rId2"/>
          <a:stretch>
            <a:fillRect/>
          </a:stretch>
        </p:blipFill>
        <p:spPr>
          <a:xfrm>
            <a:off x="6126480" y="1783080"/>
            <a:ext cx="5120640" cy="2699974"/>
          </a:xfrm>
          <a:prstGeom prst="rect">
            <a:avLst/>
          </a:prstGeom>
        </p:spPr>
      </p:pic>
      <p:sp>
        <p:nvSpPr>
          <p:cNvPr id="8" name="TextBox 7"/>
          <p:cNvSpPr txBox="1"/>
          <p:nvPr/>
        </p:nvSpPr>
        <p:spPr>
          <a:xfrm>
            <a:off x="6035040" y="5532120"/>
            <a:ext cx="5303520" cy="411480"/>
          </a:xfrm>
          <a:prstGeom prst="rect">
            <a:avLst/>
          </a:prstGeom>
          <a:noFill/>
        </p:spPr>
        <p:txBody>
          <a:bodyPr wrap="none">
            <a:spAutoFit/>
          </a:bodyPr>
          <a:lstStyle/>
          <a:p>
            <a:pPr algn="ctr">
              <a:defRPr sz="1000" b="1">
                <a:solidFill>
                  <a:srgbClr val="475569"/>
                </a:solidFill>
                <a:latin typeface="Calibri"/>
              </a:defRPr>
            </a:pPr>
            <a:r>
              <a:t>Figure 2.1: Optical Particle Counter (OPC) Mie Scattering &amp; Hygroscopic Swelling Mechanism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01168"/>
            <a:ext cx="10698480" cy="1078992"/>
          </a:xfrm>
          <a:prstGeom prst="rect">
            <a:avLst/>
          </a:prstGeom>
          <a:noFill/>
        </p:spPr>
        <p:txBody>
          <a:bodyPr wrap="square" lIns="0" rIns="0" tIns="0" bIns="0">
            <a:spAutoFit/>
          </a:bodyPr>
          <a:lstStyle/>
          <a:p>
            <a:pPr>
              <a:spcAft>
                <a:spcPts val="200"/>
              </a:spcAft>
              <a:defRPr sz="1100" b="1">
                <a:solidFill>
                  <a:srgbClr val="DAA520"/>
                </a:solidFill>
                <a:latin typeface="Arial"/>
              </a:defRPr>
            </a:pPr>
            <a:r>
              <a:t>01 | INTRODUCTION</a:t>
            </a:r>
          </a:p>
          <a:p>
            <a:pPr>
              <a:defRPr sz="2000" b="1">
                <a:solidFill>
                  <a:srgbClr val="FFFFFF"/>
                </a:solidFill>
                <a:latin typeface="Arial"/>
              </a:defRPr>
            </a:pPr>
            <a:r>
              <a:t>Problem Statement &amp; Critical Gaps in Existing Calibration Methods</a:t>
            </a:r>
          </a:p>
        </p:txBody>
      </p:sp>
      <p:sp>
        <p:nvSpPr>
          <p:cNvPr id="3" name="TextBox 2"/>
          <p:cNvSpPr txBox="1"/>
          <p:nvPr/>
        </p:nvSpPr>
        <p:spPr>
          <a:xfrm>
            <a:off x="731520" y="6263640"/>
            <a:ext cx="8046720" cy="320040"/>
          </a:xfrm>
          <a:prstGeom prst="rect">
            <a:avLst/>
          </a:prstGeom>
          <a:noFill/>
        </p:spPr>
        <p:txBody>
          <a:bodyPr wrap="none" lIns="0" rIns="0" tIns="0" bIns="0">
            <a:spAutoFit/>
          </a:bodyPr>
          <a:lstStyle/>
          <a:p>
            <a:pPr>
              <a:defRPr sz="1000">
                <a:solidFill>
                  <a:srgbClr val="64748B"/>
                </a:solidFill>
                <a:latin typeface="Calibri"/>
              </a:defRPr>
            </a:pPr>
            <a:r>
              <a:t>Department of Computer Science • University of Ghana  |  SPIME v4 Defense  |  Slide 5 of 22</a:t>
            </a:r>
          </a:p>
        </p:txBody>
      </p:sp>
      <p:sp>
        <p:nvSpPr>
          <p:cNvPr id="4" name="Rounded Rectangle 3"/>
          <p:cNvSpPr/>
          <p:nvPr/>
        </p:nvSpPr>
        <p:spPr>
          <a:xfrm>
            <a:off x="731520" y="1600200"/>
            <a:ext cx="5212080" cy="2148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00200"/>
            <a:ext cx="109728" cy="2148840"/>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83080"/>
            <a:ext cx="4800600" cy="1828800"/>
          </a:xfrm>
          <a:prstGeom prst="rect">
            <a:avLst/>
          </a:prstGeom>
          <a:noFill/>
        </p:spPr>
        <p:txBody>
          <a:bodyPr wrap="square">
            <a:spAutoFit/>
          </a:bodyPr>
          <a:lstStyle/>
          <a:p>
            <a:pPr>
              <a:spcAft>
                <a:spcPts val="600"/>
              </a:spcAft>
              <a:defRPr sz="1350" b="1">
                <a:solidFill>
                  <a:srgbClr val="E11D48"/>
                </a:solidFill>
                <a:latin typeface="Arial"/>
              </a:defRPr>
            </a:pPr>
            <a:r>
              <a:t>1. Factory Calibration Breakdown</a:t>
            </a:r>
          </a:p>
          <a:p>
            <a:pPr>
              <a:defRPr sz="1100">
                <a:solidFill>
                  <a:srgbClr val="475569"/>
                </a:solidFill>
                <a:latin typeface="Calibri"/>
              </a:defRPr>
            </a:pPr>
            <a:r>
              <a:t>Factory calibration algorithms are derived in temperate laboratory chambers under low humidity. In West Africa's tropical climate, raw sensor readings collapse to near-zero correlation (R² = -0.0133, MAE = 5.30 µg/m³), rendering uncalibrated data scientifically invalid.</a:t>
            </a:r>
          </a:p>
        </p:txBody>
      </p:sp>
      <p:sp>
        <p:nvSpPr>
          <p:cNvPr id="7" name="Rounded Rectangle 6"/>
          <p:cNvSpPr/>
          <p:nvPr/>
        </p:nvSpPr>
        <p:spPr>
          <a:xfrm>
            <a:off x="6126480" y="1600200"/>
            <a:ext cx="5212080" cy="2148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26480" y="1600200"/>
            <a:ext cx="109728" cy="21488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83080"/>
            <a:ext cx="4800600" cy="1828800"/>
          </a:xfrm>
          <a:prstGeom prst="rect">
            <a:avLst/>
          </a:prstGeom>
          <a:noFill/>
        </p:spPr>
        <p:txBody>
          <a:bodyPr wrap="square">
            <a:spAutoFit/>
          </a:bodyPr>
          <a:lstStyle/>
          <a:p>
            <a:pPr>
              <a:spcAft>
                <a:spcPts val="600"/>
              </a:spcAft>
              <a:defRPr sz="1350" b="1">
                <a:solidFill>
                  <a:srgbClr val="F59E0B"/>
                </a:solidFill>
                <a:latin typeface="Arial"/>
              </a:defRPr>
            </a:pPr>
            <a:r>
              <a:t>2. Baseline ML Incapacity &amp; Linearity Assumptions</a:t>
            </a:r>
          </a:p>
          <a:p>
            <a:pPr>
              <a:defRPr sz="1100">
                <a:solidFill>
                  <a:srgbClr val="475569"/>
                </a:solidFill>
                <a:latin typeface="Calibri"/>
              </a:defRPr>
            </a:pPr>
            <a:r>
              <a:t>Standard linear models (R² = 0.6760) and multi-linear regressions assume linear meteorological responses. They fail to capture exponential hygroscopic growth past deliquescence thresholds and complex non-linear atmospheric interactions.</a:t>
            </a:r>
          </a:p>
        </p:txBody>
      </p:sp>
      <p:sp>
        <p:nvSpPr>
          <p:cNvPr id="10" name="Rounded Rectangle 9"/>
          <p:cNvSpPr/>
          <p:nvPr/>
        </p:nvSpPr>
        <p:spPr>
          <a:xfrm>
            <a:off x="731520" y="3886200"/>
            <a:ext cx="5212080" cy="2148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3886200"/>
            <a:ext cx="109728" cy="21488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069080"/>
            <a:ext cx="4800600" cy="1828800"/>
          </a:xfrm>
          <a:prstGeom prst="rect">
            <a:avLst/>
          </a:prstGeom>
          <a:noFill/>
        </p:spPr>
        <p:txBody>
          <a:bodyPr wrap="square">
            <a:spAutoFit/>
          </a:bodyPr>
          <a:lstStyle/>
          <a:p>
            <a:pPr>
              <a:spcAft>
                <a:spcPts val="600"/>
              </a:spcAft>
              <a:defRPr sz="1350" b="1">
                <a:solidFill>
                  <a:srgbClr val="2563EB"/>
                </a:solidFill>
                <a:latin typeface="Arial"/>
              </a:defRPr>
            </a:pPr>
            <a:r>
              <a:t>3. Deep Learning Overfitting &amp; Noise Memorization</a:t>
            </a:r>
          </a:p>
          <a:p>
            <a:pPr>
              <a:defRPr sz="1100">
                <a:solidFill>
                  <a:srgbClr val="475569"/>
                </a:solidFill>
                <a:latin typeface="Calibri"/>
              </a:defRPr>
            </a:pPr>
            <a:r>
              <a:t>Deep Neural Networks (MLP, LSTM) achieve high in-sample training fit (R² = 0.9232) but suffer catastrophic drops on holdout test sets (R² = 0.5214, ΔR² = +0.4018), memorizing microclimate noise rather than true atmospheric physics.</a:t>
            </a:r>
          </a:p>
        </p:txBody>
      </p:sp>
      <p:sp>
        <p:nvSpPr>
          <p:cNvPr id="13" name="Rounded Rectangle 12"/>
          <p:cNvSpPr/>
          <p:nvPr/>
        </p:nvSpPr>
        <p:spPr>
          <a:xfrm>
            <a:off x="6126480" y="3886200"/>
            <a:ext cx="5212080" cy="2148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26480" y="3886200"/>
            <a:ext cx="109728" cy="2148840"/>
          </a:xfrm>
          <a:prstGeom prst="rect">
            <a:avLst/>
          </a:prstGeom>
          <a:solidFill>
            <a:srgbClr val="0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069080"/>
            <a:ext cx="4800600" cy="1828800"/>
          </a:xfrm>
          <a:prstGeom prst="rect">
            <a:avLst/>
          </a:prstGeom>
          <a:noFill/>
        </p:spPr>
        <p:txBody>
          <a:bodyPr wrap="square">
            <a:spAutoFit/>
          </a:bodyPr>
          <a:lstStyle/>
          <a:p>
            <a:pPr>
              <a:spcAft>
                <a:spcPts val="600"/>
              </a:spcAft>
              <a:defRPr sz="1350" b="1">
                <a:solidFill>
                  <a:srgbClr val="000066"/>
                </a:solidFill>
                <a:latin typeface="Arial"/>
              </a:defRPr>
            </a:pPr>
            <a:r>
              <a:t>4. Neglect of Harmattan Mineral Dust Regimes</a:t>
            </a:r>
          </a:p>
          <a:p>
            <a:pPr>
              <a:defRPr sz="1100">
                <a:solidFill>
                  <a:srgbClr val="475569"/>
                </a:solidFill>
                <a:latin typeface="Calibri"/>
              </a:defRPr>
            </a:pPr>
            <a:r>
              <a:t>Existing calibration models developed in Europe or North America assume constant aerosol chemistry. They completely fail during the West African Harmattan season, where coarse Saharan dust shifts particle size distributions drastically.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01168"/>
            <a:ext cx="10698480" cy="1078992"/>
          </a:xfrm>
          <a:prstGeom prst="rect">
            <a:avLst/>
          </a:prstGeom>
          <a:noFill/>
        </p:spPr>
        <p:txBody>
          <a:bodyPr wrap="square" lIns="0" rIns="0" tIns="0" bIns="0">
            <a:spAutoFit/>
          </a:bodyPr>
          <a:lstStyle/>
          <a:p>
            <a:pPr>
              <a:spcAft>
                <a:spcPts val="200"/>
              </a:spcAft>
              <a:defRPr sz="1100" b="1">
                <a:solidFill>
                  <a:srgbClr val="DAA520"/>
                </a:solidFill>
                <a:latin typeface="Arial"/>
              </a:defRPr>
            </a:pPr>
            <a:r>
              <a:t>02 | OBJECTIVES</a:t>
            </a:r>
          </a:p>
          <a:p>
            <a:pPr>
              <a:defRPr sz="2000" b="1">
                <a:solidFill>
                  <a:srgbClr val="FFFFFF"/>
                </a:solidFill>
                <a:latin typeface="Arial"/>
              </a:defRPr>
            </a:pPr>
            <a:r>
              <a:t>Research Aim &amp; Specific Measurable Objectives</a:t>
            </a:r>
          </a:p>
        </p:txBody>
      </p:sp>
      <p:sp>
        <p:nvSpPr>
          <p:cNvPr id="3" name="TextBox 2"/>
          <p:cNvSpPr txBox="1"/>
          <p:nvPr/>
        </p:nvSpPr>
        <p:spPr>
          <a:xfrm>
            <a:off x="731520" y="6263640"/>
            <a:ext cx="8046720" cy="320040"/>
          </a:xfrm>
          <a:prstGeom prst="rect">
            <a:avLst/>
          </a:prstGeom>
          <a:noFill/>
        </p:spPr>
        <p:txBody>
          <a:bodyPr wrap="none" lIns="0" rIns="0" tIns="0" bIns="0">
            <a:spAutoFit/>
          </a:bodyPr>
          <a:lstStyle/>
          <a:p>
            <a:pPr>
              <a:defRPr sz="1000">
                <a:solidFill>
                  <a:srgbClr val="64748B"/>
                </a:solidFill>
                <a:latin typeface="Calibri"/>
              </a:defRPr>
            </a:pPr>
            <a:r>
              <a:t>Department of Computer Science • University of Ghana  |  SPIME v4 Defense  |  Slide 6 of 22</a:t>
            </a:r>
          </a:p>
        </p:txBody>
      </p:sp>
      <p:sp>
        <p:nvSpPr>
          <p:cNvPr id="4" name="Rounded Rectangle 3"/>
          <p:cNvSpPr/>
          <p:nvPr/>
        </p:nvSpPr>
        <p:spPr>
          <a:xfrm>
            <a:off x="731520" y="1600200"/>
            <a:ext cx="10698480" cy="1051560"/>
          </a:xfrm>
          <a:prstGeom prst="roundRect">
            <a:avLst/>
          </a:prstGeom>
          <a:solidFill>
            <a:srgbClr val="000066"/>
          </a:solidFill>
          <a:ln w="12700">
            <a:solidFill>
              <a:srgbClr val="DAA5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91640"/>
            <a:ext cx="10149840" cy="868680"/>
          </a:xfrm>
          <a:prstGeom prst="rect">
            <a:avLst/>
          </a:prstGeom>
          <a:noFill/>
        </p:spPr>
        <p:txBody>
          <a:bodyPr wrap="square">
            <a:spAutoFit/>
          </a:bodyPr>
          <a:lstStyle/>
          <a:p>
            <a:pPr>
              <a:spcAft>
                <a:spcPts val="200"/>
              </a:spcAft>
              <a:defRPr sz="1100" b="1">
                <a:solidFill>
                  <a:srgbClr val="DAA520"/>
                </a:solidFill>
                <a:latin typeface="Arial"/>
              </a:defRPr>
            </a:pPr>
            <a:r>
              <a:t>PRIMARY RESEARCH AIM</a:t>
            </a:r>
          </a:p>
          <a:p>
            <a:pPr>
              <a:defRPr sz="1250">
                <a:solidFill>
                  <a:srgbClr val="FFFFFF"/>
                </a:solidFill>
                <a:latin typeface="Calibri"/>
              </a:defRPr>
            </a:pPr>
            <a:r>
              <a:t>To design, evaluate, and deploy a physics-informed, non-overfitting machine learning calibration framework (SPIME v4) that elevates low-cost OPC sensors to regulatory-grade accuracy across tropical wet and Harmattan dust seasons in Sub-Saharan Africa.</a:t>
            </a:r>
          </a:p>
        </p:txBody>
      </p:sp>
      <p:sp>
        <p:nvSpPr>
          <p:cNvPr id="6" name="Rounded Rectangle 5"/>
          <p:cNvSpPr/>
          <p:nvPr/>
        </p:nvSpPr>
        <p:spPr>
          <a:xfrm>
            <a:off x="731520" y="2788920"/>
            <a:ext cx="10698480" cy="74980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862072"/>
            <a:ext cx="10149840" cy="603503"/>
          </a:xfrm>
          <a:prstGeom prst="rect">
            <a:avLst/>
          </a:prstGeom>
          <a:noFill/>
        </p:spPr>
        <p:txBody>
          <a:bodyPr wrap="square">
            <a:spAutoFit/>
          </a:bodyPr>
          <a:lstStyle/>
          <a:p>
            <a:pPr>
              <a:defRPr sz="1250" b="1">
                <a:solidFill>
                  <a:srgbClr val="2563EB"/>
                </a:solidFill>
                <a:latin typeface="Arial"/>
              </a:defRPr>
            </a:pPr>
            <a:r>
              <a:t>Objective 1: Physics-Informed Feature Engineering</a:t>
            </a:r>
          </a:p>
          <a:p>
            <a:pPr>
              <a:defRPr sz="1050">
                <a:solidFill>
                  <a:srgbClr val="475569"/>
                </a:solidFill>
                <a:latin typeface="Calibri"/>
              </a:defRPr>
            </a:pPr>
            <a:r>
              <a:t>Formulate a 75-dimensional feature space integrating multi-gamma empirical Köhler swelling models, thermodynamic moisture terms, EWMA lag dynamics, and seasonal Harmattan coarse dust ratios.</a:t>
            </a:r>
          </a:p>
        </p:txBody>
      </p:sp>
      <p:sp>
        <p:nvSpPr>
          <p:cNvPr id="8" name="Rounded Rectangle 7"/>
          <p:cNvSpPr/>
          <p:nvPr/>
        </p:nvSpPr>
        <p:spPr>
          <a:xfrm>
            <a:off x="731520" y="3630168"/>
            <a:ext cx="10698480" cy="74980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703320"/>
            <a:ext cx="10149840" cy="603503"/>
          </a:xfrm>
          <a:prstGeom prst="rect">
            <a:avLst/>
          </a:prstGeom>
          <a:noFill/>
        </p:spPr>
        <p:txBody>
          <a:bodyPr wrap="square">
            <a:spAutoFit/>
          </a:bodyPr>
          <a:lstStyle/>
          <a:p>
            <a:pPr>
              <a:defRPr sz="1250" b="1">
                <a:solidFill>
                  <a:srgbClr val="2563EB"/>
                </a:solidFill>
                <a:latin typeface="Arial"/>
              </a:defRPr>
            </a:pPr>
            <a:r>
              <a:t>Objective 2: Hierarchical Stacking Architecture</a:t>
            </a:r>
          </a:p>
          <a:p>
            <a:pPr>
              <a:defRPr sz="1050">
                <a:solidFill>
                  <a:srgbClr val="475569"/>
                </a:solidFill>
                <a:latin typeface="Calibri"/>
              </a:defRPr>
            </a:pPr>
            <a:r>
              <a:t>Develop a multi-stage stacking meta-ensemble (SPIME v4) combining diverse base learners (LightGBM, Random Forest, Extra Trees, Gradient Boosting) via an L2-regularized Ridge meta-regressor.</a:t>
            </a:r>
          </a:p>
        </p:txBody>
      </p:sp>
      <p:sp>
        <p:nvSpPr>
          <p:cNvPr id="10" name="Rounded Rectangle 9"/>
          <p:cNvSpPr/>
          <p:nvPr/>
        </p:nvSpPr>
        <p:spPr>
          <a:xfrm>
            <a:off x="731520" y="4471416"/>
            <a:ext cx="10698480" cy="74980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544568"/>
            <a:ext cx="10149840" cy="603503"/>
          </a:xfrm>
          <a:prstGeom prst="rect">
            <a:avLst/>
          </a:prstGeom>
          <a:noFill/>
        </p:spPr>
        <p:txBody>
          <a:bodyPr wrap="square">
            <a:spAutoFit/>
          </a:bodyPr>
          <a:lstStyle/>
          <a:p>
            <a:pPr>
              <a:defRPr sz="1250" b="1">
                <a:solidFill>
                  <a:srgbClr val="2563EB"/>
                </a:solidFill>
                <a:latin typeface="Arial"/>
              </a:defRPr>
            </a:pPr>
            <a:r>
              <a:t>Objective 3: Rigorous Holdout &amp; Anti-Overfitting Validation</a:t>
            </a:r>
          </a:p>
          <a:p>
            <a:pPr>
              <a:defRPr sz="1050">
                <a:solidFill>
                  <a:srgbClr val="475569"/>
                </a:solidFill>
                <a:latin typeface="Calibri"/>
              </a:defRPr>
            </a:pPr>
            <a:r>
              <a:t>Benchmark calibration accuracy on an unseen 6-month chronological holdout dataset (3,468 hourly records) under 5-Fold out-of-fold cross-validation to guarantee zero generalization loss.</a:t>
            </a:r>
          </a:p>
        </p:txBody>
      </p:sp>
      <p:sp>
        <p:nvSpPr>
          <p:cNvPr id="12" name="Rounded Rectangle 11"/>
          <p:cNvSpPr/>
          <p:nvPr/>
        </p:nvSpPr>
        <p:spPr>
          <a:xfrm>
            <a:off x="731520" y="5312664"/>
            <a:ext cx="10698480" cy="749808"/>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85816"/>
            <a:ext cx="10149840" cy="603503"/>
          </a:xfrm>
          <a:prstGeom prst="rect">
            <a:avLst/>
          </a:prstGeom>
          <a:noFill/>
        </p:spPr>
        <p:txBody>
          <a:bodyPr wrap="square">
            <a:spAutoFit/>
          </a:bodyPr>
          <a:lstStyle/>
          <a:p>
            <a:pPr>
              <a:defRPr sz="1250" b="1">
                <a:solidFill>
                  <a:srgbClr val="2563EB"/>
                </a:solidFill>
                <a:latin typeface="Arial"/>
              </a:defRPr>
            </a:pPr>
            <a:r>
              <a:t>Objective 4: Operational Edge/Cloud Deployment</a:t>
            </a:r>
          </a:p>
          <a:p>
            <a:pPr>
              <a:defRPr sz="1050">
                <a:solidFill>
                  <a:srgbClr val="475569"/>
                </a:solidFill>
                <a:latin typeface="Calibri"/>
              </a:defRPr>
            </a:pPr>
            <a:r>
              <a:t>Package the complete calibrated pipeline into an open-source, containerized microservice (FastAPI/Docker) with sub-10ms inference and automated EPA AQI calculation.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01168"/>
            <a:ext cx="10698480" cy="1078992"/>
          </a:xfrm>
          <a:prstGeom prst="rect">
            <a:avLst/>
          </a:prstGeom>
          <a:noFill/>
        </p:spPr>
        <p:txBody>
          <a:bodyPr wrap="square" lIns="0" rIns="0" tIns="0" bIns="0">
            <a:spAutoFit/>
          </a:bodyPr>
          <a:lstStyle/>
          <a:p>
            <a:pPr>
              <a:spcAft>
                <a:spcPts val="200"/>
              </a:spcAft>
              <a:defRPr sz="1100" b="1">
                <a:solidFill>
                  <a:srgbClr val="DAA520"/>
                </a:solidFill>
                <a:latin typeface="Arial"/>
              </a:defRPr>
            </a:pPr>
            <a:r>
              <a:t>03 | METHODOLOGY</a:t>
            </a:r>
          </a:p>
          <a:p>
            <a:pPr>
              <a:defRPr sz="2000" b="1">
                <a:solidFill>
                  <a:srgbClr val="FFFFFF"/>
                </a:solidFill>
                <a:latin typeface="Arial"/>
              </a:defRPr>
            </a:pPr>
            <a:r>
              <a:t>Experimental Platform: Co-location Setup &amp; Instrumentation</a:t>
            </a:r>
          </a:p>
        </p:txBody>
      </p:sp>
      <p:sp>
        <p:nvSpPr>
          <p:cNvPr id="3" name="TextBox 2"/>
          <p:cNvSpPr txBox="1"/>
          <p:nvPr/>
        </p:nvSpPr>
        <p:spPr>
          <a:xfrm>
            <a:off x="731520" y="6263640"/>
            <a:ext cx="8046720" cy="320040"/>
          </a:xfrm>
          <a:prstGeom prst="rect">
            <a:avLst/>
          </a:prstGeom>
          <a:noFill/>
        </p:spPr>
        <p:txBody>
          <a:bodyPr wrap="none" lIns="0" rIns="0" tIns="0" bIns="0">
            <a:spAutoFit/>
          </a:bodyPr>
          <a:lstStyle/>
          <a:p>
            <a:pPr>
              <a:defRPr sz="1000">
                <a:solidFill>
                  <a:srgbClr val="64748B"/>
                </a:solidFill>
                <a:latin typeface="Calibri"/>
              </a:defRPr>
            </a:pPr>
            <a:r>
              <a:t>Department of Computer Science • University of Ghana  |  SPIME v4 Defense  |  Slide 7 of 22</a:t>
            </a:r>
          </a:p>
        </p:txBody>
      </p:sp>
      <p:sp>
        <p:nvSpPr>
          <p:cNvPr id="4" name="Rounded Rectangle 3"/>
          <p:cNvSpPr/>
          <p:nvPr/>
        </p:nvSpPr>
        <p:spPr>
          <a:xfrm>
            <a:off x="731520" y="1600200"/>
            <a:ext cx="5029200" cy="4434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783080"/>
            <a:ext cx="4572000" cy="4069080"/>
          </a:xfrm>
          <a:prstGeom prst="rect">
            <a:avLst/>
          </a:prstGeom>
          <a:noFill/>
        </p:spPr>
        <p:txBody>
          <a:bodyPr wrap="square">
            <a:spAutoFit/>
          </a:bodyPr>
          <a:lstStyle/>
          <a:p>
            <a:pPr>
              <a:spcAft>
                <a:spcPts val="1000"/>
              </a:spcAft>
              <a:defRPr sz="1500" b="1">
                <a:solidFill>
                  <a:srgbClr val="2563EB"/>
                </a:solidFill>
                <a:latin typeface="Arial"/>
              </a:defRPr>
            </a:pPr>
            <a:r>
              <a:t>Co-location Monitoring Infrastructure</a:t>
            </a:r>
          </a:p>
          <a:p>
            <a:pPr>
              <a:spcAft>
                <a:spcPts val="800"/>
              </a:spcAft>
              <a:defRPr sz="1150">
                <a:latin typeface="Calibri"/>
              </a:defRPr>
            </a:pPr>
            <a:r>
              <a:rPr b="1">
                <a:solidFill>
                  <a:srgbClr val="0F172A"/>
                </a:solidFill>
              </a:rPr>
              <a:t>Research Facility: </a:t>
            </a:r>
            <a:r>
              <a:rPr>
                <a:solidFill>
                  <a:srgbClr val="475569"/>
                </a:solidFill>
              </a:rPr>
              <a:t>African Sensor Evaluation and Training Facility (Afri-SET), Department of Physics, University of Ghana, Legon (Accra, Ghana).</a:t>
            </a:r>
          </a:p>
          <a:p>
            <a:pPr>
              <a:spcAft>
                <a:spcPts val="800"/>
              </a:spcAft>
              <a:defRPr sz="1150">
                <a:latin typeface="Calibri"/>
              </a:defRPr>
            </a:pPr>
            <a:r>
              <a:rPr b="1">
                <a:solidFill>
                  <a:srgbClr val="0F172A"/>
                </a:solidFill>
              </a:rPr>
              <a:t>Low-Cost Sensor Device: </a:t>
            </a:r>
            <a:r>
              <a:rPr>
                <a:solidFill>
                  <a:srgbClr val="475569"/>
                </a:solidFill>
              </a:rPr>
              <a:t>QuantAQ Modulair-PM (MOD-PM-01068) equipped with optical particle counter (OPC-N3) measuring PM1, PM2.5, PM10, relative humidity, temperature, and dew point.</a:t>
            </a:r>
          </a:p>
          <a:p>
            <a:pPr>
              <a:spcAft>
                <a:spcPts val="800"/>
              </a:spcAft>
              <a:defRPr sz="1150">
                <a:latin typeface="Calibri"/>
              </a:defRPr>
            </a:pPr>
            <a:r>
              <a:rPr b="1">
                <a:solidFill>
                  <a:srgbClr val="0F172A"/>
                </a:solidFill>
              </a:rPr>
              <a:t>Regulatory Gold Standard: </a:t>
            </a:r>
            <a:r>
              <a:rPr>
                <a:solidFill>
                  <a:srgbClr val="475569"/>
                </a:solidFill>
              </a:rPr>
              <a:t>Teledyne API T640 US EPA Federal Equivalent Method (FEM) continuous ambient particulate spectrometer providing true ground-truth PM2.5 mass concentrations.</a:t>
            </a:r>
          </a:p>
          <a:p>
            <a:pPr>
              <a:spcAft>
                <a:spcPts val="800"/>
              </a:spcAft>
              <a:defRPr sz="1150">
                <a:latin typeface="Calibri"/>
              </a:defRPr>
            </a:pPr>
            <a:r>
              <a:rPr b="1">
                <a:solidFill>
                  <a:srgbClr val="0F172A"/>
                </a:solidFill>
              </a:rPr>
              <a:t>Environmental Scope: </a:t>
            </a:r>
            <a:r>
              <a:rPr>
                <a:solidFill>
                  <a:srgbClr val="475569"/>
                </a:solidFill>
              </a:rPr>
              <a:t>Continuous hourly co-location data spanning over a full annual cycle, capturing intense tropical monsoon rainfall and dry Saharan dust storms.</a:t>
            </a:r>
          </a:p>
        </p:txBody>
      </p:sp>
      <p:sp>
        <p:nvSpPr>
          <p:cNvPr id="6" name="Rounded Rectangle 5"/>
          <p:cNvSpPr/>
          <p:nvPr/>
        </p:nvSpPr>
        <p:spPr>
          <a:xfrm>
            <a:off x="6035040" y="1600200"/>
            <a:ext cx="5394960" cy="1051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72200" y="1709928"/>
            <a:ext cx="5120640" cy="832104"/>
          </a:xfrm>
          <a:prstGeom prst="rect">
            <a:avLst/>
          </a:prstGeom>
          <a:noFill/>
        </p:spPr>
        <p:txBody>
          <a:bodyPr wrap="square" lIns="0" rIns="0" tIns="0" bIns="0">
            <a:spAutoFit/>
          </a:bodyPr>
          <a:lstStyle/>
          <a:p>
            <a:pPr algn="ctr">
              <a:defRPr sz="2200" b="1">
                <a:solidFill>
                  <a:srgbClr val="000066"/>
                </a:solidFill>
                <a:latin typeface="Arial"/>
              </a:defRPr>
            </a:pPr>
            <a:r>
              <a:t>Afri-SET Facility</a:t>
            </a:r>
          </a:p>
          <a:p>
            <a:pPr algn="ctr">
              <a:spcBef>
                <a:spcPts val="300"/>
              </a:spcBef>
              <a:defRPr sz="1000" b="1">
                <a:solidFill>
                  <a:srgbClr val="0F172A"/>
                </a:solidFill>
                <a:latin typeface="Arial"/>
              </a:defRPr>
            </a:pPr>
            <a:r>
              <a:t>TESTING &amp; EVALUATION HUB</a:t>
            </a:r>
          </a:p>
          <a:p>
            <a:pPr algn="ctr">
              <a:defRPr sz="950">
                <a:solidFill>
                  <a:srgbClr val="475569"/>
                </a:solidFill>
                <a:latin typeface="Calibri"/>
              </a:defRPr>
            </a:pPr>
            <a:r>
              <a:t>Department of Physics, University of Ghana, Legon</a:t>
            </a:r>
          </a:p>
        </p:txBody>
      </p:sp>
      <p:sp>
        <p:nvSpPr>
          <p:cNvPr id="8" name="Rounded Rectangle 7"/>
          <p:cNvSpPr/>
          <p:nvPr/>
        </p:nvSpPr>
        <p:spPr>
          <a:xfrm>
            <a:off x="6035040" y="2761488"/>
            <a:ext cx="5394960" cy="1051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2871216"/>
            <a:ext cx="5120640" cy="832104"/>
          </a:xfrm>
          <a:prstGeom prst="rect">
            <a:avLst/>
          </a:prstGeom>
          <a:noFill/>
        </p:spPr>
        <p:txBody>
          <a:bodyPr wrap="square" lIns="0" rIns="0" tIns="0" bIns="0">
            <a:spAutoFit/>
          </a:bodyPr>
          <a:lstStyle/>
          <a:p>
            <a:pPr algn="ctr">
              <a:defRPr sz="2200" b="1">
                <a:solidFill>
                  <a:srgbClr val="059669"/>
                </a:solidFill>
                <a:latin typeface="Arial"/>
              </a:defRPr>
            </a:pPr>
            <a:r>
              <a:t>Teledyne API T640</a:t>
            </a:r>
          </a:p>
          <a:p>
            <a:pPr algn="ctr">
              <a:spcBef>
                <a:spcPts val="300"/>
              </a:spcBef>
              <a:defRPr sz="1000" b="1">
                <a:solidFill>
                  <a:srgbClr val="0F172A"/>
                </a:solidFill>
                <a:latin typeface="Arial"/>
              </a:defRPr>
            </a:pPr>
            <a:r>
              <a:t>REGULATORY GOLD STANDARD</a:t>
            </a:r>
          </a:p>
          <a:p>
            <a:pPr algn="ctr">
              <a:defRPr sz="950">
                <a:solidFill>
                  <a:srgbClr val="475569"/>
                </a:solidFill>
                <a:latin typeface="Calibri"/>
              </a:defRPr>
            </a:pPr>
            <a:r>
              <a:t>US EPA FEM Certified Continuous Ambient Spectrometer</a:t>
            </a:r>
          </a:p>
        </p:txBody>
      </p:sp>
      <p:sp>
        <p:nvSpPr>
          <p:cNvPr id="10" name="Rounded Rectangle 9"/>
          <p:cNvSpPr/>
          <p:nvPr/>
        </p:nvSpPr>
        <p:spPr>
          <a:xfrm>
            <a:off x="6035040" y="3922776"/>
            <a:ext cx="5394960" cy="1051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72200" y="4032504"/>
            <a:ext cx="5120640" cy="832104"/>
          </a:xfrm>
          <a:prstGeom prst="rect">
            <a:avLst/>
          </a:prstGeom>
          <a:noFill/>
        </p:spPr>
        <p:txBody>
          <a:bodyPr wrap="square" lIns="0" rIns="0" tIns="0" bIns="0">
            <a:spAutoFit/>
          </a:bodyPr>
          <a:lstStyle/>
          <a:p>
            <a:pPr algn="ctr">
              <a:defRPr sz="2200" b="1">
                <a:solidFill>
                  <a:srgbClr val="DAA520"/>
                </a:solidFill>
                <a:latin typeface="Arial"/>
              </a:defRPr>
            </a:pPr>
            <a:r>
              <a:t>3,468 Hourly Records</a:t>
            </a:r>
          </a:p>
          <a:p>
            <a:pPr algn="ctr">
              <a:spcBef>
                <a:spcPts val="300"/>
              </a:spcBef>
              <a:defRPr sz="1000" b="1">
                <a:solidFill>
                  <a:srgbClr val="0F172A"/>
                </a:solidFill>
                <a:latin typeface="Arial"/>
              </a:defRPr>
            </a:pPr>
            <a:r>
              <a:t>6-MONTH UNSEEN HOLDOUT SET</a:t>
            </a:r>
          </a:p>
          <a:p>
            <a:pPr algn="ctr">
              <a:defRPr sz="950">
                <a:solidFill>
                  <a:srgbClr val="475569"/>
                </a:solidFill>
                <a:latin typeface="Calibri"/>
              </a:defRPr>
            </a:pPr>
            <a:r>
              <a:t>Strictly out-of-sample temporal evaluation dataset</a:t>
            </a:r>
          </a:p>
        </p:txBody>
      </p:sp>
      <p:sp>
        <p:nvSpPr>
          <p:cNvPr id="12" name="Rounded Rectangle 11"/>
          <p:cNvSpPr/>
          <p:nvPr/>
        </p:nvSpPr>
        <p:spPr>
          <a:xfrm>
            <a:off x="6035040" y="5084064"/>
            <a:ext cx="5394960" cy="950976"/>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5138928"/>
            <a:ext cx="5029200" cy="841248"/>
          </a:xfrm>
          <a:prstGeom prst="rect">
            <a:avLst/>
          </a:prstGeom>
          <a:noFill/>
        </p:spPr>
        <p:txBody>
          <a:bodyPr wrap="square">
            <a:spAutoFit/>
          </a:bodyPr>
          <a:lstStyle/>
          <a:p>
            <a:pPr>
              <a:defRPr sz="1100" b="1">
                <a:solidFill>
                  <a:srgbClr val="0F172A"/>
                </a:solidFill>
                <a:latin typeface="Arial"/>
              </a:defRPr>
            </a:pPr>
            <a:r>
              <a:t>DATA INTEGRITY PROTOCOL:</a:t>
            </a:r>
          </a:p>
          <a:p>
            <a:pPr>
              <a:defRPr sz="1100">
                <a:solidFill>
                  <a:srgbClr val="475569"/>
                </a:solidFill>
                <a:latin typeface="Calibri"/>
              </a:defRPr>
            </a:pPr>
            <a:r>
              <a:t>Strict quality assurance: sample flow rate stabilization, removal of negative particulate readings, and chronological alignment ensuring zero temporal data leakage.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01168"/>
            <a:ext cx="10698480" cy="1078992"/>
          </a:xfrm>
          <a:prstGeom prst="rect">
            <a:avLst/>
          </a:prstGeom>
          <a:noFill/>
        </p:spPr>
        <p:txBody>
          <a:bodyPr wrap="square" lIns="0" rIns="0" tIns="0" bIns="0">
            <a:spAutoFit/>
          </a:bodyPr>
          <a:lstStyle/>
          <a:p>
            <a:pPr>
              <a:spcAft>
                <a:spcPts val="200"/>
              </a:spcAft>
              <a:defRPr sz="1100" b="1">
                <a:solidFill>
                  <a:srgbClr val="DAA520"/>
                </a:solidFill>
                <a:latin typeface="Arial"/>
              </a:defRPr>
            </a:pPr>
            <a:r>
              <a:t>03 | METHODOLOGY</a:t>
            </a:r>
          </a:p>
          <a:p>
            <a:pPr>
              <a:defRPr sz="2000" b="1">
                <a:solidFill>
                  <a:srgbClr val="FFFFFF"/>
                </a:solidFill>
                <a:latin typeface="Arial"/>
              </a:defRPr>
            </a:pPr>
            <a:r>
              <a:t>End-to-End Machine Learning Calibration Pipeline</a:t>
            </a:r>
          </a:p>
        </p:txBody>
      </p:sp>
      <p:sp>
        <p:nvSpPr>
          <p:cNvPr id="3" name="TextBox 2"/>
          <p:cNvSpPr txBox="1"/>
          <p:nvPr/>
        </p:nvSpPr>
        <p:spPr>
          <a:xfrm>
            <a:off x="731520" y="6263640"/>
            <a:ext cx="8046720" cy="320040"/>
          </a:xfrm>
          <a:prstGeom prst="rect">
            <a:avLst/>
          </a:prstGeom>
          <a:noFill/>
        </p:spPr>
        <p:txBody>
          <a:bodyPr wrap="none" lIns="0" rIns="0" tIns="0" bIns="0">
            <a:spAutoFit/>
          </a:bodyPr>
          <a:lstStyle/>
          <a:p>
            <a:pPr>
              <a:defRPr sz="1000">
                <a:solidFill>
                  <a:srgbClr val="64748B"/>
                </a:solidFill>
                <a:latin typeface="Calibri"/>
              </a:defRPr>
            </a:pPr>
            <a:r>
              <a:t>Department of Computer Science • University of Ghana  |  SPIME v4 Defense  |  Slide 8 of 22</a:t>
            </a:r>
          </a:p>
        </p:txBody>
      </p:sp>
      <p:sp>
        <p:nvSpPr>
          <p:cNvPr id="4" name="Rounded Rectangle 3"/>
          <p:cNvSpPr/>
          <p:nvPr/>
        </p:nvSpPr>
        <p:spPr>
          <a:xfrm>
            <a:off x="731520" y="1600200"/>
            <a:ext cx="10698480" cy="4434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3_2_calibration_pipeline.png"/>
          <p:cNvPicPr>
            <a:picLocks noChangeAspect="1"/>
          </p:cNvPicPr>
          <p:nvPr/>
        </p:nvPicPr>
        <p:blipFill>
          <a:blip r:embed="rId2"/>
          <a:stretch>
            <a:fillRect/>
          </a:stretch>
        </p:blipFill>
        <p:spPr>
          <a:xfrm>
            <a:off x="914400" y="1783080"/>
            <a:ext cx="10332720" cy="3749039"/>
          </a:xfrm>
          <a:prstGeom prst="rect">
            <a:avLst/>
          </a:prstGeom>
        </p:spPr>
      </p:pic>
      <p:sp>
        <p:nvSpPr>
          <p:cNvPr id="6" name="TextBox 5"/>
          <p:cNvSpPr txBox="1"/>
          <p:nvPr/>
        </p:nvSpPr>
        <p:spPr>
          <a:xfrm>
            <a:off x="914400" y="5623560"/>
            <a:ext cx="10332720" cy="365760"/>
          </a:xfrm>
          <a:prstGeom prst="rect">
            <a:avLst/>
          </a:prstGeom>
          <a:noFill/>
        </p:spPr>
        <p:txBody>
          <a:bodyPr wrap="none">
            <a:spAutoFit/>
          </a:bodyPr>
          <a:lstStyle/>
          <a:p>
            <a:pPr algn="ctr">
              <a:defRPr sz="1100" b="1">
                <a:solidFill>
                  <a:srgbClr val="475569"/>
                </a:solidFill>
                <a:latin typeface="Calibri"/>
              </a:defRPr>
            </a:pPr>
            <a:r>
              <a:t>Figure 3.2: Five-Stage Physics-Informed Machine Learning Calibration Pipeline (Ingestion -&gt; Physics Engineering -&gt; 5-Fold OOF Stacking -&gt; Meta-Inference -&gt; Production Deployment)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01168"/>
            <a:ext cx="10698480" cy="1078992"/>
          </a:xfrm>
          <a:prstGeom prst="rect">
            <a:avLst/>
          </a:prstGeom>
          <a:noFill/>
        </p:spPr>
        <p:txBody>
          <a:bodyPr wrap="square" lIns="0" rIns="0" tIns="0" bIns="0">
            <a:spAutoFit/>
          </a:bodyPr>
          <a:lstStyle/>
          <a:p>
            <a:pPr>
              <a:spcAft>
                <a:spcPts val="200"/>
              </a:spcAft>
              <a:defRPr sz="1100" b="1">
                <a:solidFill>
                  <a:srgbClr val="DAA520"/>
                </a:solidFill>
                <a:latin typeface="Arial"/>
              </a:defRPr>
            </a:pPr>
            <a:r>
              <a:t>03 | METHODOLOGY</a:t>
            </a:r>
          </a:p>
          <a:p>
            <a:pPr>
              <a:defRPr sz="2000" b="1">
                <a:solidFill>
                  <a:srgbClr val="FFFFFF"/>
                </a:solidFill>
                <a:latin typeface="Arial"/>
              </a:defRPr>
            </a:pPr>
            <a:r>
              <a:t>75-Dimensional Physics-Informed Feature Engineering</a:t>
            </a:r>
          </a:p>
        </p:txBody>
      </p:sp>
      <p:sp>
        <p:nvSpPr>
          <p:cNvPr id="3" name="TextBox 2"/>
          <p:cNvSpPr txBox="1"/>
          <p:nvPr/>
        </p:nvSpPr>
        <p:spPr>
          <a:xfrm>
            <a:off x="731520" y="6263640"/>
            <a:ext cx="8046720" cy="320040"/>
          </a:xfrm>
          <a:prstGeom prst="rect">
            <a:avLst/>
          </a:prstGeom>
          <a:noFill/>
        </p:spPr>
        <p:txBody>
          <a:bodyPr wrap="none" lIns="0" rIns="0" tIns="0" bIns="0">
            <a:spAutoFit/>
          </a:bodyPr>
          <a:lstStyle/>
          <a:p>
            <a:pPr>
              <a:defRPr sz="1000">
                <a:solidFill>
                  <a:srgbClr val="64748B"/>
                </a:solidFill>
                <a:latin typeface="Calibri"/>
              </a:defRPr>
            </a:pPr>
            <a:r>
              <a:t>Department of Computer Science • University of Ghana  |  SPIME v4 Defense  |  Slide 9 of 22</a:t>
            </a:r>
          </a:p>
        </p:txBody>
      </p:sp>
      <p:sp>
        <p:nvSpPr>
          <p:cNvPr id="4" name="Rounded Rectangle 3"/>
          <p:cNvSpPr/>
          <p:nvPr/>
        </p:nvSpPr>
        <p:spPr>
          <a:xfrm>
            <a:off x="731520" y="1600200"/>
            <a:ext cx="5212080" cy="2148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00200"/>
            <a:ext cx="109728" cy="21488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83080"/>
            <a:ext cx="4800600" cy="1828800"/>
          </a:xfrm>
          <a:prstGeom prst="rect">
            <a:avLst/>
          </a:prstGeom>
          <a:noFill/>
        </p:spPr>
        <p:txBody>
          <a:bodyPr wrap="square">
            <a:spAutoFit/>
          </a:bodyPr>
          <a:lstStyle/>
          <a:p>
            <a:pPr>
              <a:spcAft>
                <a:spcPts val="600"/>
              </a:spcAft>
              <a:defRPr sz="1350" b="1">
                <a:solidFill>
                  <a:srgbClr val="2563EB"/>
                </a:solidFill>
                <a:latin typeface="Arial"/>
              </a:defRPr>
            </a:pPr>
            <a:r>
              <a:t>1. Empirical Köhler Hygroscopic Growth (15 Features)</a:t>
            </a:r>
          </a:p>
          <a:p>
            <a:pPr>
              <a:defRPr sz="1100">
                <a:solidFill>
                  <a:srgbClr val="475569"/>
                </a:solidFill>
                <a:latin typeface="Calibri"/>
              </a:defRPr>
            </a:pPr>
            <a:r>
              <a:t>Models non-linear aerosol diameter swelling: f(RH) = 1 + a·(RH/100)^b / (1 - RH/100). Parameterizes multiple growth factors across γ ∈ [0.2, 0.8], kappa-Köhler moisture deltas, and optical ratio interactions.</a:t>
            </a:r>
          </a:p>
        </p:txBody>
      </p:sp>
      <p:sp>
        <p:nvSpPr>
          <p:cNvPr id="7" name="Rounded Rectangle 6"/>
          <p:cNvSpPr/>
          <p:nvPr/>
        </p:nvSpPr>
        <p:spPr>
          <a:xfrm>
            <a:off x="6126480" y="1600200"/>
            <a:ext cx="5212080" cy="2148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26480" y="1600200"/>
            <a:ext cx="109728" cy="21488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83080"/>
            <a:ext cx="4800600" cy="1828800"/>
          </a:xfrm>
          <a:prstGeom prst="rect">
            <a:avLst/>
          </a:prstGeom>
          <a:noFill/>
        </p:spPr>
        <p:txBody>
          <a:bodyPr wrap="square">
            <a:spAutoFit/>
          </a:bodyPr>
          <a:lstStyle/>
          <a:p>
            <a:pPr>
              <a:spcAft>
                <a:spcPts val="600"/>
              </a:spcAft>
              <a:defRPr sz="1350" b="1">
                <a:solidFill>
                  <a:srgbClr val="059669"/>
                </a:solidFill>
                <a:latin typeface="Arial"/>
              </a:defRPr>
            </a:pPr>
            <a:r>
              <a:t>2. Thermodynamic Moisture Formulations (18 Features)</a:t>
            </a:r>
          </a:p>
          <a:p>
            <a:pPr>
              <a:defRPr sz="1100">
                <a:solidFill>
                  <a:srgbClr val="475569"/>
                </a:solidFill>
                <a:latin typeface="Calibri"/>
              </a:defRPr>
            </a:pPr>
            <a:r>
              <a:t>Decouples relative humidity from temperature: Vapor Pressure Deficit (VPD), Dew Point depression (T - Td), psychrometric water vapor density, and absolute moisture content (g/m³).</a:t>
            </a:r>
          </a:p>
        </p:txBody>
      </p:sp>
      <p:sp>
        <p:nvSpPr>
          <p:cNvPr id="10" name="Rounded Rectangle 9"/>
          <p:cNvSpPr/>
          <p:nvPr/>
        </p:nvSpPr>
        <p:spPr>
          <a:xfrm>
            <a:off x="731520" y="3886200"/>
            <a:ext cx="5212080" cy="2148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3886200"/>
            <a:ext cx="109728" cy="2148840"/>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069080"/>
            <a:ext cx="4800600" cy="1828800"/>
          </a:xfrm>
          <a:prstGeom prst="rect">
            <a:avLst/>
          </a:prstGeom>
          <a:noFill/>
        </p:spPr>
        <p:txBody>
          <a:bodyPr wrap="square">
            <a:spAutoFit/>
          </a:bodyPr>
          <a:lstStyle/>
          <a:p>
            <a:pPr>
              <a:spcAft>
                <a:spcPts val="600"/>
              </a:spcAft>
              <a:defRPr sz="1350" b="1">
                <a:solidFill>
                  <a:srgbClr val="DAA520"/>
                </a:solidFill>
                <a:latin typeface="Arial"/>
              </a:defRPr>
            </a:pPr>
            <a:r>
              <a:t>3. Multi-Window Temporal EWMA Dynamics (24 Features)</a:t>
            </a:r>
          </a:p>
          <a:p>
            <a:pPr>
              <a:defRPr sz="1100">
                <a:solidFill>
                  <a:srgbClr val="475569"/>
                </a:solidFill>
                <a:latin typeface="Calibri"/>
              </a:defRPr>
            </a:pPr>
            <a:r>
              <a:t>Exponentially Weighted Moving Averages (EWMA) across 1h, 3h, 6h, 12h, and 24h spans capturing boundary-layer diurnal ventilation, atmospheric stagnation, and sensor chamber thermal inertia.</a:t>
            </a:r>
          </a:p>
        </p:txBody>
      </p:sp>
      <p:sp>
        <p:nvSpPr>
          <p:cNvPr id="13" name="Rounded Rectangle 12"/>
          <p:cNvSpPr/>
          <p:nvPr/>
        </p:nvSpPr>
        <p:spPr>
          <a:xfrm>
            <a:off x="6126480" y="3886200"/>
            <a:ext cx="5212080" cy="2148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26480" y="3886200"/>
            <a:ext cx="109728" cy="2148840"/>
          </a:xfrm>
          <a:prstGeom prst="rect">
            <a:avLst/>
          </a:prstGeom>
          <a:solidFill>
            <a:srgbClr val="0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069080"/>
            <a:ext cx="4800600" cy="1828800"/>
          </a:xfrm>
          <a:prstGeom prst="rect">
            <a:avLst/>
          </a:prstGeom>
          <a:noFill/>
        </p:spPr>
        <p:txBody>
          <a:bodyPr wrap="square">
            <a:spAutoFit/>
          </a:bodyPr>
          <a:lstStyle/>
          <a:p>
            <a:pPr>
              <a:spcAft>
                <a:spcPts val="600"/>
              </a:spcAft>
              <a:defRPr sz="1350" b="1">
                <a:solidFill>
                  <a:srgbClr val="000066"/>
                </a:solidFill>
                <a:latin typeface="Arial"/>
              </a:defRPr>
            </a:pPr>
            <a:r>
              <a:t>4. Seasonal Harmattan &amp; Temporal Harmonics (18 Features)</a:t>
            </a:r>
          </a:p>
          <a:p>
            <a:pPr>
              <a:defRPr sz="1100">
                <a:solidFill>
                  <a:srgbClr val="475569"/>
                </a:solidFill>
                <a:latin typeface="Calibri"/>
              </a:defRPr>
            </a:pPr>
            <a:r>
              <a:t>Harmattan mineral dust ratio (PM10/PM2.5), coarse fraction (PM10 - PM2.5), diurnal sinusoidal harmonics (sin/cos of hour), and seasonal dry-season transition flags.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01168"/>
            <a:ext cx="10698480" cy="1078992"/>
          </a:xfrm>
          <a:prstGeom prst="rect">
            <a:avLst/>
          </a:prstGeom>
          <a:noFill/>
        </p:spPr>
        <p:txBody>
          <a:bodyPr wrap="square" lIns="0" rIns="0" tIns="0" bIns="0">
            <a:spAutoFit/>
          </a:bodyPr>
          <a:lstStyle/>
          <a:p>
            <a:pPr>
              <a:spcAft>
                <a:spcPts val="200"/>
              </a:spcAft>
              <a:defRPr sz="1100" b="1">
                <a:solidFill>
                  <a:srgbClr val="DAA520"/>
                </a:solidFill>
                <a:latin typeface="Arial"/>
              </a:defRPr>
            </a:pPr>
            <a:r>
              <a:t>03 | METHODOLOGY</a:t>
            </a:r>
          </a:p>
          <a:p>
            <a:pPr>
              <a:defRPr sz="2000" b="1">
                <a:solidFill>
                  <a:srgbClr val="FFFFFF"/>
                </a:solidFill>
                <a:latin typeface="Arial"/>
              </a:defRPr>
            </a:pPr>
            <a:r>
              <a:t>SPIME v4: Hierarchical Stacking Meta-Ensemble Architecture</a:t>
            </a:r>
          </a:p>
        </p:txBody>
      </p:sp>
      <p:sp>
        <p:nvSpPr>
          <p:cNvPr id="3" name="TextBox 2"/>
          <p:cNvSpPr txBox="1"/>
          <p:nvPr/>
        </p:nvSpPr>
        <p:spPr>
          <a:xfrm>
            <a:off x="731520" y="6263640"/>
            <a:ext cx="8046720" cy="320040"/>
          </a:xfrm>
          <a:prstGeom prst="rect">
            <a:avLst/>
          </a:prstGeom>
          <a:noFill/>
        </p:spPr>
        <p:txBody>
          <a:bodyPr wrap="none" lIns="0" rIns="0" tIns="0" bIns="0">
            <a:spAutoFit/>
          </a:bodyPr>
          <a:lstStyle/>
          <a:p>
            <a:pPr>
              <a:defRPr sz="1000">
                <a:solidFill>
                  <a:srgbClr val="64748B"/>
                </a:solidFill>
                <a:latin typeface="Calibri"/>
              </a:defRPr>
            </a:pPr>
            <a:r>
              <a:t>Department of Computer Science • University of Ghana  |  SPIME v4 Defense  |  Slide 10 of 22</a:t>
            </a:r>
          </a:p>
        </p:txBody>
      </p:sp>
      <p:sp>
        <p:nvSpPr>
          <p:cNvPr id="4" name="Rounded Rectangle 3"/>
          <p:cNvSpPr/>
          <p:nvPr/>
        </p:nvSpPr>
        <p:spPr>
          <a:xfrm>
            <a:off x="731520" y="1600200"/>
            <a:ext cx="10698480" cy="4434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3_6_spime_architecture.png"/>
          <p:cNvPicPr>
            <a:picLocks noChangeAspect="1"/>
          </p:cNvPicPr>
          <p:nvPr/>
        </p:nvPicPr>
        <p:blipFill>
          <a:blip r:embed="rId2"/>
          <a:stretch>
            <a:fillRect/>
          </a:stretch>
        </p:blipFill>
        <p:spPr>
          <a:xfrm>
            <a:off x="914400" y="1783080"/>
            <a:ext cx="10332720" cy="3749039"/>
          </a:xfrm>
          <a:prstGeom prst="rect">
            <a:avLst/>
          </a:prstGeom>
        </p:spPr>
      </p:pic>
      <p:sp>
        <p:nvSpPr>
          <p:cNvPr id="6" name="TextBox 5"/>
          <p:cNvSpPr txBox="1"/>
          <p:nvPr/>
        </p:nvSpPr>
        <p:spPr>
          <a:xfrm>
            <a:off x="914400" y="5623560"/>
            <a:ext cx="10332720" cy="365760"/>
          </a:xfrm>
          <a:prstGeom prst="rect">
            <a:avLst/>
          </a:prstGeom>
          <a:noFill/>
        </p:spPr>
        <p:txBody>
          <a:bodyPr wrap="none">
            <a:spAutoFit/>
          </a:bodyPr>
          <a:lstStyle/>
          <a:p>
            <a:pPr algn="ctr">
              <a:defRPr sz="1100" b="1">
                <a:solidFill>
                  <a:srgbClr val="475569"/>
                </a:solidFill>
                <a:latin typeface="Calibri"/>
              </a:defRPr>
            </a:pPr>
            <a:r>
              <a:t>Figure 3.3: SPIME v4 Two-Level Hierarchical Stacking Architecture (Diverse Level-1 Base Learners + Out-of-Fold Matrix + L2 Regularized Ridge Meta-Regressor)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01168"/>
            <a:ext cx="10698480" cy="1078992"/>
          </a:xfrm>
          <a:prstGeom prst="rect">
            <a:avLst/>
          </a:prstGeom>
          <a:noFill/>
        </p:spPr>
        <p:txBody>
          <a:bodyPr wrap="square" lIns="0" rIns="0" tIns="0" bIns="0">
            <a:spAutoFit/>
          </a:bodyPr>
          <a:lstStyle/>
          <a:p>
            <a:pPr>
              <a:spcAft>
                <a:spcPts val="200"/>
              </a:spcAft>
              <a:defRPr sz="1100" b="1">
                <a:solidFill>
                  <a:srgbClr val="DAA520"/>
                </a:solidFill>
                <a:latin typeface="Arial"/>
              </a:defRPr>
            </a:pPr>
            <a:r>
              <a:t>03 | METHODOLOGY</a:t>
            </a:r>
          </a:p>
          <a:p>
            <a:pPr>
              <a:defRPr sz="2000" b="1">
                <a:solidFill>
                  <a:srgbClr val="FFFFFF"/>
                </a:solidFill>
                <a:latin typeface="Arial"/>
              </a:defRPr>
            </a:pPr>
            <a:r>
              <a:t>Validation Protocol: Chronological Partitioning &amp; Anti-Overfitting Design</a:t>
            </a:r>
          </a:p>
        </p:txBody>
      </p:sp>
      <p:sp>
        <p:nvSpPr>
          <p:cNvPr id="3" name="TextBox 2"/>
          <p:cNvSpPr txBox="1"/>
          <p:nvPr/>
        </p:nvSpPr>
        <p:spPr>
          <a:xfrm>
            <a:off x="731520" y="6263640"/>
            <a:ext cx="8046720" cy="320040"/>
          </a:xfrm>
          <a:prstGeom prst="rect">
            <a:avLst/>
          </a:prstGeom>
          <a:noFill/>
        </p:spPr>
        <p:txBody>
          <a:bodyPr wrap="none" lIns="0" rIns="0" tIns="0" bIns="0">
            <a:spAutoFit/>
          </a:bodyPr>
          <a:lstStyle/>
          <a:p>
            <a:pPr>
              <a:defRPr sz="1000">
                <a:solidFill>
                  <a:srgbClr val="64748B"/>
                </a:solidFill>
                <a:latin typeface="Calibri"/>
              </a:defRPr>
            </a:pPr>
            <a:r>
              <a:t>Department of Computer Science • University of Ghana  |  SPIME v4 Defense  |  Slide 11 of 22</a:t>
            </a:r>
          </a:p>
        </p:txBody>
      </p:sp>
      <p:sp>
        <p:nvSpPr>
          <p:cNvPr id="4" name="Rounded Rectangle 3"/>
          <p:cNvSpPr/>
          <p:nvPr/>
        </p:nvSpPr>
        <p:spPr>
          <a:xfrm>
            <a:off x="731520" y="1600200"/>
            <a:ext cx="4754880" cy="4434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389120" cy="4069080"/>
          </a:xfrm>
          <a:prstGeom prst="rect">
            <a:avLst/>
          </a:prstGeom>
          <a:noFill/>
        </p:spPr>
        <p:txBody>
          <a:bodyPr wrap="square">
            <a:spAutoFit/>
          </a:bodyPr>
          <a:lstStyle/>
          <a:p>
            <a:pPr>
              <a:spcAft>
                <a:spcPts val="1000"/>
              </a:spcAft>
              <a:defRPr sz="1500" b="1">
                <a:solidFill>
                  <a:srgbClr val="2563EB"/>
                </a:solidFill>
                <a:latin typeface="Arial"/>
              </a:defRPr>
            </a:pPr>
            <a:r>
              <a:t>Strict Out-of-Sample Protocol</a:t>
            </a:r>
          </a:p>
          <a:p>
            <a:pPr>
              <a:spcAft>
                <a:spcPts val="800"/>
              </a:spcAft>
              <a:defRPr sz="1150">
                <a:latin typeface="Calibri"/>
              </a:defRPr>
            </a:pPr>
            <a:r>
              <a:rPr b="1">
                <a:solidFill>
                  <a:srgbClr val="0F172A"/>
                </a:solidFill>
              </a:rPr>
              <a:t>Chronological Train-Holdout Split: </a:t>
            </a:r>
            <a:r>
              <a:rPr>
                <a:solidFill>
                  <a:srgbClr val="475569"/>
                </a:solidFill>
              </a:rPr>
              <a:t>The co-location dataset was partitioned strictly across time: Training split (60%), Validation split (20%), and an unseen 6-Month Holdout split (20%, 3,468 hourly observations).</a:t>
            </a:r>
          </a:p>
          <a:p>
            <a:pPr>
              <a:spcAft>
                <a:spcPts val="800"/>
              </a:spcAft>
              <a:defRPr sz="1150">
                <a:latin typeface="Calibri"/>
              </a:defRPr>
            </a:pPr>
            <a:r>
              <a:rPr b="1">
                <a:solidFill>
                  <a:srgbClr val="0F172A"/>
                </a:solidFill>
              </a:rPr>
              <a:t>No Shuffling Across Time: </a:t>
            </a:r>
            <a:r>
              <a:rPr>
                <a:solidFill>
                  <a:srgbClr val="475569"/>
                </a:solidFill>
              </a:rPr>
              <a:t>Random shuffling was strictly prohibited to prevent data leakage and autocorrelation artifacts between consecutive hours.</a:t>
            </a:r>
          </a:p>
          <a:p>
            <a:pPr>
              <a:spcAft>
                <a:spcPts val="800"/>
              </a:spcAft>
              <a:defRPr sz="1150">
                <a:latin typeface="Calibri"/>
              </a:defRPr>
            </a:pPr>
            <a:r>
              <a:rPr b="1">
                <a:solidFill>
                  <a:srgbClr val="0F172A"/>
                </a:solidFill>
              </a:rPr>
              <a:t>5-Fold Out-of-Fold (OOF) Stacking: </a:t>
            </a:r>
            <a:r>
              <a:rPr>
                <a:solidFill>
                  <a:srgbClr val="475569"/>
                </a:solidFill>
              </a:rPr>
              <a:t>Level-1 models generate out-of-fold predictions on unobserved training folds, guaranteeing that the Level-2 meta-regressor never sees in-sample training bias.</a:t>
            </a:r>
          </a:p>
          <a:p>
            <a:pPr>
              <a:spcAft>
                <a:spcPts val="800"/>
              </a:spcAft>
              <a:defRPr sz="1150">
                <a:latin typeface="Calibri"/>
              </a:defRPr>
            </a:pPr>
            <a:r>
              <a:rPr b="1">
                <a:solidFill>
                  <a:srgbClr val="0F172A"/>
                </a:solidFill>
              </a:rPr>
              <a:t>Zero Generalization Loss Guarantee: </a:t>
            </a:r>
            <a:r>
              <a:rPr>
                <a:solidFill>
                  <a:srgbClr val="475569"/>
                </a:solidFill>
              </a:rPr>
              <a:t>Prevents the model from memorizing microclimate noise, achieving seamless cross-season generalization.</a:t>
            </a:r>
          </a:p>
        </p:txBody>
      </p:sp>
      <p:sp>
        <p:nvSpPr>
          <p:cNvPr id="6" name="Rounded Rectangle 5"/>
          <p:cNvSpPr/>
          <p:nvPr/>
        </p:nvSpPr>
        <p:spPr>
          <a:xfrm>
            <a:off x="5760720" y="1600200"/>
            <a:ext cx="5669280" cy="4434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3_7_validation_scheme.png"/>
          <p:cNvPicPr>
            <a:picLocks noChangeAspect="1"/>
          </p:cNvPicPr>
          <p:nvPr/>
        </p:nvPicPr>
        <p:blipFill>
          <a:blip r:embed="rId2"/>
          <a:stretch>
            <a:fillRect/>
          </a:stretch>
        </p:blipFill>
        <p:spPr>
          <a:xfrm>
            <a:off x="5943600" y="2057400"/>
            <a:ext cx="5303520" cy="2262835"/>
          </a:xfrm>
          <a:prstGeom prst="rect">
            <a:avLst/>
          </a:prstGeom>
        </p:spPr>
      </p:pic>
      <p:sp>
        <p:nvSpPr>
          <p:cNvPr id="8" name="TextBox 7"/>
          <p:cNvSpPr txBox="1"/>
          <p:nvPr/>
        </p:nvSpPr>
        <p:spPr>
          <a:xfrm>
            <a:off x="5852160" y="5532120"/>
            <a:ext cx="5486400" cy="411480"/>
          </a:xfrm>
          <a:prstGeom prst="rect">
            <a:avLst/>
          </a:prstGeom>
          <a:noFill/>
        </p:spPr>
        <p:txBody>
          <a:bodyPr wrap="none">
            <a:spAutoFit/>
          </a:bodyPr>
          <a:lstStyle/>
          <a:p>
            <a:pPr algn="ctr">
              <a:defRPr sz="1050" b="1">
                <a:solidFill>
                  <a:srgbClr val="475569"/>
                </a:solidFill>
                <a:latin typeface="Calibri"/>
              </a:defRPr>
            </a:pPr>
            <a:r>
              <a:t>Figure 3.4: Chronological Data Split &amp; 5-Fold Out-of-Fold Stacking Protocol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01168"/>
            <a:ext cx="10698480" cy="1078992"/>
          </a:xfrm>
          <a:prstGeom prst="rect">
            <a:avLst/>
          </a:prstGeom>
          <a:noFill/>
        </p:spPr>
        <p:txBody>
          <a:bodyPr wrap="square" lIns="0" rIns="0" tIns="0" bIns="0">
            <a:spAutoFit/>
          </a:bodyPr>
          <a:lstStyle/>
          <a:p>
            <a:pPr>
              <a:spcAft>
                <a:spcPts val="200"/>
              </a:spcAft>
              <a:defRPr sz="1100" b="1">
                <a:solidFill>
                  <a:srgbClr val="DAA520"/>
                </a:solidFill>
                <a:latin typeface="Arial"/>
              </a:defRPr>
            </a:pPr>
            <a:r>
              <a:t>04 | RESULTS</a:t>
            </a:r>
          </a:p>
          <a:p>
            <a:pPr>
              <a:defRPr sz="2000" b="1">
                <a:solidFill>
                  <a:srgbClr val="FFFFFF"/>
                </a:solidFill>
                <a:latin typeface="Arial"/>
              </a:defRPr>
            </a:pPr>
            <a:r>
              <a:t>Empirical Results on Unseen 6-Month Chronological Holdout Set</a:t>
            </a:r>
          </a:p>
        </p:txBody>
      </p:sp>
      <p:sp>
        <p:nvSpPr>
          <p:cNvPr id="3" name="TextBox 2"/>
          <p:cNvSpPr txBox="1"/>
          <p:nvPr/>
        </p:nvSpPr>
        <p:spPr>
          <a:xfrm>
            <a:off x="731520" y="6263640"/>
            <a:ext cx="8046720" cy="320040"/>
          </a:xfrm>
          <a:prstGeom prst="rect">
            <a:avLst/>
          </a:prstGeom>
          <a:noFill/>
        </p:spPr>
        <p:txBody>
          <a:bodyPr wrap="none" lIns="0" rIns="0" tIns="0" bIns="0">
            <a:spAutoFit/>
          </a:bodyPr>
          <a:lstStyle/>
          <a:p>
            <a:pPr>
              <a:defRPr sz="1000">
                <a:solidFill>
                  <a:srgbClr val="64748B"/>
                </a:solidFill>
                <a:latin typeface="Calibri"/>
              </a:defRPr>
            </a:pPr>
            <a:r>
              <a:t>Department of Computer Science • University of Ghana  |  SPIME v4 Defense  |  Slide 12 of 22</a:t>
            </a:r>
          </a:p>
        </p:txBody>
      </p:sp>
      <p:sp>
        <p:nvSpPr>
          <p:cNvPr id="4" name="Rounded Rectangle 3"/>
          <p:cNvSpPr/>
          <p:nvPr/>
        </p:nvSpPr>
        <p:spPr>
          <a:xfrm>
            <a:off x="731520" y="1600200"/>
            <a:ext cx="2514600" cy="1051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709928"/>
            <a:ext cx="2240280" cy="832104"/>
          </a:xfrm>
          <a:prstGeom prst="rect">
            <a:avLst/>
          </a:prstGeom>
          <a:noFill/>
        </p:spPr>
        <p:txBody>
          <a:bodyPr wrap="square" lIns="0" rIns="0" tIns="0" bIns="0">
            <a:spAutoFit/>
          </a:bodyPr>
          <a:lstStyle/>
          <a:p>
            <a:pPr algn="ctr">
              <a:defRPr sz="2200" b="1">
                <a:solidFill>
                  <a:srgbClr val="059669"/>
                </a:solidFill>
                <a:latin typeface="Arial"/>
              </a:defRPr>
            </a:pPr>
            <a:r>
              <a:t>R² = 0.9632</a:t>
            </a:r>
          </a:p>
          <a:p>
            <a:pPr algn="ctr">
              <a:spcBef>
                <a:spcPts val="300"/>
              </a:spcBef>
              <a:defRPr sz="1000" b="1">
                <a:solidFill>
                  <a:srgbClr val="0F172A"/>
                </a:solidFill>
                <a:latin typeface="Arial"/>
              </a:defRPr>
            </a:pPr>
            <a:r>
              <a:t>HOLDOUT ACCURACY</a:t>
            </a:r>
          </a:p>
          <a:p>
            <a:pPr algn="ctr">
              <a:defRPr sz="950">
                <a:solidFill>
                  <a:srgbClr val="475569"/>
                </a:solidFill>
                <a:latin typeface="Calibri"/>
              </a:defRPr>
            </a:pPr>
            <a:r>
              <a:t>6-Month Unseen Holdout</a:t>
            </a:r>
          </a:p>
        </p:txBody>
      </p:sp>
      <p:sp>
        <p:nvSpPr>
          <p:cNvPr id="6" name="Rounded Rectangle 5"/>
          <p:cNvSpPr/>
          <p:nvPr/>
        </p:nvSpPr>
        <p:spPr>
          <a:xfrm>
            <a:off x="3429000" y="1600200"/>
            <a:ext cx="2514600" cy="1051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709928"/>
            <a:ext cx="2240280" cy="832104"/>
          </a:xfrm>
          <a:prstGeom prst="rect">
            <a:avLst/>
          </a:prstGeom>
          <a:noFill/>
        </p:spPr>
        <p:txBody>
          <a:bodyPr wrap="square" lIns="0" rIns="0" tIns="0" bIns="0">
            <a:spAutoFit/>
          </a:bodyPr>
          <a:lstStyle/>
          <a:p>
            <a:pPr algn="ctr">
              <a:defRPr sz="2200" b="1">
                <a:solidFill>
                  <a:srgbClr val="2563EB"/>
                </a:solidFill>
                <a:latin typeface="Arial"/>
              </a:defRPr>
            </a:pPr>
            <a:r>
              <a:t>MAE = 0.61 µg/m³</a:t>
            </a:r>
          </a:p>
          <a:p>
            <a:pPr algn="ctr">
              <a:spcBef>
                <a:spcPts val="300"/>
              </a:spcBef>
              <a:defRPr sz="1000" b="1">
                <a:solidFill>
                  <a:srgbClr val="0F172A"/>
                </a:solidFill>
                <a:latin typeface="Arial"/>
              </a:defRPr>
            </a:pPr>
            <a:r>
              <a:t>MEAN ABSOLUTE ERROR</a:t>
            </a:r>
          </a:p>
          <a:p>
            <a:pPr algn="ctr">
              <a:defRPr sz="950">
                <a:solidFill>
                  <a:srgbClr val="475569"/>
                </a:solidFill>
                <a:latin typeface="Calibri"/>
              </a:defRPr>
            </a:pPr>
            <a:r>
              <a:t>66.3% Error Reduction</a:t>
            </a:r>
          </a:p>
        </p:txBody>
      </p:sp>
      <p:sp>
        <p:nvSpPr>
          <p:cNvPr id="8" name="Rounded Rectangle 7"/>
          <p:cNvSpPr/>
          <p:nvPr/>
        </p:nvSpPr>
        <p:spPr>
          <a:xfrm>
            <a:off x="6126480" y="1600200"/>
            <a:ext cx="2514600" cy="1051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709928"/>
            <a:ext cx="2240280" cy="832104"/>
          </a:xfrm>
          <a:prstGeom prst="rect">
            <a:avLst/>
          </a:prstGeom>
          <a:noFill/>
        </p:spPr>
        <p:txBody>
          <a:bodyPr wrap="square" lIns="0" rIns="0" tIns="0" bIns="0">
            <a:spAutoFit/>
          </a:bodyPr>
          <a:lstStyle/>
          <a:p>
            <a:pPr algn="ctr">
              <a:defRPr sz="2200" b="1">
                <a:solidFill>
                  <a:srgbClr val="000066"/>
                </a:solidFill>
                <a:latin typeface="Arial"/>
              </a:defRPr>
            </a:pPr>
            <a:r>
              <a:t>RMSE = 1.23 µg/m³</a:t>
            </a:r>
          </a:p>
          <a:p>
            <a:pPr algn="ctr">
              <a:spcBef>
                <a:spcPts val="300"/>
              </a:spcBef>
              <a:defRPr sz="1000" b="1">
                <a:solidFill>
                  <a:srgbClr val="0F172A"/>
                </a:solidFill>
                <a:latin typeface="Arial"/>
              </a:defRPr>
            </a:pPr>
            <a:r>
              <a:t>ROOT MEAN SQ ERROR</a:t>
            </a:r>
          </a:p>
          <a:p>
            <a:pPr algn="ctr">
              <a:defRPr sz="950">
                <a:solidFill>
                  <a:srgbClr val="475569"/>
                </a:solidFill>
                <a:latin typeface="Calibri"/>
              </a:defRPr>
            </a:pPr>
            <a:r>
              <a:t>Reference-Grade Precision</a:t>
            </a:r>
          </a:p>
        </p:txBody>
      </p:sp>
      <p:sp>
        <p:nvSpPr>
          <p:cNvPr id="10" name="Rounded Rectangle 9"/>
          <p:cNvSpPr/>
          <p:nvPr/>
        </p:nvSpPr>
        <p:spPr>
          <a:xfrm>
            <a:off x="8823960" y="1600200"/>
            <a:ext cx="2606040" cy="10515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0" y="1709928"/>
            <a:ext cx="2331720" cy="832104"/>
          </a:xfrm>
          <a:prstGeom prst="rect">
            <a:avLst/>
          </a:prstGeom>
          <a:noFill/>
        </p:spPr>
        <p:txBody>
          <a:bodyPr wrap="square" lIns="0" rIns="0" tIns="0" bIns="0">
            <a:spAutoFit/>
          </a:bodyPr>
          <a:lstStyle/>
          <a:p>
            <a:pPr algn="ctr">
              <a:defRPr sz="2200" b="1">
                <a:solidFill>
                  <a:srgbClr val="DAA520"/>
                </a:solidFill>
                <a:latin typeface="Arial"/>
              </a:defRPr>
            </a:pPr>
            <a:r>
              <a:t>ΔR² = -0.0002</a:t>
            </a:r>
          </a:p>
          <a:p>
            <a:pPr algn="ctr">
              <a:spcBef>
                <a:spcPts val="300"/>
              </a:spcBef>
              <a:defRPr sz="1000" b="1">
                <a:solidFill>
                  <a:srgbClr val="0F172A"/>
                </a:solidFill>
                <a:latin typeface="Arial"/>
              </a:defRPr>
            </a:pPr>
            <a:r>
              <a:t>OVERFITTING GAP</a:t>
            </a:r>
          </a:p>
          <a:p>
            <a:pPr algn="ctr">
              <a:defRPr sz="950">
                <a:solidFill>
                  <a:srgbClr val="475569"/>
                </a:solidFill>
                <a:latin typeface="Calibri"/>
              </a:defRPr>
            </a:pPr>
            <a:r>
              <a:t>Zero Generalization Loss</a:t>
            </a:r>
          </a:p>
        </p:txBody>
      </p:sp>
      <p:graphicFrame>
        <p:nvGraphicFramePr>
          <p:cNvPr id="12" name="Table 11"/>
          <p:cNvGraphicFramePr>
            <a:graphicFrameLocks noGrp="1"/>
          </p:cNvGraphicFramePr>
          <p:nvPr/>
        </p:nvGraphicFramePr>
        <p:xfrm>
          <a:off x="731520" y="2880360"/>
          <a:ext cx="10698480" cy="3063240"/>
        </p:xfrm>
        <a:graphic>
          <a:graphicData uri="http://schemas.openxmlformats.org/drawingml/2006/table">
            <a:tbl>
              <a:tblPr firstRow="1" bandRow="1">
                <a:tableStyleId>{5C22544A-7EE6-4342-B048-85BDC9FD1C3A}</a:tableStyleId>
              </a:tblPr>
              <a:tblGrid>
                <a:gridCol w="3474720"/>
                <a:gridCol w="1371600"/>
                <a:gridCol w="1463040"/>
                <a:gridCol w="1463040"/>
                <a:gridCol w="1371600"/>
                <a:gridCol w="1554480"/>
              </a:tblGrid>
              <a:tr h="510540">
                <a:tc>
                  <a:txBody>
                    <a:bodyPr/>
                    <a:lstStyle/>
                    <a:p>
                      <a:pPr algn="l">
                        <a:defRPr sz="1100" b="1">
                          <a:solidFill>
                            <a:srgbClr val="FFFFFF"/>
                          </a:solidFill>
                          <a:latin typeface="Arial"/>
                        </a:defRPr>
                      </a:pPr>
                      <a:r>
                        <a:t>Model / Calibration Framework</a:t>
                      </a:r>
                    </a:p>
                  </a:txBody>
                  <a:tcPr>
                    <a:solidFill>
                      <a:srgbClr val="000066"/>
                    </a:solidFill>
                  </a:tcPr>
                </a:tc>
                <a:tc>
                  <a:txBody>
                    <a:bodyPr/>
                    <a:lstStyle/>
                    <a:p>
                      <a:pPr algn="ctr">
                        <a:defRPr sz="1100" b="1">
                          <a:solidFill>
                            <a:srgbClr val="FFFFFF"/>
                          </a:solidFill>
                          <a:latin typeface="Arial"/>
                        </a:defRPr>
                      </a:pPr>
                      <a:r>
                        <a:t>Holdout R²</a:t>
                      </a:r>
                    </a:p>
                  </a:txBody>
                  <a:tcPr>
                    <a:solidFill>
                      <a:srgbClr val="000066"/>
                    </a:solidFill>
                  </a:tcPr>
                </a:tc>
                <a:tc>
                  <a:txBody>
                    <a:bodyPr/>
                    <a:lstStyle/>
                    <a:p>
                      <a:pPr algn="ctr">
                        <a:defRPr sz="1100" b="1">
                          <a:solidFill>
                            <a:srgbClr val="FFFFFF"/>
                          </a:solidFill>
                          <a:latin typeface="Arial"/>
                        </a:defRPr>
                      </a:pPr>
                      <a:r>
                        <a:t>MAE (µg/m³)</a:t>
                      </a:r>
                    </a:p>
                  </a:txBody>
                  <a:tcPr>
                    <a:solidFill>
                      <a:srgbClr val="000066"/>
                    </a:solidFill>
                  </a:tcPr>
                </a:tc>
                <a:tc>
                  <a:txBody>
                    <a:bodyPr/>
                    <a:lstStyle/>
                    <a:p>
                      <a:pPr algn="ctr">
                        <a:defRPr sz="1100" b="1">
                          <a:solidFill>
                            <a:srgbClr val="FFFFFF"/>
                          </a:solidFill>
                          <a:latin typeface="Arial"/>
                        </a:defRPr>
                      </a:pPr>
                      <a:r>
                        <a:t>RMSE (µg/m³)</a:t>
                      </a:r>
                    </a:p>
                  </a:txBody>
                  <a:tcPr>
                    <a:solidFill>
                      <a:srgbClr val="000066"/>
                    </a:solidFill>
                  </a:tcPr>
                </a:tc>
                <a:tc>
                  <a:txBody>
                    <a:bodyPr/>
                    <a:lstStyle/>
                    <a:p>
                      <a:pPr algn="ctr">
                        <a:defRPr sz="1100" b="1">
                          <a:solidFill>
                            <a:srgbClr val="FFFFFF"/>
                          </a:solidFill>
                          <a:latin typeface="Arial"/>
                        </a:defRPr>
                      </a:pPr>
                      <a:r>
                        <a:t>MAPE (%)</a:t>
                      </a:r>
                    </a:p>
                  </a:txBody>
                  <a:tcPr>
                    <a:solidFill>
                      <a:srgbClr val="000066"/>
                    </a:solidFill>
                  </a:tcPr>
                </a:tc>
                <a:tc>
                  <a:txBody>
                    <a:bodyPr/>
                    <a:lstStyle/>
                    <a:p>
                      <a:pPr algn="ctr">
                        <a:defRPr sz="1100" b="1">
                          <a:solidFill>
                            <a:srgbClr val="FFFFFF"/>
                          </a:solidFill>
                          <a:latin typeface="Arial"/>
                        </a:defRPr>
                      </a:pPr>
                      <a:r>
                        <a:t>Overfit Gap (ΔR²)</a:t>
                      </a:r>
                    </a:p>
                  </a:txBody>
                  <a:tcPr>
                    <a:solidFill>
                      <a:srgbClr val="000066"/>
                    </a:solidFill>
                  </a:tcPr>
                </a:tc>
              </a:tr>
              <a:tr h="510540">
                <a:tc>
                  <a:txBody>
                    <a:bodyPr/>
                    <a:lstStyle/>
                    <a:p>
                      <a:pPr algn="l">
                        <a:defRPr sz="1100" b="0">
                          <a:solidFill>
                            <a:srgbClr val="0F172A"/>
                          </a:solidFill>
                          <a:latin typeface="Calibri"/>
                        </a:defRPr>
                      </a:pPr>
                      <a:r>
                        <a:t>Raw Factory Sensor (Modulair-PM)</a:t>
                      </a:r>
                    </a:p>
                  </a:txBody>
                  <a:tcPr>
                    <a:solidFill>
                      <a:srgbClr val="FFFFFF"/>
                    </a:solidFill>
                  </a:tcPr>
                </a:tc>
                <a:tc>
                  <a:txBody>
                    <a:bodyPr/>
                    <a:lstStyle/>
                    <a:p>
                      <a:pPr algn="ctr">
                        <a:defRPr sz="1100" b="0">
                          <a:solidFill>
                            <a:srgbClr val="0F172A"/>
                          </a:solidFill>
                          <a:latin typeface="Calibri"/>
                        </a:defRPr>
                      </a:pPr>
                      <a:r>
                        <a:t>-0.0133</a:t>
                      </a:r>
                    </a:p>
                  </a:txBody>
                  <a:tcPr>
                    <a:solidFill>
                      <a:srgbClr val="FFFFFF"/>
                    </a:solidFill>
                  </a:tcPr>
                </a:tc>
                <a:tc>
                  <a:txBody>
                    <a:bodyPr/>
                    <a:lstStyle/>
                    <a:p>
                      <a:pPr algn="ctr">
                        <a:defRPr sz="1100" b="0">
                          <a:solidFill>
                            <a:srgbClr val="0F172A"/>
                          </a:solidFill>
                          <a:latin typeface="Calibri"/>
                        </a:defRPr>
                      </a:pPr>
                      <a:r>
                        <a:t>5.30</a:t>
                      </a:r>
                    </a:p>
                  </a:txBody>
                  <a:tcPr>
                    <a:solidFill>
                      <a:srgbClr val="FFFFFF"/>
                    </a:solidFill>
                  </a:tcPr>
                </a:tc>
                <a:tc>
                  <a:txBody>
                    <a:bodyPr/>
                    <a:lstStyle/>
                    <a:p>
                      <a:pPr algn="ctr">
                        <a:defRPr sz="1100" b="0">
                          <a:solidFill>
                            <a:srgbClr val="0F172A"/>
                          </a:solidFill>
                          <a:latin typeface="Calibri"/>
                        </a:defRPr>
                      </a:pPr>
                      <a:r>
                        <a:t>7.14</a:t>
                      </a:r>
                    </a:p>
                  </a:txBody>
                  <a:tcPr>
                    <a:solidFill>
                      <a:srgbClr val="FFFFFF"/>
                    </a:solidFill>
                  </a:tcPr>
                </a:tc>
                <a:tc>
                  <a:txBody>
                    <a:bodyPr/>
                    <a:lstStyle/>
                    <a:p>
                      <a:pPr algn="ctr">
                        <a:defRPr sz="1100" b="0">
                          <a:solidFill>
                            <a:srgbClr val="0F172A"/>
                          </a:solidFill>
                          <a:latin typeface="Calibri"/>
                        </a:defRPr>
                      </a:pPr>
                      <a:r>
                        <a:t>184.2%</a:t>
                      </a:r>
                    </a:p>
                  </a:txBody>
                  <a:tcPr>
                    <a:solidFill>
                      <a:srgbClr val="FFFFFF"/>
                    </a:solidFill>
                  </a:tcPr>
                </a:tc>
                <a:tc>
                  <a:txBody>
                    <a:bodyPr/>
                    <a:lstStyle/>
                    <a:p>
                      <a:pPr algn="ctr">
                        <a:defRPr sz="1100" b="0">
                          <a:solidFill>
                            <a:srgbClr val="0F172A"/>
                          </a:solidFill>
                          <a:latin typeface="Calibri"/>
                        </a:defRPr>
                      </a:pPr>
                      <a:r>
                        <a:t>N/A (Failed)</a:t>
                      </a:r>
                    </a:p>
                  </a:txBody>
                  <a:tcPr>
                    <a:solidFill>
                      <a:srgbClr val="FFFFFF"/>
                    </a:solidFill>
                  </a:tcPr>
                </a:tc>
              </a:tr>
              <a:tr h="510540">
                <a:tc>
                  <a:txBody>
                    <a:bodyPr/>
                    <a:lstStyle/>
                    <a:p>
                      <a:pPr algn="l">
                        <a:defRPr sz="1100" b="0">
                          <a:solidFill>
                            <a:srgbClr val="0F172A"/>
                          </a:solidFill>
                          <a:latin typeface="Calibri"/>
                        </a:defRPr>
                      </a:pPr>
                      <a:r>
                        <a:t>Baseline Linear Regression</a:t>
                      </a:r>
                    </a:p>
                  </a:txBody>
                  <a:tcPr>
                    <a:solidFill>
                      <a:srgbClr val="F8FAFC"/>
                    </a:solidFill>
                  </a:tcPr>
                </a:tc>
                <a:tc>
                  <a:txBody>
                    <a:bodyPr/>
                    <a:lstStyle/>
                    <a:p>
                      <a:pPr algn="ctr">
                        <a:defRPr sz="1100" b="0">
                          <a:solidFill>
                            <a:srgbClr val="0F172A"/>
                          </a:solidFill>
                          <a:latin typeface="Calibri"/>
                        </a:defRPr>
                      </a:pPr>
                      <a:r>
                        <a:t>0.6760</a:t>
                      </a:r>
                    </a:p>
                  </a:txBody>
                  <a:tcPr>
                    <a:solidFill>
                      <a:srgbClr val="F8FAFC"/>
                    </a:solidFill>
                  </a:tcPr>
                </a:tc>
                <a:tc>
                  <a:txBody>
                    <a:bodyPr/>
                    <a:lstStyle/>
                    <a:p>
                      <a:pPr algn="ctr">
                        <a:defRPr sz="1100" b="0">
                          <a:solidFill>
                            <a:srgbClr val="0F172A"/>
                          </a:solidFill>
                          <a:latin typeface="Calibri"/>
                        </a:defRPr>
                      </a:pPr>
                      <a:r>
                        <a:t>2.68</a:t>
                      </a:r>
                    </a:p>
                  </a:txBody>
                  <a:tcPr>
                    <a:solidFill>
                      <a:srgbClr val="F8FAFC"/>
                    </a:solidFill>
                  </a:tcPr>
                </a:tc>
                <a:tc>
                  <a:txBody>
                    <a:bodyPr/>
                    <a:lstStyle/>
                    <a:p>
                      <a:pPr algn="ctr">
                        <a:defRPr sz="1100" b="0">
                          <a:solidFill>
                            <a:srgbClr val="0F172A"/>
                          </a:solidFill>
                          <a:latin typeface="Calibri"/>
                        </a:defRPr>
                      </a:pPr>
                      <a:r>
                        <a:t>3.63</a:t>
                      </a:r>
                    </a:p>
                  </a:txBody>
                  <a:tcPr>
                    <a:solidFill>
                      <a:srgbClr val="F8FAFC"/>
                    </a:solidFill>
                  </a:tcPr>
                </a:tc>
                <a:tc>
                  <a:txBody>
                    <a:bodyPr/>
                    <a:lstStyle/>
                    <a:p>
                      <a:pPr algn="ctr">
                        <a:defRPr sz="1100" b="0">
                          <a:solidFill>
                            <a:srgbClr val="0F172A"/>
                          </a:solidFill>
                          <a:latin typeface="Calibri"/>
                        </a:defRPr>
                      </a:pPr>
                      <a:r>
                        <a:t>84.5%</a:t>
                      </a:r>
                    </a:p>
                  </a:txBody>
                  <a:tcPr>
                    <a:solidFill>
                      <a:srgbClr val="F8FAFC"/>
                    </a:solidFill>
                  </a:tcPr>
                </a:tc>
                <a:tc>
                  <a:txBody>
                    <a:bodyPr/>
                    <a:lstStyle/>
                    <a:p>
                      <a:pPr algn="ctr">
                        <a:defRPr sz="1100" b="0">
                          <a:solidFill>
                            <a:srgbClr val="0F172A"/>
                          </a:solidFill>
                          <a:latin typeface="Calibri"/>
                        </a:defRPr>
                      </a:pPr>
                      <a:r>
                        <a:t>+0.0120</a:t>
                      </a:r>
                    </a:p>
                  </a:txBody>
                  <a:tcPr>
                    <a:solidFill>
                      <a:srgbClr val="F8FAFC"/>
                    </a:solidFill>
                  </a:tcPr>
                </a:tc>
              </a:tr>
              <a:tr h="510540">
                <a:tc>
                  <a:txBody>
                    <a:bodyPr/>
                    <a:lstStyle/>
                    <a:p>
                      <a:pPr algn="l">
                        <a:defRPr sz="1100" b="0">
                          <a:solidFill>
                            <a:srgbClr val="0F172A"/>
                          </a:solidFill>
                          <a:latin typeface="Calibri"/>
                        </a:defRPr>
                      </a:pPr>
                      <a:r>
                        <a:t>Multilayer Perceptron (MLP Neural Net)</a:t>
                      </a:r>
                    </a:p>
                  </a:txBody>
                  <a:tcPr>
                    <a:solidFill>
                      <a:srgbClr val="FFFFFF"/>
                    </a:solidFill>
                  </a:tcPr>
                </a:tc>
                <a:tc>
                  <a:txBody>
                    <a:bodyPr/>
                    <a:lstStyle/>
                    <a:p>
                      <a:pPr algn="ctr">
                        <a:defRPr sz="1100" b="0">
                          <a:solidFill>
                            <a:srgbClr val="0F172A"/>
                          </a:solidFill>
                          <a:latin typeface="Calibri"/>
                        </a:defRPr>
                      </a:pPr>
                      <a:r>
                        <a:t>0.5214</a:t>
                      </a:r>
                    </a:p>
                  </a:txBody>
                  <a:tcPr>
                    <a:solidFill>
                      <a:srgbClr val="FFFFFF"/>
                    </a:solidFill>
                  </a:tcPr>
                </a:tc>
                <a:tc>
                  <a:txBody>
                    <a:bodyPr/>
                    <a:lstStyle/>
                    <a:p>
                      <a:pPr algn="ctr">
                        <a:defRPr sz="1100" b="0">
                          <a:solidFill>
                            <a:srgbClr val="0F172A"/>
                          </a:solidFill>
                          <a:latin typeface="Calibri"/>
                        </a:defRPr>
                      </a:pPr>
                      <a:r>
                        <a:t>3.12</a:t>
                      </a:r>
                    </a:p>
                  </a:txBody>
                  <a:tcPr>
                    <a:solidFill>
                      <a:srgbClr val="FFFFFF"/>
                    </a:solidFill>
                  </a:tcPr>
                </a:tc>
                <a:tc>
                  <a:txBody>
                    <a:bodyPr/>
                    <a:lstStyle/>
                    <a:p>
                      <a:pPr algn="ctr">
                        <a:defRPr sz="1100" b="0">
                          <a:solidFill>
                            <a:srgbClr val="0F172A"/>
                          </a:solidFill>
                          <a:latin typeface="Calibri"/>
                        </a:defRPr>
                      </a:pPr>
                      <a:r>
                        <a:t>4.41</a:t>
                      </a:r>
                    </a:p>
                  </a:txBody>
                  <a:tcPr>
                    <a:solidFill>
                      <a:srgbClr val="FFFFFF"/>
                    </a:solidFill>
                  </a:tcPr>
                </a:tc>
                <a:tc>
                  <a:txBody>
                    <a:bodyPr/>
                    <a:lstStyle/>
                    <a:p>
                      <a:pPr algn="ctr">
                        <a:defRPr sz="1100" b="0">
                          <a:solidFill>
                            <a:srgbClr val="0F172A"/>
                          </a:solidFill>
                          <a:latin typeface="Calibri"/>
                        </a:defRPr>
                      </a:pPr>
                      <a:r>
                        <a:t>96.8%</a:t>
                      </a:r>
                    </a:p>
                  </a:txBody>
                  <a:tcPr>
                    <a:solidFill>
                      <a:srgbClr val="FFFFFF"/>
                    </a:solidFill>
                  </a:tcPr>
                </a:tc>
                <a:tc>
                  <a:txBody>
                    <a:bodyPr/>
                    <a:lstStyle/>
                    <a:p>
                      <a:pPr algn="ctr">
                        <a:defRPr sz="1100" b="0">
                          <a:solidFill>
                            <a:srgbClr val="0F172A"/>
                          </a:solidFill>
                          <a:latin typeface="Calibri"/>
                        </a:defRPr>
                      </a:pPr>
                      <a:r>
                        <a:t>+0.4018 (Severe)</a:t>
                      </a:r>
                    </a:p>
                  </a:txBody>
                  <a:tcPr>
                    <a:solidFill>
                      <a:srgbClr val="FFFFFF"/>
                    </a:solidFill>
                  </a:tcPr>
                </a:tc>
              </a:tr>
              <a:tr h="510540">
                <a:tc>
                  <a:txBody>
                    <a:bodyPr/>
                    <a:lstStyle/>
                    <a:p>
                      <a:pPr algn="l">
                        <a:defRPr sz="1100" b="0">
                          <a:solidFill>
                            <a:srgbClr val="0F172A"/>
                          </a:solidFill>
                          <a:latin typeface="Calibri"/>
                        </a:defRPr>
                      </a:pPr>
                      <a:r>
                        <a:t>Random Forest (Stand-Alone)</a:t>
                      </a:r>
                    </a:p>
                  </a:txBody>
                  <a:tcPr>
                    <a:solidFill>
                      <a:srgbClr val="F8FAFC"/>
                    </a:solidFill>
                  </a:tcPr>
                </a:tc>
                <a:tc>
                  <a:txBody>
                    <a:bodyPr/>
                    <a:lstStyle/>
                    <a:p>
                      <a:pPr algn="ctr">
                        <a:defRPr sz="1100" b="0">
                          <a:solidFill>
                            <a:srgbClr val="0F172A"/>
                          </a:solidFill>
                          <a:latin typeface="Calibri"/>
                        </a:defRPr>
                      </a:pPr>
                      <a:r>
                        <a:t>0.7752</a:t>
                      </a:r>
                    </a:p>
                  </a:txBody>
                  <a:tcPr>
                    <a:solidFill>
                      <a:srgbClr val="F8FAFC"/>
                    </a:solidFill>
                  </a:tcPr>
                </a:tc>
                <a:tc>
                  <a:txBody>
                    <a:bodyPr/>
                    <a:lstStyle/>
                    <a:p>
                      <a:pPr algn="ctr">
                        <a:defRPr sz="1100" b="0">
                          <a:solidFill>
                            <a:srgbClr val="0F172A"/>
                          </a:solidFill>
                          <a:latin typeface="Calibri"/>
                        </a:defRPr>
                      </a:pPr>
                      <a:r>
                        <a:t>2.03</a:t>
                      </a:r>
                    </a:p>
                  </a:txBody>
                  <a:tcPr>
                    <a:solidFill>
                      <a:srgbClr val="F8FAFC"/>
                    </a:solidFill>
                  </a:tcPr>
                </a:tc>
                <a:tc>
                  <a:txBody>
                    <a:bodyPr/>
                    <a:lstStyle/>
                    <a:p>
                      <a:pPr algn="ctr">
                        <a:defRPr sz="1100" b="0">
                          <a:solidFill>
                            <a:srgbClr val="0F172A"/>
                          </a:solidFill>
                          <a:latin typeface="Calibri"/>
                        </a:defRPr>
                      </a:pPr>
                      <a:r>
                        <a:t>3.03</a:t>
                      </a:r>
                    </a:p>
                  </a:txBody>
                  <a:tcPr>
                    <a:solidFill>
                      <a:srgbClr val="F8FAFC"/>
                    </a:solidFill>
                  </a:tcPr>
                </a:tc>
                <a:tc>
                  <a:txBody>
                    <a:bodyPr/>
                    <a:lstStyle/>
                    <a:p>
                      <a:pPr algn="ctr">
                        <a:defRPr sz="1100" b="0">
                          <a:solidFill>
                            <a:srgbClr val="0F172A"/>
                          </a:solidFill>
                          <a:latin typeface="Calibri"/>
                        </a:defRPr>
                      </a:pPr>
                      <a:r>
                        <a:t>68.4%</a:t>
                      </a:r>
                    </a:p>
                  </a:txBody>
                  <a:tcPr>
                    <a:solidFill>
                      <a:srgbClr val="F8FAFC"/>
                    </a:solidFill>
                  </a:tcPr>
                </a:tc>
                <a:tc>
                  <a:txBody>
                    <a:bodyPr/>
                    <a:lstStyle/>
                    <a:p>
                      <a:pPr algn="ctr">
                        <a:defRPr sz="1100" b="0">
                          <a:solidFill>
                            <a:srgbClr val="0F172A"/>
                          </a:solidFill>
                          <a:latin typeface="Calibri"/>
                        </a:defRPr>
                      </a:pPr>
                      <a:r>
                        <a:t>+0.1420 (Moderate)</a:t>
                      </a:r>
                    </a:p>
                  </a:txBody>
                  <a:tcPr>
                    <a:solidFill>
                      <a:srgbClr val="F8FAFC"/>
                    </a:solidFill>
                  </a:tcPr>
                </a:tc>
              </a:tr>
              <a:tr h="510540">
                <a:tc>
                  <a:txBody>
                    <a:bodyPr/>
                    <a:lstStyle/>
                    <a:p>
                      <a:pPr algn="l">
                        <a:defRPr sz="1200" b="1">
                          <a:solidFill>
                            <a:srgbClr val="2563EB"/>
                          </a:solidFill>
                          <a:latin typeface="Calibri"/>
                        </a:defRPr>
                      </a:pPr>
                      <a:r>
                        <a:t>SPIME v4 (Proposed Meta-Ensemble)</a:t>
                      </a:r>
                    </a:p>
                  </a:txBody>
                  <a:tcPr>
                    <a:solidFill>
                      <a:srgbClr val="F0F9FF"/>
                    </a:solidFill>
                  </a:tcPr>
                </a:tc>
                <a:tc>
                  <a:txBody>
                    <a:bodyPr/>
                    <a:lstStyle/>
                    <a:p>
                      <a:pPr algn="ctr">
                        <a:defRPr sz="1200" b="1">
                          <a:solidFill>
                            <a:srgbClr val="059669"/>
                          </a:solidFill>
                          <a:latin typeface="Calibri"/>
                        </a:defRPr>
                      </a:pPr>
                      <a:r>
                        <a:t>0.9632</a:t>
                      </a:r>
                    </a:p>
                  </a:txBody>
                  <a:tcPr>
                    <a:solidFill>
                      <a:srgbClr val="F0F9FF"/>
                    </a:solidFill>
                  </a:tcPr>
                </a:tc>
                <a:tc>
                  <a:txBody>
                    <a:bodyPr/>
                    <a:lstStyle/>
                    <a:p>
                      <a:pPr algn="ctr">
                        <a:defRPr sz="1200" b="1">
                          <a:solidFill>
                            <a:srgbClr val="2563EB"/>
                          </a:solidFill>
                          <a:latin typeface="Calibri"/>
                        </a:defRPr>
                      </a:pPr>
                      <a:r>
                        <a:t>0.61</a:t>
                      </a:r>
                    </a:p>
                  </a:txBody>
                  <a:tcPr>
                    <a:solidFill>
                      <a:srgbClr val="F0F9FF"/>
                    </a:solidFill>
                  </a:tcPr>
                </a:tc>
                <a:tc>
                  <a:txBody>
                    <a:bodyPr/>
                    <a:lstStyle/>
                    <a:p>
                      <a:pPr algn="ctr">
                        <a:defRPr sz="1200" b="1">
                          <a:solidFill>
                            <a:srgbClr val="2563EB"/>
                          </a:solidFill>
                          <a:latin typeface="Calibri"/>
                        </a:defRPr>
                      </a:pPr>
                      <a:r>
                        <a:t>1.23</a:t>
                      </a:r>
                    </a:p>
                  </a:txBody>
                  <a:tcPr>
                    <a:solidFill>
                      <a:srgbClr val="F0F9FF"/>
                    </a:solidFill>
                  </a:tcPr>
                </a:tc>
                <a:tc>
                  <a:txBody>
                    <a:bodyPr/>
                    <a:lstStyle/>
                    <a:p>
                      <a:pPr algn="ctr">
                        <a:defRPr sz="1200" b="1">
                          <a:solidFill>
                            <a:srgbClr val="2563EB"/>
                          </a:solidFill>
                          <a:latin typeface="Calibri"/>
                        </a:defRPr>
                      </a:pPr>
                      <a:r>
                        <a:t>18.2%</a:t>
                      </a:r>
                    </a:p>
                  </a:txBody>
                  <a:tcPr>
                    <a:solidFill>
                      <a:srgbClr val="F0F9FF"/>
                    </a:solidFill>
                  </a:tcPr>
                </a:tc>
                <a:tc>
                  <a:txBody>
                    <a:bodyPr/>
                    <a:lstStyle/>
                    <a:p>
                      <a:pPr algn="ctr">
                        <a:defRPr sz="1200" b="1">
                          <a:solidFill>
                            <a:srgbClr val="059669"/>
                          </a:solidFill>
                          <a:latin typeface="Calibri"/>
                        </a:defRPr>
                      </a:pPr>
                      <a:r>
                        <a:t>-0.0002 (Zero Gap)</a:t>
                      </a:r>
                    </a:p>
                  </a:txBody>
                  <a:tcPr>
                    <a:solidFill>
                      <a:srgbClr val="F0F9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01168"/>
            <a:ext cx="10698480" cy="1078992"/>
          </a:xfrm>
          <a:prstGeom prst="rect">
            <a:avLst/>
          </a:prstGeom>
          <a:noFill/>
        </p:spPr>
        <p:txBody>
          <a:bodyPr wrap="square" lIns="0" rIns="0" tIns="0" bIns="0">
            <a:spAutoFit/>
          </a:bodyPr>
          <a:lstStyle/>
          <a:p>
            <a:pPr>
              <a:spcAft>
                <a:spcPts val="200"/>
              </a:spcAft>
              <a:defRPr sz="1100" b="1">
                <a:solidFill>
                  <a:srgbClr val="DAA520"/>
                </a:solidFill>
                <a:latin typeface="Arial"/>
              </a:defRPr>
            </a:pPr>
            <a:r>
              <a:t>04 | RESULTS</a:t>
            </a:r>
          </a:p>
          <a:p>
            <a:pPr>
              <a:defRPr sz="2000" b="1">
                <a:solidFill>
                  <a:srgbClr val="FFFFFF"/>
                </a:solidFill>
                <a:latin typeface="Arial"/>
              </a:defRPr>
            </a:pPr>
            <a:r>
              <a:t>Holdout Calibration Accuracy: 1:1 Parity Alignment with Reference BAM</a:t>
            </a:r>
          </a:p>
        </p:txBody>
      </p:sp>
      <p:sp>
        <p:nvSpPr>
          <p:cNvPr id="3" name="TextBox 2"/>
          <p:cNvSpPr txBox="1"/>
          <p:nvPr/>
        </p:nvSpPr>
        <p:spPr>
          <a:xfrm>
            <a:off x="731520" y="6263640"/>
            <a:ext cx="8046720" cy="320040"/>
          </a:xfrm>
          <a:prstGeom prst="rect">
            <a:avLst/>
          </a:prstGeom>
          <a:noFill/>
        </p:spPr>
        <p:txBody>
          <a:bodyPr wrap="none" lIns="0" rIns="0" tIns="0" bIns="0">
            <a:spAutoFit/>
          </a:bodyPr>
          <a:lstStyle/>
          <a:p>
            <a:pPr>
              <a:defRPr sz="1000">
                <a:solidFill>
                  <a:srgbClr val="64748B"/>
                </a:solidFill>
                <a:latin typeface="Calibri"/>
              </a:defRPr>
            </a:pPr>
            <a:r>
              <a:t>Department of Computer Science • University of Ghana  |  SPIME v4 Defense  |  Slide 13 of 22</a:t>
            </a:r>
          </a:p>
        </p:txBody>
      </p:sp>
      <p:sp>
        <p:nvSpPr>
          <p:cNvPr id="4" name="Rounded Rectangle 3"/>
          <p:cNvSpPr/>
          <p:nvPr/>
        </p:nvSpPr>
        <p:spPr>
          <a:xfrm>
            <a:off x="731520" y="1600200"/>
            <a:ext cx="4754880" cy="4434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389120" cy="4069080"/>
          </a:xfrm>
          <a:prstGeom prst="rect">
            <a:avLst/>
          </a:prstGeom>
          <a:noFill/>
        </p:spPr>
        <p:txBody>
          <a:bodyPr wrap="square">
            <a:spAutoFit/>
          </a:bodyPr>
          <a:lstStyle/>
          <a:p>
            <a:pPr>
              <a:spcAft>
                <a:spcPts val="1000"/>
              </a:spcAft>
              <a:defRPr sz="1500" b="1">
                <a:solidFill>
                  <a:srgbClr val="2563EB"/>
                </a:solidFill>
                <a:latin typeface="Arial"/>
              </a:defRPr>
            </a:pPr>
            <a:r>
              <a:t>1:1 Reference Agreement</a:t>
            </a:r>
          </a:p>
          <a:p>
            <a:pPr>
              <a:spcAft>
                <a:spcPts val="800"/>
              </a:spcAft>
              <a:defRPr sz="1150">
                <a:latin typeface="Calibri"/>
              </a:defRPr>
            </a:pPr>
            <a:r>
              <a:rPr b="1">
                <a:solidFill>
                  <a:srgbClr val="0F172A"/>
                </a:solidFill>
              </a:rPr>
              <a:t>Near-Perfect Linearity: </a:t>
            </a:r>
            <a:r>
              <a:rPr>
                <a:solidFill>
                  <a:srgbClr val="475569"/>
                </a:solidFill>
              </a:rPr>
              <a:t>Calibrated predictions align tightly along the ideal 1:1 line (y = x) across both low and extreme pollution episodes (0 to 150 µg/m³).</a:t>
            </a:r>
          </a:p>
          <a:p>
            <a:pPr>
              <a:spcAft>
                <a:spcPts val="800"/>
              </a:spcAft>
              <a:defRPr sz="1150">
                <a:latin typeface="Calibri"/>
              </a:defRPr>
            </a:pPr>
            <a:r>
              <a:rPr b="1">
                <a:solidFill>
                  <a:srgbClr val="0F172A"/>
                </a:solidFill>
              </a:rPr>
              <a:t>Elimination of Sensor Saturation: </a:t>
            </a:r>
            <a:r>
              <a:rPr>
                <a:solidFill>
                  <a:srgbClr val="475569"/>
                </a:solidFill>
              </a:rPr>
              <a:t>Non-linear response curve accurately linearizes optical detector response during heavy smoke and dust events.</a:t>
            </a:r>
          </a:p>
          <a:p>
            <a:pPr>
              <a:spcAft>
                <a:spcPts val="800"/>
              </a:spcAft>
              <a:defRPr sz="1150">
                <a:latin typeface="Calibri"/>
              </a:defRPr>
            </a:pPr>
            <a:r>
              <a:rPr b="1">
                <a:solidFill>
                  <a:srgbClr val="0F172A"/>
                </a:solidFill>
              </a:rPr>
              <a:t>US EPA Federal Equivalency Performance: </a:t>
            </a:r>
            <a:r>
              <a:rPr>
                <a:solidFill>
                  <a:srgbClr val="475569"/>
                </a:solidFill>
              </a:rPr>
              <a:t>Achieves slope m = 0.984 (ideal 1.00 ± 0.10) and intercept b = +0.12 (ideal 0.00 ± 5.00), meeting EPA FEM precision requirements.</a:t>
            </a:r>
          </a:p>
          <a:p>
            <a:pPr>
              <a:spcAft>
                <a:spcPts val="800"/>
              </a:spcAft>
              <a:defRPr sz="1150">
                <a:latin typeface="Calibri"/>
              </a:defRPr>
            </a:pPr>
            <a:r>
              <a:rPr b="1">
                <a:solidFill>
                  <a:srgbClr val="0F172A"/>
                </a:solidFill>
              </a:rPr>
              <a:t>High-Concentration Fidelity: </a:t>
            </a:r>
            <a:r>
              <a:rPr>
                <a:solidFill>
                  <a:srgbClr val="475569"/>
                </a:solidFill>
              </a:rPr>
              <a:t>Extreme peaks during Harmattan dust incursions are tracked with reference fidelity, avoiding under-estimation.</a:t>
            </a:r>
          </a:p>
        </p:txBody>
      </p:sp>
      <p:sp>
        <p:nvSpPr>
          <p:cNvPr id="6" name="Rounded Rectangle 5"/>
          <p:cNvSpPr/>
          <p:nvPr/>
        </p:nvSpPr>
        <p:spPr>
          <a:xfrm>
            <a:off x="5760720" y="1600200"/>
            <a:ext cx="5669280" cy="4434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5.png"/>
          <p:cNvPicPr>
            <a:picLocks noChangeAspect="1"/>
          </p:cNvPicPr>
          <p:nvPr/>
        </p:nvPicPr>
        <p:blipFill>
          <a:blip r:embed="rId2"/>
          <a:stretch>
            <a:fillRect/>
          </a:stretch>
        </p:blipFill>
        <p:spPr>
          <a:xfrm>
            <a:off x="6126480" y="1874519"/>
            <a:ext cx="4937760" cy="3177594"/>
          </a:xfrm>
          <a:prstGeom prst="rect">
            <a:avLst/>
          </a:prstGeom>
        </p:spPr>
      </p:pic>
      <p:sp>
        <p:nvSpPr>
          <p:cNvPr id="8" name="TextBox 7"/>
          <p:cNvSpPr txBox="1"/>
          <p:nvPr/>
        </p:nvSpPr>
        <p:spPr>
          <a:xfrm>
            <a:off x="5852160" y="5532120"/>
            <a:ext cx="5486400" cy="411480"/>
          </a:xfrm>
          <a:prstGeom prst="rect">
            <a:avLst/>
          </a:prstGeom>
          <a:noFill/>
        </p:spPr>
        <p:txBody>
          <a:bodyPr wrap="none">
            <a:spAutoFit/>
          </a:bodyPr>
          <a:lstStyle/>
          <a:p>
            <a:pPr algn="ctr">
              <a:defRPr sz="1050" b="1">
                <a:solidFill>
                  <a:srgbClr val="475569"/>
                </a:solidFill>
                <a:latin typeface="Calibri"/>
              </a:defRPr>
            </a:pPr>
            <a:r>
              <a:t>Figure 4.1: Reference Teledyne T640 vs. Calibrated SPIME v4 Holdout Parity Plot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01168"/>
            <a:ext cx="10698480" cy="1078992"/>
          </a:xfrm>
          <a:prstGeom prst="rect">
            <a:avLst/>
          </a:prstGeom>
          <a:noFill/>
        </p:spPr>
        <p:txBody>
          <a:bodyPr wrap="square" lIns="0" rIns="0" tIns="0" bIns="0">
            <a:spAutoFit/>
          </a:bodyPr>
          <a:lstStyle/>
          <a:p>
            <a:pPr>
              <a:spcAft>
                <a:spcPts val="200"/>
              </a:spcAft>
              <a:defRPr sz="1100" b="1">
                <a:solidFill>
                  <a:srgbClr val="DAA520"/>
                </a:solidFill>
                <a:latin typeface="Arial"/>
              </a:defRPr>
            </a:pPr>
            <a:r>
              <a:t>04 | RESULTS</a:t>
            </a:r>
          </a:p>
          <a:p>
            <a:pPr>
              <a:defRPr sz="2000" b="1">
                <a:solidFill>
                  <a:srgbClr val="FFFFFF"/>
                </a:solidFill>
                <a:latin typeface="Arial"/>
              </a:defRPr>
            </a:pPr>
            <a:r>
              <a:t>Diagnostic Breakdown: Elimination of Overfitting in Calibration</a:t>
            </a:r>
          </a:p>
        </p:txBody>
      </p:sp>
      <p:sp>
        <p:nvSpPr>
          <p:cNvPr id="3" name="TextBox 2"/>
          <p:cNvSpPr txBox="1"/>
          <p:nvPr/>
        </p:nvSpPr>
        <p:spPr>
          <a:xfrm>
            <a:off x="731520" y="6263640"/>
            <a:ext cx="8046720" cy="320040"/>
          </a:xfrm>
          <a:prstGeom prst="rect">
            <a:avLst/>
          </a:prstGeom>
          <a:noFill/>
        </p:spPr>
        <p:txBody>
          <a:bodyPr wrap="none" lIns="0" rIns="0" tIns="0" bIns="0">
            <a:spAutoFit/>
          </a:bodyPr>
          <a:lstStyle/>
          <a:p>
            <a:pPr>
              <a:defRPr sz="1000">
                <a:solidFill>
                  <a:srgbClr val="64748B"/>
                </a:solidFill>
                <a:latin typeface="Calibri"/>
              </a:defRPr>
            </a:pPr>
            <a:r>
              <a:t>Department of Computer Science • University of Ghana  |  SPIME v4 Defense  |  Slide 14 of 22</a:t>
            </a:r>
          </a:p>
        </p:txBody>
      </p:sp>
      <p:sp>
        <p:nvSpPr>
          <p:cNvPr id="4" name="Rounded Rectangle 3"/>
          <p:cNvSpPr/>
          <p:nvPr/>
        </p:nvSpPr>
        <p:spPr>
          <a:xfrm>
            <a:off x="731520" y="1600200"/>
            <a:ext cx="10698480" cy="1325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00200"/>
            <a:ext cx="109728" cy="1325880"/>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737360"/>
            <a:ext cx="10149840" cy="1051560"/>
          </a:xfrm>
          <a:prstGeom prst="rect">
            <a:avLst/>
          </a:prstGeom>
          <a:noFill/>
        </p:spPr>
        <p:txBody>
          <a:bodyPr wrap="square">
            <a:spAutoFit/>
          </a:bodyPr>
          <a:lstStyle/>
          <a:p>
            <a:pPr>
              <a:spcAft>
                <a:spcPts val="400"/>
              </a:spcAft>
              <a:defRPr sz="1400" b="1">
                <a:solidFill>
                  <a:srgbClr val="E11D48"/>
                </a:solidFill>
                <a:latin typeface="Arial"/>
              </a:defRPr>
            </a:pPr>
            <a:r>
              <a:t>The Overfitting Crisis in Deep Learning (ΔR² = +0.4018)</a:t>
            </a:r>
          </a:p>
          <a:p>
            <a:pPr>
              <a:defRPr sz="1150">
                <a:solidFill>
                  <a:srgbClr val="475569"/>
                </a:solidFill>
                <a:latin typeface="Calibri"/>
              </a:defRPr>
            </a:pPr>
            <a:r>
              <a:t>Neural networks (MLP, LSTM) achieved high in-sample training fit (Train R² = 0.9232) but completely collapsed on holdout data (Holdout R² = 0.5214). Over-parameterized architectures memorized high-frequency microclimate noise rather than true underlying physics.</a:t>
            </a:r>
          </a:p>
        </p:txBody>
      </p:sp>
      <p:sp>
        <p:nvSpPr>
          <p:cNvPr id="7" name="Rounded Rectangle 6"/>
          <p:cNvSpPr/>
          <p:nvPr/>
        </p:nvSpPr>
        <p:spPr>
          <a:xfrm>
            <a:off x="731520" y="3108960"/>
            <a:ext cx="10698480" cy="1325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3108960"/>
            <a:ext cx="109728" cy="1325880"/>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246120"/>
            <a:ext cx="10149840" cy="1051560"/>
          </a:xfrm>
          <a:prstGeom prst="rect">
            <a:avLst/>
          </a:prstGeom>
          <a:noFill/>
        </p:spPr>
        <p:txBody>
          <a:bodyPr wrap="square">
            <a:spAutoFit/>
          </a:bodyPr>
          <a:lstStyle/>
          <a:p>
            <a:pPr>
              <a:spcAft>
                <a:spcPts val="400"/>
              </a:spcAft>
              <a:defRPr sz="1400" b="1">
                <a:solidFill>
                  <a:srgbClr val="DAA520"/>
                </a:solidFill>
                <a:latin typeface="Arial"/>
              </a:defRPr>
            </a:pPr>
            <a:r>
              <a:t>Why Stand-Alone Ensembles Degrade (ΔR² = +0.1420)</a:t>
            </a:r>
          </a:p>
          <a:p>
            <a:pPr>
              <a:defRPr sz="1150">
                <a:solidFill>
                  <a:srgbClr val="475569"/>
                </a:solidFill>
                <a:latin typeface="Calibri"/>
              </a:defRPr>
            </a:pPr>
            <a:r>
              <a:t>Stand-alone Random Forest achieved Train R² = 0.9172 but dropped to R² = 0.7752 on holdout. Deep decision trees overfit to specific relative humidity threshold splits that did not reoccur in future seasonal cycles.</a:t>
            </a:r>
          </a:p>
        </p:txBody>
      </p:sp>
      <p:sp>
        <p:nvSpPr>
          <p:cNvPr id="10" name="Rounded Rectangle 9"/>
          <p:cNvSpPr/>
          <p:nvPr/>
        </p:nvSpPr>
        <p:spPr>
          <a:xfrm>
            <a:off x="731520" y="4617720"/>
            <a:ext cx="10698480" cy="1325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4617720"/>
            <a:ext cx="109728" cy="13258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754880"/>
            <a:ext cx="10149840" cy="1051560"/>
          </a:xfrm>
          <a:prstGeom prst="rect">
            <a:avLst/>
          </a:prstGeom>
          <a:noFill/>
        </p:spPr>
        <p:txBody>
          <a:bodyPr wrap="square">
            <a:spAutoFit/>
          </a:bodyPr>
          <a:lstStyle/>
          <a:p>
            <a:pPr>
              <a:spcAft>
                <a:spcPts val="400"/>
              </a:spcAft>
              <a:defRPr sz="1400" b="1">
                <a:solidFill>
                  <a:srgbClr val="059669"/>
                </a:solidFill>
                <a:latin typeface="Arial"/>
              </a:defRPr>
            </a:pPr>
            <a:r>
              <a:t>How SPIME v4 Solved Overfitting (ΔR² = -0.0002)</a:t>
            </a:r>
          </a:p>
          <a:p>
            <a:pPr>
              <a:defRPr sz="1150">
                <a:solidFill>
                  <a:srgbClr val="475569"/>
                </a:solidFill>
                <a:latin typeface="Calibri"/>
              </a:defRPr>
            </a:pPr>
            <a:r>
              <a:t>SPIME v4 utilizes 5-Fold out-of-fold cross-validation stacking combined with an L2-regularized Ridge meta-regressor. The meta-learner receives predictions only from unobserved folds, achieving near-zero generalization loss (Train R² = 0.9630 vs Holdout R² = 0.9632).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01168"/>
            <a:ext cx="10698480" cy="1078992"/>
          </a:xfrm>
          <a:prstGeom prst="rect">
            <a:avLst/>
          </a:prstGeom>
          <a:noFill/>
        </p:spPr>
        <p:txBody>
          <a:bodyPr wrap="square" lIns="0" rIns="0" tIns="0" bIns="0">
            <a:spAutoFit/>
          </a:bodyPr>
          <a:lstStyle/>
          <a:p>
            <a:pPr>
              <a:spcAft>
                <a:spcPts val="200"/>
              </a:spcAft>
              <a:defRPr sz="1100" b="1">
                <a:solidFill>
                  <a:srgbClr val="DAA520"/>
                </a:solidFill>
                <a:latin typeface="Arial"/>
              </a:defRPr>
            </a:pPr>
            <a:r>
              <a:t>04 | RESULTS</a:t>
            </a:r>
          </a:p>
          <a:p>
            <a:pPr>
              <a:defRPr sz="2000" b="1">
                <a:solidFill>
                  <a:srgbClr val="FFFFFF"/>
                </a:solidFill>
                <a:latin typeface="Arial"/>
              </a:defRPr>
            </a:pPr>
            <a:r>
              <a:t>Model Explainability: Physics-Guided Feature Attribution &amp; SHAP Rankings</a:t>
            </a:r>
          </a:p>
        </p:txBody>
      </p:sp>
      <p:sp>
        <p:nvSpPr>
          <p:cNvPr id="3" name="TextBox 2"/>
          <p:cNvSpPr txBox="1"/>
          <p:nvPr/>
        </p:nvSpPr>
        <p:spPr>
          <a:xfrm>
            <a:off x="731520" y="6263640"/>
            <a:ext cx="8046720" cy="320040"/>
          </a:xfrm>
          <a:prstGeom prst="rect">
            <a:avLst/>
          </a:prstGeom>
          <a:noFill/>
        </p:spPr>
        <p:txBody>
          <a:bodyPr wrap="none" lIns="0" rIns="0" tIns="0" bIns="0">
            <a:spAutoFit/>
          </a:bodyPr>
          <a:lstStyle/>
          <a:p>
            <a:pPr>
              <a:defRPr sz="1000">
                <a:solidFill>
                  <a:srgbClr val="64748B"/>
                </a:solidFill>
                <a:latin typeface="Calibri"/>
              </a:defRPr>
            </a:pPr>
            <a:r>
              <a:t>Department of Computer Science • University of Ghana  |  SPIME v4 Defense  |  Slide 15 of 22</a:t>
            </a:r>
          </a:p>
        </p:txBody>
      </p:sp>
      <p:sp>
        <p:nvSpPr>
          <p:cNvPr id="4" name="Rounded Rectangle 3"/>
          <p:cNvSpPr/>
          <p:nvPr/>
        </p:nvSpPr>
        <p:spPr>
          <a:xfrm>
            <a:off x="731520" y="1600200"/>
            <a:ext cx="4754880" cy="4434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389120" cy="4069080"/>
          </a:xfrm>
          <a:prstGeom prst="rect">
            <a:avLst/>
          </a:prstGeom>
          <a:noFill/>
        </p:spPr>
        <p:txBody>
          <a:bodyPr wrap="square">
            <a:spAutoFit/>
          </a:bodyPr>
          <a:lstStyle/>
          <a:p>
            <a:pPr>
              <a:spcAft>
                <a:spcPts val="1000"/>
              </a:spcAft>
              <a:defRPr sz="1500" b="1">
                <a:solidFill>
                  <a:srgbClr val="2563EB"/>
                </a:solidFill>
                <a:latin typeface="Arial"/>
              </a:defRPr>
            </a:pPr>
            <a:r>
              <a:t>Gini Feature Importance Rankings</a:t>
            </a:r>
          </a:p>
          <a:p>
            <a:pPr>
              <a:spcAft>
                <a:spcPts val="600"/>
              </a:spcAft>
              <a:defRPr sz="1100">
                <a:latin typeface="Calibri"/>
              </a:defRPr>
            </a:pPr>
            <a:r>
              <a:rPr b="1">
                <a:solidFill>
                  <a:srgbClr val="0F172A"/>
                </a:solidFill>
              </a:rPr>
              <a:t>1. Köhler Physics Dominance (24.5%): </a:t>
            </a:r>
            <a:r>
              <a:rPr>
                <a:solidFill>
                  <a:srgbClr val="475569"/>
                </a:solidFill>
              </a:rPr>
              <a:t>Multi-gamma hygroscopic growth interaction terms account for the single largest predictive attribution across tree base learners.</a:t>
            </a:r>
          </a:p>
          <a:p>
            <a:pPr>
              <a:spcAft>
                <a:spcPts val="600"/>
              </a:spcAft>
              <a:defRPr sz="1100">
                <a:latin typeface="Calibri"/>
              </a:defRPr>
            </a:pPr>
            <a:r>
              <a:rPr b="1">
                <a:solidFill>
                  <a:srgbClr val="0F172A"/>
                </a:solidFill>
              </a:rPr>
              <a:t>2. Thermodynamic Moisture (18.2%): </a:t>
            </a:r>
            <a:r>
              <a:rPr>
                <a:solidFill>
                  <a:srgbClr val="475569"/>
                </a:solidFill>
              </a:rPr>
              <a:t>Dew point depression and vapor pressure deficit provide critical non-linear corrections during dawn humidity spikes.</a:t>
            </a:r>
          </a:p>
          <a:p>
            <a:pPr>
              <a:spcAft>
                <a:spcPts val="600"/>
              </a:spcAft>
              <a:defRPr sz="1100">
                <a:latin typeface="Calibri"/>
              </a:defRPr>
            </a:pPr>
            <a:r>
              <a:rPr b="1">
                <a:solidFill>
                  <a:srgbClr val="0F172A"/>
                </a:solidFill>
              </a:rPr>
              <a:t>3. Optical Size Distribution (15.4%): </a:t>
            </a:r>
            <a:r>
              <a:rPr>
                <a:solidFill>
                  <a:srgbClr val="475569"/>
                </a:solidFill>
              </a:rPr>
              <a:t>Raw PM10/PM2.5 ratio actively signals coarse Saharan dust presence, triggering appropriate scattering corrections.</a:t>
            </a:r>
          </a:p>
          <a:p>
            <a:pPr>
              <a:spcAft>
                <a:spcPts val="600"/>
              </a:spcAft>
              <a:defRPr sz="1100">
                <a:latin typeface="Calibri"/>
              </a:defRPr>
            </a:pPr>
            <a:r>
              <a:rPr b="1">
                <a:solidFill>
                  <a:srgbClr val="0F172A"/>
                </a:solidFill>
              </a:rPr>
              <a:t>4. Temporal EWMA Dynamics (14.1%): </a:t>
            </a:r>
            <a:r>
              <a:rPr>
                <a:solidFill>
                  <a:srgbClr val="475569"/>
                </a:solidFill>
              </a:rPr>
              <a:t>3-hour and 12-hour moving averages filter out short-term turbulence and transient sensor noise.</a:t>
            </a:r>
          </a:p>
          <a:p>
            <a:pPr>
              <a:spcAft>
                <a:spcPts val="600"/>
              </a:spcAft>
              <a:defRPr sz="1100">
                <a:latin typeface="Calibri"/>
              </a:defRPr>
            </a:pPr>
            <a:r>
              <a:rPr b="1">
                <a:solidFill>
                  <a:srgbClr val="0F172A"/>
                </a:solidFill>
              </a:rPr>
              <a:t>Scientific Validation: </a:t>
            </a:r>
            <a:r>
              <a:rPr>
                <a:solidFill>
                  <a:srgbClr val="475569"/>
                </a:solidFill>
              </a:rPr>
              <a:t>Confirms that the model learns physical atmospheric mechanisms rather than spurious mathematical correlations.</a:t>
            </a:r>
          </a:p>
        </p:txBody>
      </p:sp>
      <p:sp>
        <p:nvSpPr>
          <p:cNvPr id="6" name="Rounded Rectangle 5"/>
          <p:cNvSpPr/>
          <p:nvPr/>
        </p:nvSpPr>
        <p:spPr>
          <a:xfrm>
            <a:off x="5760720" y="1600200"/>
            <a:ext cx="5669280" cy="4434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4_4_feature_importance.png"/>
          <p:cNvPicPr>
            <a:picLocks noChangeAspect="1"/>
          </p:cNvPicPr>
          <p:nvPr/>
        </p:nvPicPr>
        <p:blipFill>
          <a:blip r:embed="rId2"/>
          <a:stretch>
            <a:fillRect/>
          </a:stretch>
        </p:blipFill>
        <p:spPr>
          <a:xfrm>
            <a:off x="5943600" y="1783080"/>
            <a:ext cx="5303520" cy="3749039"/>
          </a:xfrm>
          <a:prstGeom prst="rect">
            <a:avLst/>
          </a:prstGeom>
        </p:spPr>
      </p:pic>
      <p:sp>
        <p:nvSpPr>
          <p:cNvPr id="8" name="TextBox 7"/>
          <p:cNvSpPr txBox="1"/>
          <p:nvPr/>
        </p:nvSpPr>
        <p:spPr>
          <a:xfrm>
            <a:off x="5852160" y="5623560"/>
            <a:ext cx="5486400" cy="365760"/>
          </a:xfrm>
          <a:prstGeom prst="rect">
            <a:avLst/>
          </a:prstGeom>
          <a:noFill/>
        </p:spPr>
        <p:txBody>
          <a:bodyPr wrap="none">
            <a:spAutoFit/>
          </a:bodyPr>
          <a:lstStyle/>
          <a:p>
            <a:pPr algn="ctr">
              <a:defRPr sz="1050" b="1">
                <a:solidFill>
                  <a:srgbClr val="475569"/>
                </a:solidFill>
                <a:latin typeface="Calibri"/>
              </a:defRPr>
            </a:pPr>
            <a:r>
              <a:t>Figure 4.2: Top 20 Feature Importance Attributions Across Tree Models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01168"/>
            <a:ext cx="10698480" cy="1078992"/>
          </a:xfrm>
          <a:prstGeom prst="rect">
            <a:avLst/>
          </a:prstGeom>
          <a:noFill/>
        </p:spPr>
        <p:txBody>
          <a:bodyPr wrap="square" lIns="0" rIns="0" tIns="0" bIns="0">
            <a:spAutoFit/>
          </a:bodyPr>
          <a:lstStyle/>
          <a:p>
            <a:pPr>
              <a:spcAft>
                <a:spcPts val="200"/>
              </a:spcAft>
              <a:defRPr sz="1100" b="1">
                <a:solidFill>
                  <a:srgbClr val="DAA520"/>
                </a:solidFill>
                <a:latin typeface="Arial"/>
              </a:defRPr>
            </a:pPr>
            <a:r>
              <a:t>04 | RESULTS</a:t>
            </a:r>
          </a:p>
          <a:p>
            <a:pPr>
              <a:defRPr sz="2000" b="1">
                <a:solidFill>
                  <a:srgbClr val="FFFFFF"/>
                </a:solidFill>
                <a:latin typeface="Arial"/>
              </a:defRPr>
            </a:pPr>
            <a:r>
              <a:t>Seasonal Generalization: Performance Across Monsoon &amp; Harmattan Regimes</a:t>
            </a:r>
          </a:p>
        </p:txBody>
      </p:sp>
      <p:sp>
        <p:nvSpPr>
          <p:cNvPr id="3" name="TextBox 2"/>
          <p:cNvSpPr txBox="1"/>
          <p:nvPr/>
        </p:nvSpPr>
        <p:spPr>
          <a:xfrm>
            <a:off x="731520" y="6263640"/>
            <a:ext cx="8046720" cy="320040"/>
          </a:xfrm>
          <a:prstGeom prst="rect">
            <a:avLst/>
          </a:prstGeom>
          <a:noFill/>
        </p:spPr>
        <p:txBody>
          <a:bodyPr wrap="none" lIns="0" rIns="0" tIns="0" bIns="0">
            <a:spAutoFit/>
          </a:bodyPr>
          <a:lstStyle/>
          <a:p>
            <a:pPr>
              <a:defRPr sz="1000">
                <a:solidFill>
                  <a:srgbClr val="64748B"/>
                </a:solidFill>
                <a:latin typeface="Calibri"/>
              </a:defRPr>
            </a:pPr>
            <a:r>
              <a:t>Department of Computer Science • University of Ghana  |  SPIME v4 Defense  |  Slide 16 of 22</a:t>
            </a:r>
          </a:p>
        </p:txBody>
      </p:sp>
      <p:sp>
        <p:nvSpPr>
          <p:cNvPr id="4" name="Rounded Rectangle 3"/>
          <p:cNvSpPr/>
          <p:nvPr/>
        </p:nvSpPr>
        <p:spPr>
          <a:xfrm>
            <a:off x="731520" y="1600200"/>
            <a:ext cx="5212080" cy="4434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00200"/>
            <a:ext cx="5212080"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754880" cy="4069080"/>
          </a:xfrm>
          <a:prstGeom prst="rect">
            <a:avLst/>
          </a:prstGeom>
          <a:noFill/>
        </p:spPr>
        <p:txBody>
          <a:bodyPr wrap="square">
            <a:spAutoFit/>
          </a:bodyPr>
          <a:lstStyle/>
          <a:p>
            <a:pPr>
              <a:spcAft>
                <a:spcPts val="1000"/>
              </a:spcAft>
              <a:defRPr sz="1500" b="1">
                <a:solidFill>
                  <a:srgbClr val="2563EB"/>
                </a:solidFill>
                <a:latin typeface="Arial"/>
              </a:defRPr>
            </a:pPr>
            <a:r>
              <a:t>1. Monsoon Wet Season (June – October)</a:t>
            </a:r>
          </a:p>
          <a:p>
            <a:pPr>
              <a:spcAft>
                <a:spcPts val="800"/>
              </a:spcAft>
              <a:defRPr sz="1150">
                <a:latin typeface="Calibri"/>
              </a:defRPr>
            </a:pPr>
            <a:r>
              <a:rPr b="1">
                <a:solidFill>
                  <a:srgbClr val="0F172A"/>
                </a:solidFill>
              </a:rPr>
              <a:t>Atmospheric Regime: </a:t>
            </a:r>
            <a:r>
              <a:rPr>
                <a:solidFill>
                  <a:srgbClr val="475569"/>
                </a:solidFill>
              </a:rPr>
              <a:t>Persistent high relative humidity (diurnal peaks &gt; 90%), maritime air masses, frequent rainfall wash-out.</a:t>
            </a:r>
          </a:p>
          <a:p>
            <a:pPr>
              <a:spcAft>
                <a:spcPts val="800"/>
              </a:spcAft>
              <a:defRPr sz="1150">
                <a:latin typeface="Calibri"/>
              </a:defRPr>
            </a:pPr>
            <a:r>
              <a:rPr b="1">
                <a:solidFill>
                  <a:srgbClr val="0F172A"/>
                </a:solidFill>
              </a:rPr>
              <a:t>Physical Challenge: </a:t>
            </a:r>
            <a:r>
              <a:rPr>
                <a:solidFill>
                  <a:srgbClr val="475569"/>
                </a:solidFill>
              </a:rPr>
              <a:t>Severe hygroscopic aerosol swelling; raw optical sensors over-report particulate mass by 200%–300%.</a:t>
            </a:r>
          </a:p>
          <a:p>
            <a:pPr>
              <a:spcAft>
                <a:spcPts val="800"/>
              </a:spcAft>
              <a:defRPr sz="1150">
                <a:latin typeface="Calibri"/>
              </a:defRPr>
            </a:pPr>
            <a:r>
              <a:rPr b="1">
                <a:solidFill>
                  <a:srgbClr val="0F172A"/>
                </a:solidFill>
              </a:rPr>
              <a:t>SPIME v4 Performance: </a:t>
            </a:r>
            <a:r>
              <a:rPr>
                <a:solidFill>
                  <a:srgbClr val="475569"/>
                </a:solidFill>
              </a:rPr>
              <a:t>R² = 0.9684, MAE = 0.58 µg/m³, RMSE = 1.18 µg/m³.</a:t>
            </a:r>
          </a:p>
          <a:p>
            <a:pPr>
              <a:spcAft>
                <a:spcPts val="800"/>
              </a:spcAft>
              <a:defRPr sz="1150">
                <a:latin typeface="Calibri"/>
              </a:defRPr>
            </a:pPr>
            <a:r>
              <a:rPr b="1">
                <a:solidFill>
                  <a:srgbClr val="0F172A"/>
                </a:solidFill>
              </a:rPr>
              <a:t>Physics Correction: </a:t>
            </a:r>
            <a:r>
              <a:rPr>
                <a:solidFill>
                  <a:srgbClr val="475569"/>
                </a:solidFill>
              </a:rPr>
              <a:t>The parameterized Köhler hygroscopic growth curve mathematically deducts condensed water volume, matching reference BAM measurements precisely.</a:t>
            </a:r>
          </a:p>
        </p:txBody>
      </p:sp>
      <p:sp>
        <p:nvSpPr>
          <p:cNvPr id="7" name="Rounded Rectangle 6"/>
          <p:cNvSpPr/>
          <p:nvPr/>
        </p:nvSpPr>
        <p:spPr>
          <a:xfrm>
            <a:off x="6126480" y="1600200"/>
            <a:ext cx="5212080" cy="4434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26480" y="1600200"/>
            <a:ext cx="5212080" cy="1097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828800"/>
            <a:ext cx="4754880" cy="4069080"/>
          </a:xfrm>
          <a:prstGeom prst="rect">
            <a:avLst/>
          </a:prstGeom>
          <a:noFill/>
        </p:spPr>
        <p:txBody>
          <a:bodyPr wrap="square">
            <a:spAutoFit/>
          </a:bodyPr>
          <a:lstStyle/>
          <a:p>
            <a:pPr>
              <a:spcAft>
                <a:spcPts val="1000"/>
              </a:spcAft>
              <a:defRPr sz="1500" b="1">
                <a:solidFill>
                  <a:srgbClr val="DAA520"/>
                </a:solidFill>
                <a:latin typeface="Arial"/>
              </a:defRPr>
            </a:pPr>
            <a:r>
              <a:t>2. Harmattan Dry Season (November – March)</a:t>
            </a:r>
          </a:p>
          <a:p>
            <a:pPr>
              <a:spcAft>
                <a:spcPts val="800"/>
              </a:spcAft>
              <a:defRPr sz="1150">
                <a:latin typeface="Calibri"/>
              </a:defRPr>
            </a:pPr>
            <a:r>
              <a:rPr b="1">
                <a:solidFill>
                  <a:srgbClr val="0F172A"/>
                </a:solidFill>
              </a:rPr>
              <a:t>Atmospheric Regime: </a:t>
            </a:r>
            <a:r>
              <a:rPr>
                <a:solidFill>
                  <a:srgbClr val="475569"/>
                </a:solidFill>
              </a:rPr>
              <a:t>Dry northeasterly Saharan trade winds, relative humidity drops below 30%, heavy coarse mineral dust incursions.</a:t>
            </a:r>
          </a:p>
          <a:p>
            <a:pPr>
              <a:spcAft>
                <a:spcPts val="800"/>
              </a:spcAft>
              <a:defRPr sz="1150">
                <a:latin typeface="Calibri"/>
              </a:defRPr>
            </a:pPr>
            <a:r>
              <a:rPr b="1">
                <a:solidFill>
                  <a:srgbClr val="0F172A"/>
                </a:solidFill>
              </a:rPr>
              <a:t>Physical Challenge: </a:t>
            </a:r>
            <a:r>
              <a:rPr>
                <a:solidFill>
                  <a:srgbClr val="475569"/>
                </a:solidFill>
              </a:rPr>
              <a:t>Irregular, non-spherical mineral dust grains cause optical scattering anomalies and detector saturation.</a:t>
            </a:r>
          </a:p>
          <a:p>
            <a:pPr>
              <a:spcAft>
                <a:spcPts val="800"/>
              </a:spcAft>
              <a:defRPr sz="1150">
                <a:latin typeface="Calibri"/>
              </a:defRPr>
            </a:pPr>
            <a:r>
              <a:rPr b="1">
                <a:solidFill>
                  <a:srgbClr val="0F172A"/>
                </a:solidFill>
              </a:rPr>
              <a:t>SPIME v4 Performance: </a:t>
            </a:r>
            <a:r>
              <a:rPr>
                <a:solidFill>
                  <a:srgbClr val="475569"/>
                </a:solidFill>
              </a:rPr>
              <a:t>R² = 0.9542, MAE = 0.69 µg/m³, RMSE = 1.34 µg/m³.</a:t>
            </a:r>
          </a:p>
          <a:p>
            <a:pPr>
              <a:spcAft>
                <a:spcPts val="800"/>
              </a:spcAft>
              <a:defRPr sz="1150">
                <a:latin typeface="Calibri"/>
              </a:defRPr>
            </a:pPr>
            <a:r>
              <a:rPr b="1">
                <a:solidFill>
                  <a:srgbClr val="0F172A"/>
                </a:solidFill>
              </a:rPr>
              <a:t>Physics Correction: </a:t>
            </a:r>
            <a:r>
              <a:rPr>
                <a:solidFill>
                  <a:srgbClr val="475569"/>
                </a:solidFill>
              </a:rPr>
              <a:t>Coarse dust fraction cross-terms (PM10/PM2.5) dynamically compensate for non-spherical particle scattering without manual recalibration.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01168"/>
            <a:ext cx="10698480" cy="1078992"/>
          </a:xfrm>
          <a:prstGeom prst="rect">
            <a:avLst/>
          </a:prstGeom>
          <a:noFill/>
        </p:spPr>
        <p:txBody>
          <a:bodyPr wrap="square" lIns="0" rIns="0" tIns="0" bIns="0">
            <a:spAutoFit/>
          </a:bodyPr>
          <a:lstStyle/>
          <a:p>
            <a:pPr>
              <a:spcAft>
                <a:spcPts val="200"/>
              </a:spcAft>
              <a:defRPr sz="1100" b="1">
                <a:solidFill>
                  <a:srgbClr val="DAA520"/>
                </a:solidFill>
                <a:latin typeface="Arial"/>
              </a:defRPr>
            </a:pPr>
            <a:r>
              <a:t>04 | RESULTS</a:t>
            </a:r>
          </a:p>
          <a:p>
            <a:pPr>
              <a:defRPr sz="2000" b="1">
                <a:solidFill>
                  <a:srgbClr val="FFFFFF"/>
                </a:solidFill>
                <a:latin typeface="Arial"/>
              </a:defRPr>
            </a:pPr>
            <a:r>
              <a:t>Statistical Residual Diagnostics: Normality, Homoscedasticity &amp; Bias</a:t>
            </a:r>
          </a:p>
        </p:txBody>
      </p:sp>
      <p:sp>
        <p:nvSpPr>
          <p:cNvPr id="3" name="TextBox 2"/>
          <p:cNvSpPr txBox="1"/>
          <p:nvPr/>
        </p:nvSpPr>
        <p:spPr>
          <a:xfrm>
            <a:off x="731520" y="6263640"/>
            <a:ext cx="8046720" cy="320040"/>
          </a:xfrm>
          <a:prstGeom prst="rect">
            <a:avLst/>
          </a:prstGeom>
          <a:noFill/>
        </p:spPr>
        <p:txBody>
          <a:bodyPr wrap="none" lIns="0" rIns="0" tIns="0" bIns="0">
            <a:spAutoFit/>
          </a:bodyPr>
          <a:lstStyle/>
          <a:p>
            <a:pPr>
              <a:defRPr sz="1000">
                <a:solidFill>
                  <a:srgbClr val="64748B"/>
                </a:solidFill>
                <a:latin typeface="Calibri"/>
              </a:defRPr>
            </a:pPr>
            <a:r>
              <a:t>Department of Computer Science • University of Ghana  |  SPIME v4 Defense  |  Slide 17 of 22</a:t>
            </a:r>
          </a:p>
        </p:txBody>
      </p:sp>
      <p:sp>
        <p:nvSpPr>
          <p:cNvPr id="4" name="Rounded Rectangle 3"/>
          <p:cNvSpPr/>
          <p:nvPr/>
        </p:nvSpPr>
        <p:spPr>
          <a:xfrm>
            <a:off x="731520" y="1600200"/>
            <a:ext cx="4754880" cy="4434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389120" cy="4069080"/>
          </a:xfrm>
          <a:prstGeom prst="rect">
            <a:avLst/>
          </a:prstGeom>
          <a:noFill/>
        </p:spPr>
        <p:txBody>
          <a:bodyPr wrap="square">
            <a:spAutoFit/>
          </a:bodyPr>
          <a:lstStyle/>
          <a:p>
            <a:pPr>
              <a:spcAft>
                <a:spcPts val="1000"/>
              </a:spcAft>
              <a:defRPr sz="1500" b="1">
                <a:solidFill>
                  <a:srgbClr val="2563EB"/>
                </a:solidFill>
                <a:latin typeface="Arial"/>
              </a:defRPr>
            </a:pPr>
            <a:r>
              <a:t>Diagnostic Residual Verification</a:t>
            </a:r>
          </a:p>
          <a:p>
            <a:pPr>
              <a:spcAft>
                <a:spcPts val="800"/>
              </a:spcAft>
              <a:defRPr sz="1150">
                <a:latin typeface="Calibri"/>
              </a:defRPr>
            </a:pPr>
            <a:r>
              <a:rPr b="1">
                <a:solidFill>
                  <a:srgbClr val="0F172A"/>
                </a:solidFill>
              </a:rPr>
              <a:t>Zero Mean Error (Unbiasedness): </a:t>
            </a:r>
            <a:r>
              <a:rPr>
                <a:solidFill>
                  <a:srgbClr val="475569"/>
                </a:solidFill>
              </a:rPr>
              <a:t>Mean prediction error on 3,468 holdout hours is μ = -0.012 µg/m³, proving the absence of systematic calibration drift.</a:t>
            </a:r>
          </a:p>
          <a:p>
            <a:pPr>
              <a:spcAft>
                <a:spcPts val="800"/>
              </a:spcAft>
              <a:defRPr sz="1150">
                <a:latin typeface="Calibri"/>
              </a:defRPr>
            </a:pPr>
            <a:r>
              <a:rPr b="1">
                <a:solidFill>
                  <a:srgbClr val="0F172A"/>
                </a:solidFill>
              </a:rPr>
              <a:t>Gaussian Normality: </a:t>
            </a:r>
            <a:r>
              <a:rPr>
                <a:solidFill>
                  <a:srgbClr val="475569"/>
                </a:solidFill>
              </a:rPr>
              <a:t>Residual distribution conforms tightly to a normal distribution with minimal skewness (S = 0.08) and controlled kurtosis (K = 3.12).</a:t>
            </a:r>
          </a:p>
          <a:p>
            <a:pPr>
              <a:spcAft>
                <a:spcPts val="800"/>
              </a:spcAft>
              <a:defRPr sz="1150">
                <a:latin typeface="Calibri"/>
              </a:defRPr>
            </a:pPr>
            <a:r>
              <a:rPr b="1">
                <a:solidFill>
                  <a:srgbClr val="0F172A"/>
                </a:solidFill>
              </a:rPr>
              <a:t>Homoscedasticity: </a:t>
            </a:r>
            <a:r>
              <a:rPr>
                <a:solidFill>
                  <a:srgbClr val="475569"/>
                </a:solidFill>
              </a:rPr>
              <a:t>Residual variance remains uniform across all concentration ranges (0 to 150 µg/m³), confirming error does not explode during extreme pollution spikes.</a:t>
            </a:r>
          </a:p>
          <a:p>
            <a:pPr>
              <a:spcAft>
                <a:spcPts val="800"/>
              </a:spcAft>
              <a:defRPr sz="1150">
                <a:latin typeface="Calibri"/>
              </a:defRPr>
            </a:pPr>
            <a:r>
              <a:rPr b="1">
                <a:solidFill>
                  <a:srgbClr val="0F172A"/>
                </a:solidFill>
              </a:rPr>
              <a:t>Durbin-Watson Test (d = 1.96): </a:t>
            </a:r>
            <a:r>
              <a:rPr>
                <a:solidFill>
                  <a:srgbClr val="475569"/>
                </a:solidFill>
              </a:rPr>
              <a:t>Confirms absence of residual serial autocorrelation, satisfying all linear meta-model assumptions.</a:t>
            </a:r>
          </a:p>
        </p:txBody>
      </p:sp>
      <p:sp>
        <p:nvSpPr>
          <p:cNvPr id="6" name="Rounded Rectangle 5"/>
          <p:cNvSpPr/>
          <p:nvPr/>
        </p:nvSpPr>
        <p:spPr>
          <a:xfrm>
            <a:off x="5760720" y="1600200"/>
            <a:ext cx="5669280" cy="4434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4_5_residual_histogram.png"/>
          <p:cNvPicPr>
            <a:picLocks noChangeAspect="1"/>
          </p:cNvPicPr>
          <p:nvPr/>
        </p:nvPicPr>
        <p:blipFill>
          <a:blip r:embed="rId2"/>
          <a:stretch>
            <a:fillRect/>
          </a:stretch>
        </p:blipFill>
        <p:spPr>
          <a:xfrm>
            <a:off x="5943600" y="1874519"/>
            <a:ext cx="5303520" cy="3182112"/>
          </a:xfrm>
          <a:prstGeom prst="rect">
            <a:avLst/>
          </a:prstGeom>
        </p:spPr>
      </p:pic>
      <p:sp>
        <p:nvSpPr>
          <p:cNvPr id="8" name="TextBox 7"/>
          <p:cNvSpPr txBox="1"/>
          <p:nvPr/>
        </p:nvSpPr>
        <p:spPr>
          <a:xfrm>
            <a:off x="5852160" y="5532120"/>
            <a:ext cx="5486400" cy="411480"/>
          </a:xfrm>
          <a:prstGeom prst="rect">
            <a:avLst/>
          </a:prstGeom>
          <a:noFill/>
        </p:spPr>
        <p:txBody>
          <a:bodyPr wrap="none">
            <a:spAutoFit/>
          </a:bodyPr>
          <a:lstStyle/>
          <a:p>
            <a:pPr algn="ctr">
              <a:defRPr sz="1050" b="1">
                <a:solidFill>
                  <a:srgbClr val="475569"/>
                </a:solidFill>
                <a:latin typeface="Calibri"/>
              </a:defRPr>
            </a:pPr>
            <a:r>
              <a:t>Figure 4.3: Holdout Calibration Residual Distribution &amp; Gaussian Normality Fit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01168"/>
            <a:ext cx="10698480" cy="1078992"/>
          </a:xfrm>
          <a:prstGeom prst="rect">
            <a:avLst/>
          </a:prstGeom>
          <a:noFill/>
        </p:spPr>
        <p:txBody>
          <a:bodyPr wrap="square" lIns="0" rIns="0" tIns="0" bIns="0">
            <a:spAutoFit/>
          </a:bodyPr>
          <a:lstStyle/>
          <a:p>
            <a:pPr>
              <a:spcAft>
                <a:spcPts val="200"/>
              </a:spcAft>
              <a:defRPr sz="1100" b="1">
                <a:solidFill>
                  <a:srgbClr val="DAA520"/>
                </a:solidFill>
                <a:latin typeface="Arial"/>
              </a:defRPr>
            </a:pPr>
            <a:r>
              <a:t>05 | DEPLOYMENT</a:t>
            </a:r>
          </a:p>
          <a:p>
            <a:pPr>
              <a:defRPr sz="2000" b="1">
                <a:solidFill>
                  <a:srgbClr val="FFFFFF"/>
                </a:solidFill>
                <a:latin typeface="Arial"/>
              </a:defRPr>
            </a:pPr>
            <a:r>
              <a:t>Operational Cloud Deployment &amp; Software Architecture</a:t>
            </a:r>
          </a:p>
        </p:txBody>
      </p:sp>
      <p:sp>
        <p:nvSpPr>
          <p:cNvPr id="3" name="TextBox 2"/>
          <p:cNvSpPr txBox="1"/>
          <p:nvPr/>
        </p:nvSpPr>
        <p:spPr>
          <a:xfrm>
            <a:off x="731520" y="6263640"/>
            <a:ext cx="8046720" cy="320040"/>
          </a:xfrm>
          <a:prstGeom prst="rect">
            <a:avLst/>
          </a:prstGeom>
          <a:noFill/>
        </p:spPr>
        <p:txBody>
          <a:bodyPr wrap="none" lIns="0" rIns="0" tIns="0" bIns="0">
            <a:spAutoFit/>
          </a:bodyPr>
          <a:lstStyle/>
          <a:p>
            <a:pPr>
              <a:defRPr sz="1000">
                <a:solidFill>
                  <a:srgbClr val="64748B"/>
                </a:solidFill>
                <a:latin typeface="Calibri"/>
              </a:defRPr>
            </a:pPr>
            <a:r>
              <a:t>Department of Computer Science • University of Ghana  |  SPIME v4 Defense  |  Slide 18 of 22</a:t>
            </a:r>
          </a:p>
        </p:txBody>
      </p:sp>
      <p:sp>
        <p:nvSpPr>
          <p:cNvPr id="4" name="Rounded Rectangle 3"/>
          <p:cNvSpPr/>
          <p:nvPr/>
        </p:nvSpPr>
        <p:spPr>
          <a:xfrm>
            <a:off x="731520" y="1600200"/>
            <a:ext cx="5212080" cy="2148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00200"/>
            <a:ext cx="109728" cy="21488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83080"/>
            <a:ext cx="4800600" cy="1828800"/>
          </a:xfrm>
          <a:prstGeom prst="rect">
            <a:avLst/>
          </a:prstGeom>
          <a:noFill/>
        </p:spPr>
        <p:txBody>
          <a:bodyPr wrap="square">
            <a:spAutoFit/>
          </a:bodyPr>
          <a:lstStyle/>
          <a:p>
            <a:pPr>
              <a:spcAft>
                <a:spcPts val="600"/>
              </a:spcAft>
              <a:defRPr sz="1350" b="1">
                <a:solidFill>
                  <a:srgbClr val="2563EB"/>
                </a:solidFill>
                <a:latin typeface="Arial"/>
              </a:defRPr>
            </a:pPr>
            <a:r>
              <a:t>1. Serialized Model Pipeline Artifact (7.8 MB)</a:t>
            </a:r>
          </a:p>
          <a:p>
            <a:pPr>
              <a:defRPr sz="1100">
                <a:solidFill>
                  <a:srgbClr val="475569"/>
                </a:solidFill>
                <a:latin typeface="Calibri"/>
              </a:defRPr>
            </a:pPr>
            <a:r>
              <a:t>The full SPIME v4 pipeline—including feature scaling, Köhler math transformations, base models, and meta-regressor—is compiled into an optimized, self-contained joblib binary ready for instant serverless execution.</a:t>
            </a:r>
          </a:p>
        </p:txBody>
      </p:sp>
      <p:sp>
        <p:nvSpPr>
          <p:cNvPr id="7" name="Rounded Rectangle 6"/>
          <p:cNvSpPr/>
          <p:nvPr/>
        </p:nvSpPr>
        <p:spPr>
          <a:xfrm>
            <a:off x="6126480" y="1600200"/>
            <a:ext cx="5212080" cy="2148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26480" y="1600200"/>
            <a:ext cx="109728" cy="21488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83080"/>
            <a:ext cx="4800600" cy="1828800"/>
          </a:xfrm>
          <a:prstGeom prst="rect">
            <a:avLst/>
          </a:prstGeom>
          <a:noFill/>
        </p:spPr>
        <p:txBody>
          <a:bodyPr wrap="square">
            <a:spAutoFit/>
          </a:bodyPr>
          <a:lstStyle/>
          <a:p>
            <a:pPr>
              <a:spcAft>
                <a:spcPts val="600"/>
              </a:spcAft>
              <a:defRPr sz="1350" b="1">
                <a:solidFill>
                  <a:srgbClr val="059669"/>
                </a:solidFill>
                <a:latin typeface="Arial"/>
              </a:defRPr>
            </a:pPr>
            <a:r>
              <a:t>2. Asynchronous REST API (FastAPI)</a:t>
            </a:r>
          </a:p>
          <a:p>
            <a:pPr>
              <a:defRPr sz="1100">
                <a:solidFill>
                  <a:srgbClr val="475569"/>
                </a:solidFill>
                <a:latin typeface="Calibri"/>
              </a:defRPr>
            </a:pPr>
            <a:r>
              <a:t>Exposes high-throughput POST /calibrate and /batch-calibrate endpoints with sub-10ms response latency, Pydantic input schemas, and comprehensive Swagger documentation.</a:t>
            </a:r>
          </a:p>
        </p:txBody>
      </p:sp>
      <p:sp>
        <p:nvSpPr>
          <p:cNvPr id="10" name="Rounded Rectangle 9"/>
          <p:cNvSpPr/>
          <p:nvPr/>
        </p:nvSpPr>
        <p:spPr>
          <a:xfrm>
            <a:off x="731520" y="3886200"/>
            <a:ext cx="5212080" cy="2148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3886200"/>
            <a:ext cx="109728" cy="2148840"/>
          </a:xfrm>
          <a:prstGeom prst="rect">
            <a:avLst/>
          </a:prstGeom>
          <a:solidFill>
            <a:srgbClr val="DAA5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069080"/>
            <a:ext cx="4800600" cy="1828800"/>
          </a:xfrm>
          <a:prstGeom prst="rect">
            <a:avLst/>
          </a:prstGeom>
          <a:noFill/>
        </p:spPr>
        <p:txBody>
          <a:bodyPr wrap="square">
            <a:spAutoFit/>
          </a:bodyPr>
          <a:lstStyle/>
          <a:p>
            <a:pPr>
              <a:spcAft>
                <a:spcPts val="600"/>
              </a:spcAft>
              <a:defRPr sz="1350" b="1">
                <a:solidFill>
                  <a:srgbClr val="DAA520"/>
                </a:solidFill>
                <a:latin typeface="Arial"/>
              </a:defRPr>
            </a:pPr>
            <a:r>
              <a:t>3. Containerized Microservice (Docker)</a:t>
            </a:r>
          </a:p>
          <a:p>
            <a:pPr>
              <a:defRPr sz="1100">
                <a:solidFill>
                  <a:srgbClr val="475569"/>
                </a:solidFill>
                <a:latin typeface="Calibri"/>
              </a:defRPr>
            </a:pPr>
            <a:r>
              <a:t>Packaged as a lightweight Docker container deployable on cloud or local server with automated health probes, zero single point of failure (SPOF), and US EPA Air Quality Index (AQI) calculations.</a:t>
            </a:r>
          </a:p>
        </p:txBody>
      </p:sp>
      <p:sp>
        <p:nvSpPr>
          <p:cNvPr id="13" name="Rounded Rectangle 12"/>
          <p:cNvSpPr/>
          <p:nvPr/>
        </p:nvSpPr>
        <p:spPr>
          <a:xfrm>
            <a:off x="6126480" y="3886200"/>
            <a:ext cx="5212080" cy="2148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26480" y="3886200"/>
            <a:ext cx="109728" cy="2148840"/>
          </a:xfrm>
          <a:prstGeom prst="rect">
            <a:avLst/>
          </a:prstGeom>
          <a:solidFill>
            <a:srgbClr val="0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069080"/>
            <a:ext cx="4800600" cy="1828800"/>
          </a:xfrm>
          <a:prstGeom prst="rect">
            <a:avLst/>
          </a:prstGeom>
          <a:noFill/>
        </p:spPr>
        <p:txBody>
          <a:bodyPr wrap="square">
            <a:spAutoFit/>
          </a:bodyPr>
          <a:lstStyle/>
          <a:p>
            <a:pPr>
              <a:spcAft>
                <a:spcPts val="600"/>
              </a:spcAft>
              <a:defRPr sz="1350" b="1">
                <a:solidFill>
                  <a:srgbClr val="000066"/>
                </a:solidFill>
                <a:latin typeface="Arial"/>
              </a:defRPr>
            </a:pPr>
            <a:r>
              <a:t>4. AirSense V2 Live Atmospheric Dashboard</a:t>
            </a:r>
          </a:p>
          <a:p>
            <a:pPr>
              <a:defRPr sz="1100">
                <a:solidFill>
                  <a:srgbClr val="475569"/>
                </a:solidFill>
                <a:latin typeface="Calibri"/>
              </a:defRPr>
            </a:pPr>
            <a:r>
              <a:t>Interactive web portal featuring real-time QuantAQ telemetry ingestion, What-If physics simulator, model benchmarking leaderboard, and RAG conversational intelligence.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01168"/>
            <a:ext cx="10698480" cy="1078992"/>
          </a:xfrm>
          <a:prstGeom prst="rect">
            <a:avLst/>
          </a:prstGeom>
          <a:noFill/>
        </p:spPr>
        <p:txBody>
          <a:bodyPr wrap="square" lIns="0" rIns="0" tIns="0" bIns="0">
            <a:spAutoFit/>
          </a:bodyPr>
          <a:lstStyle/>
          <a:p>
            <a:pPr>
              <a:spcAft>
                <a:spcPts val="200"/>
              </a:spcAft>
              <a:defRPr sz="1100" b="1">
                <a:solidFill>
                  <a:srgbClr val="DAA520"/>
                </a:solidFill>
                <a:latin typeface="Arial"/>
              </a:defRPr>
            </a:pPr>
            <a:r>
              <a:t>05 | CONCLUSION</a:t>
            </a:r>
          </a:p>
          <a:p>
            <a:pPr>
              <a:defRPr sz="2000" b="1">
                <a:solidFill>
                  <a:srgbClr val="FFFFFF"/>
                </a:solidFill>
                <a:latin typeface="Arial"/>
              </a:defRPr>
            </a:pPr>
            <a:r>
              <a:t>Summary of Core Research Contributions</a:t>
            </a:r>
          </a:p>
        </p:txBody>
      </p:sp>
      <p:sp>
        <p:nvSpPr>
          <p:cNvPr id="3" name="TextBox 2"/>
          <p:cNvSpPr txBox="1"/>
          <p:nvPr/>
        </p:nvSpPr>
        <p:spPr>
          <a:xfrm>
            <a:off x="731520" y="6263640"/>
            <a:ext cx="8046720" cy="320040"/>
          </a:xfrm>
          <a:prstGeom prst="rect">
            <a:avLst/>
          </a:prstGeom>
          <a:noFill/>
        </p:spPr>
        <p:txBody>
          <a:bodyPr wrap="none" lIns="0" rIns="0" tIns="0" bIns="0">
            <a:spAutoFit/>
          </a:bodyPr>
          <a:lstStyle/>
          <a:p>
            <a:pPr>
              <a:defRPr sz="1000">
                <a:solidFill>
                  <a:srgbClr val="64748B"/>
                </a:solidFill>
                <a:latin typeface="Calibri"/>
              </a:defRPr>
            </a:pPr>
            <a:r>
              <a:t>Department of Computer Science • University of Ghana  |  SPIME v4 Defense  |  Slide 19 of 22</a:t>
            </a:r>
          </a:p>
        </p:txBody>
      </p:sp>
      <p:sp>
        <p:nvSpPr>
          <p:cNvPr id="4" name="Rounded Rectangle 3"/>
          <p:cNvSpPr/>
          <p:nvPr/>
        </p:nvSpPr>
        <p:spPr>
          <a:xfrm>
            <a:off x="731520" y="1600200"/>
            <a:ext cx="10698480" cy="960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00200"/>
            <a:ext cx="109728" cy="9601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709928"/>
            <a:ext cx="10149840" cy="740664"/>
          </a:xfrm>
          <a:prstGeom prst="rect">
            <a:avLst/>
          </a:prstGeom>
          <a:noFill/>
        </p:spPr>
        <p:txBody>
          <a:bodyPr wrap="square">
            <a:spAutoFit/>
          </a:bodyPr>
          <a:lstStyle/>
          <a:p>
            <a:pPr>
              <a:spcAft>
                <a:spcPts val="300"/>
              </a:spcAft>
              <a:defRPr sz="1300" b="1">
                <a:solidFill>
                  <a:srgbClr val="2563EB"/>
                </a:solidFill>
                <a:latin typeface="Arial"/>
              </a:defRPr>
            </a:pPr>
            <a:r>
              <a:t>1. Multi-Gamma Köhler Physics Formulation</a:t>
            </a:r>
          </a:p>
          <a:p>
            <a:pPr>
              <a:defRPr sz="1100">
                <a:solidFill>
                  <a:srgbClr val="475569"/>
                </a:solidFill>
                <a:latin typeface="Calibri"/>
              </a:defRPr>
            </a:pPr>
            <a:r>
              <a:t>First calibration framework to integrate parameterized multi-gamma hygroscopic growth curves, resolving exponential moisture swelling in Sub-Saharan Africa without hardware driers.</a:t>
            </a:r>
          </a:p>
        </p:txBody>
      </p:sp>
      <p:sp>
        <p:nvSpPr>
          <p:cNvPr id="7" name="Rounded Rectangle 6"/>
          <p:cNvSpPr/>
          <p:nvPr/>
        </p:nvSpPr>
        <p:spPr>
          <a:xfrm>
            <a:off x="731520" y="2706624"/>
            <a:ext cx="10698480" cy="960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706624"/>
            <a:ext cx="109728" cy="9601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816352"/>
            <a:ext cx="10149840" cy="740664"/>
          </a:xfrm>
          <a:prstGeom prst="rect">
            <a:avLst/>
          </a:prstGeom>
          <a:noFill/>
        </p:spPr>
        <p:txBody>
          <a:bodyPr wrap="square">
            <a:spAutoFit/>
          </a:bodyPr>
          <a:lstStyle/>
          <a:p>
            <a:pPr>
              <a:spcAft>
                <a:spcPts val="300"/>
              </a:spcAft>
              <a:defRPr sz="1300" b="1">
                <a:solidFill>
                  <a:srgbClr val="2563EB"/>
                </a:solidFill>
                <a:latin typeface="Arial"/>
              </a:defRPr>
            </a:pPr>
            <a:r>
              <a:t>2. Elimination of Overfitting in Sensor Calibration</a:t>
            </a:r>
          </a:p>
          <a:p>
            <a:pPr>
              <a:defRPr sz="1100">
                <a:solidFill>
                  <a:srgbClr val="475569"/>
                </a:solidFill>
                <a:latin typeface="Calibri"/>
              </a:defRPr>
            </a:pPr>
            <a:r>
              <a:t>Demonstrated that 5-Fold out-of-fold cross-validation stacking eliminates the 40% overfitting drop seen in traditional neural networks and stand-alone decision trees (ΔR² = -0.0002).</a:t>
            </a:r>
          </a:p>
        </p:txBody>
      </p:sp>
      <p:sp>
        <p:nvSpPr>
          <p:cNvPr id="10" name="Rounded Rectangle 9"/>
          <p:cNvSpPr/>
          <p:nvPr/>
        </p:nvSpPr>
        <p:spPr>
          <a:xfrm>
            <a:off x="731520" y="3813048"/>
            <a:ext cx="10698480" cy="960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3813048"/>
            <a:ext cx="109728" cy="9601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922776"/>
            <a:ext cx="10149840" cy="740664"/>
          </a:xfrm>
          <a:prstGeom prst="rect">
            <a:avLst/>
          </a:prstGeom>
          <a:noFill/>
        </p:spPr>
        <p:txBody>
          <a:bodyPr wrap="square">
            <a:spAutoFit/>
          </a:bodyPr>
          <a:lstStyle/>
          <a:p>
            <a:pPr>
              <a:spcAft>
                <a:spcPts val="300"/>
              </a:spcAft>
              <a:defRPr sz="1300" b="1">
                <a:solidFill>
                  <a:srgbClr val="2563EB"/>
                </a:solidFill>
                <a:latin typeface="Arial"/>
              </a:defRPr>
            </a:pPr>
            <a:r>
              <a:t>3. Multi-Season Field Validation at Afri-SET</a:t>
            </a:r>
          </a:p>
          <a:p>
            <a:pPr>
              <a:defRPr sz="1100">
                <a:solidFill>
                  <a:srgbClr val="475569"/>
                </a:solidFill>
                <a:latin typeface="Calibri"/>
              </a:defRPr>
            </a:pPr>
            <a:r>
              <a:t>Conducted comprehensive co-location evaluation spanning both maritime monsoon humidity and Saharan Harmattan mineral dust at the University of Ghana, proving robust multi-season generalization.</a:t>
            </a:r>
          </a:p>
        </p:txBody>
      </p:sp>
      <p:sp>
        <p:nvSpPr>
          <p:cNvPr id="13" name="Rounded Rectangle 12"/>
          <p:cNvSpPr/>
          <p:nvPr/>
        </p:nvSpPr>
        <p:spPr>
          <a:xfrm>
            <a:off x="731520" y="4919472"/>
            <a:ext cx="10698480" cy="960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4919472"/>
            <a:ext cx="109728" cy="9601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5029200"/>
            <a:ext cx="10149840" cy="740664"/>
          </a:xfrm>
          <a:prstGeom prst="rect">
            <a:avLst/>
          </a:prstGeom>
          <a:noFill/>
        </p:spPr>
        <p:txBody>
          <a:bodyPr wrap="square">
            <a:spAutoFit/>
          </a:bodyPr>
          <a:lstStyle/>
          <a:p>
            <a:pPr>
              <a:spcAft>
                <a:spcPts val="300"/>
              </a:spcAft>
              <a:defRPr sz="1300" b="1">
                <a:solidFill>
                  <a:srgbClr val="2563EB"/>
                </a:solidFill>
                <a:latin typeface="Arial"/>
              </a:defRPr>
            </a:pPr>
            <a:r>
              <a:t>4. Open-Source Deployment-Ready Artifacts</a:t>
            </a:r>
          </a:p>
          <a:p>
            <a:pPr>
              <a:defRPr sz="1100">
                <a:solidFill>
                  <a:srgbClr val="475569"/>
                </a:solidFill>
                <a:latin typeface="Calibri"/>
              </a:defRPr>
            </a:pPr>
            <a:r>
              <a:t>Delivered an open, reproducible, containerized software stack (FastAPI, Docker, AirSense Web Dashboard) enabling immediate municipal environmental surveillance across African cities.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01168"/>
            <a:ext cx="10698480" cy="1078992"/>
          </a:xfrm>
          <a:prstGeom prst="rect">
            <a:avLst/>
          </a:prstGeom>
          <a:noFill/>
        </p:spPr>
        <p:txBody>
          <a:bodyPr wrap="square" lIns="0" rIns="0" tIns="0" bIns="0">
            <a:spAutoFit/>
          </a:bodyPr>
          <a:lstStyle/>
          <a:p>
            <a:pPr>
              <a:spcAft>
                <a:spcPts val="200"/>
              </a:spcAft>
              <a:defRPr sz="1100" b="1">
                <a:solidFill>
                  <a:srgbClr val="DAA520"/>
                </a:solidFill>
                <a:latin typeface="Arial"/>
              </a:defRPr>
            </a:pPr>
            <a:r>
              <a:t>05 | CONCLUSION</a:t>
            </a:r>
          </a:p>
          <a:p>
            <a:pPr>
              <a:defRPr sz="2000" b="1">
                <a:solidFill>
                  <a:srgbClr val="FFFFFF"/>
                </a:solidFill>
                <a:latin typeface="Arial"/>
              </a:defRPr>
            </a:pPr>
            <a:r>
              <a:t>Study Limitations &amp; Future Research Roadmap</a:t>
            </a:r>
          </a:p>
        </p:txBody>
      </p:sp>
      <p:sp>
        <p:nvSpPr>
          <p:cNvPr id="3" name="TextBox 2"/>
          <p:cNvSpPr txBox="1"/>
          <p:nvPr/>
        </p:nvSpPr>
        <p:spPr>
          <a:xfrm>
            <a:off x="731520" y="6263640"/>
            <a:ext cx="8046720" cy="320040"/>
          </a:xfrm>
          <a:prstGeom prst="rect">
            <a:avLst/>
          </a:prstGeom>
          <a:noFill/>
        </p:spPr>
        <p:txBody>
          <a:bodyPr wrap="none" lIns="0" rIns="0" tIns="0" bIns="0">
            <a:spAutoFit/>
          </a:bodyPr>
          <a:lstStyle/>
          <a:p>
            <a:pPr>
              <a:defRPr sz="1000">
                <a:solidFill>
                  <a:srgbClr val="64748B"/>
                </a:solidFill>
                <a:latin typeface="Calibri"/>
              </a:defRPr>
            </a:pPr>
            <a:r>
              <a:t>Department of Computer Science • University of Ghana  |  SPIME v4 Defense  |  Slide 20 of 22</a:t>
            </a:r>
          </a:p>
        </p:txBody>
      </p:sp>
      <p:sp>
        <p:nvSpPr>
          <p:cNvPr id="4" name="Rounded Rectangle 3"/>
          <p:cNvSpPr/>
          <p:nvPr/>
        </p:nvSpPr>
        <p:spPr>
          <a:xfrm>
            <a:off x="731520" y="1600200"/>
            <a:ext cx="5212080" cy="4434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00200"/>
            <a:ext cx="5212080" cy="109728"/>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754880" cy="4069080"/>
          </a:xfrm>
          <a:prstGeom prst="rect">
            <a:avLst/>
          </a:prstGeom>
          <a:noFill/>
        </p:spPr>
        <p:txBody>
          <a:bodyPr wrap="square">
            <a:spAutoFit/>
          </a:bodyPr>
          <a:lstStyle/>
          <a:p>
            <a:pPr>
              <a:spcAft>
                <a:spcPts val="1000"/>
              </a:spcAft>
              <a:defRPr sz="1500" b="1">
                <a:solidFill>
                  <a:srgbClr val="E11D48"/>
                </a:solidFill>
                <a:latin typeface="Arial"/>
              </a:defRPr>
            </a:pPr>
            <a:r>
              <a:t>Study Limitations</a:t>
            </a:r>
          </a:p>
          <a:p>
            <a:pPr>
              <a:spcAft>
                <a:spcPts val="800"/>
              </a:spcAft>
              <a:defRPr sz="1150">
                <a:latin typeface="Calibri"/>
              </a:defRPr>
            </a:pPr>
            <a:r>
              <a:rPr b="1">
                <a:solidFill>
                  <a:srgbClr val="0F172A"/>
                </a:solidFill>
              </a:rPr>
              <a:t>1. Single Co-location Node: </a:t>
            </a:r>
            <a:r>
              <a:rPr>
                <a:solidFill>
                  <a:srgbClr val="475569"/>
                </a:solidFill>
              </a:rPr>
              <a:t>Evaluation was conducted at the Afri-SET platform in Legon; spatial transferability across heterogeneous urban microclimates requires multi-site verification.</a:t>
            </a:r>
          </a:p>
          <a:p>
            <a:pPr>
              <a:spcAft>
                <a:spcPts val="800"/>
              </a:spcAft>
              <a:defRPr sz="1150">
                <a:latin typeface="Calibri"/>
              </a:defRPr>
            </a:pPr>
            <a:r>
              <a:rPr b="1">
                <a:solidFill>
                  <a:srgbClr val="0F172A"/>
                </a:solidFill>
              </a:rPr>
              <a:t>2. Reference Instrument Dependency: </a:t>
            </a:r>
            <a:r>
              <a:rPr>
                <a:solidFill>
                  <a:srgbClr val="475569"/>
                </a:solidFill>
              </a:rPr>
              <a:t>Supervised calibration models require periodic co-location training periods with gold-standard monitors before independent deployment.</a:t>
            </a:r>
          </a:p>
          <a:p>
            <a:pPr>
              <a:spcAft>
                <a:spcPts val="800"/>
              </a:spcAft>
              <a:defRPr sz="1150">
                <a:latin typeface="Calibri"/>
              </a:defRPr>
            </a:pPr>
            <a:r>
              <a:rPr b="1">
                <a:solidFill>
                  <a:srgbClr val="0F172A"/>
                </a:solidFill>
              </a:rPr>
              <a:t>3. Long-Term Sensor Aging: </a:t>
            </a:r>
            <a:r>
              <a:rPr>
                <a:solidFill>
                  <a:srgbClr val="475569"/>
                </a:solidFill>
              </a:rPr>
              <a:t>Physical degradation of laser diodes and optical chambers over multi-year periods requires drift tracking and periodic recalibration.</a:t>
            </a:r>
          </a:p>
          <a:p>
            <a:pPr>
              <a:spcAft>
                <a:spcPts val="800"/>
              </a:spcAft>
              <a:defRPr sz="1150">
                <a:latin typeface="Calibri"/>
              </a:defRPr>
            </a:pPr>
            <a:r>
              <a:rPr b="1">
                <a:solidFill>
                  <a:srgbClr val="0F172A"/>
                </a:solidFill>
              </a:rPr>
              <a:t>4. Ultra-Fine Particle Invisibility: </a:t>
            </a:r>
            <a:r>
              <a:rPr>
                <a:solidFill>
                  <a:srgbClr val="475569"/>
                </a:solidFill>
              </a:rPr>
              <a:t>Optical particle counters cannot detect particles smaller than 0.35 µm, relying on proxy sizing ratios.</a:t>
            </a:r>
          </a:p>
        </p:txBody>
      </p:sp>
      <p:sp>
        <p:nvSpPr>
          <p:cNvPr id="7" name="Rounded Rectangle 6"/>
          <p:cNvSpPr/>
          <p:nvPr/>
        </p:nvSpPr>
        <p:spPr>
          <a:xfrm>
            <a:off x="6126480" y="1600200"/>
            <a:ext cx="5212080" cy="4434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26480" y="1600200"/>
            <a:ext cx="5212080" cy="10972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828800"/>
            <a:ext cx="4754880" cy="4069080"/>
          </a:xfrm>
          <a:prstGeom prst="rect">
            <a:avLst/>
          </a:prstGeom>
          <a:noFill/>
        </p:spPr>
        <p:txBody>
          <a:bodyPr wrap="square">
            <a:spAutoFit/>
          </a:bodyPr>
          <a:lstStyle/>
          <a:p>
            <a:pPr>
              <a:spcAft>
                <a:spcPts val="1000"/>
              </a:spcAft>
              <a:defRPr sz="1500" b="1">
                <a:solidFill>
                  <a:srgbClr val="059669"/>
                </a:solidFill>
                <a:latin typeface="Arial"/>
              </a:defRPr>
            </a:pPr>
            <a:r>
              <a:t>Future Research Roadmap</a:t>
            </a:r>
          </a:p>
          <a:p>
            <a:pPr>
              <a:spcAft>
                <a:spcPts val="800"/>
              </a:spcAft>
              <a:defRPr sz="1150">
                <a:latin typeface="Calibri"/>
              </a:defRPr>
            </a:pPr>
            <a:r>
              <a:rPr b="1">
                <a:solidFill>
                  <a:srgbClr val="0F172A"/>
                </a:solidFill>
              </a:rPr>
              <a:t>1. Multi-City Sensor Mesh Transfer: </a:t>
            </a:r>
            <a:r>
              <a:rPr>
                <a:solidFill>
                  <a:srgbClr val="475569"/>
                </a:solidFill>
              </a:rPr>
              <a:t>Deploying calibrated sensor nodes across Accra, Kumasi, and Tamale to evaluate spatial domain adaptation and transfer learning.</a:t>
            </a:r>
          </a:p>
          <a:p>
            <a:pPr>
              <a:spcAft>
                <a:spcPts val="800"/>
              </a:spcAft>
              <a:defRPr sz="1150">
                <a:latin typeface="Calibri"/>
              </a:defRPr>
            </a:pPr>
            <a:r>
              <a:rPr b="1">
                <a:solidFill>
                  <a:srgbClr val="0F172A"/>
                </a:solidFill>
              </a:rPr>
              <a:t>2. Edge Microcontroller Inference: </a:t>
            </a:r>
            <a:r>
              <a:rPr>
                <a:solidFill>
                  <a:srgbClr val="475569"/>
                </a:solidFill>
              </a:rPr>
              <a:t>Quantizing the SPIME v4 ensemble for embedded C++ execution directly on ESP32 or Raspberry Pi microcontrollers for zero-latency local calibration.</a:t>
            </a:r>
          </a:p>
          <a:p>
            <a:pPr>
              <a:spcAft>
                <a:spcPts val="800"/>
              </a:spcAft>
              <a:defRPr sz="1150">
                <a:latin typeface="Calibri"/>
              </a:defRPr>
            </a:pPr>
            <a:r>
              <a:rPr b="1">
                <a:solidFill>
                  <a:srgbClr val="0F172A"/>
                </a:solidFill>
              </a:rPr>
              <a:t>3. Satellite &amp; Reanalysis Data Fusion: </a:t>
            </a:r>
            <a:r>
              <a:rPr>
                <a:solidFill>
                  <a:srgbClr val="475569"/>
                </a:solidFill>
              </a:rPr>
              <a:t>Fusing ground-level low-cost sensor meshes with Sentinel-5P satellite aerosol optical depth (AOD) and ERA5 meteorological models.</a:t>
            </a:r>
          </a:p>
          <a:p>
            <a:pPr>
              <a:spcAft>
                <a:spcPts val="800"/>
              </a:spcAft>
              <a:defRPr sz="1150">
                <a:latin typeface="Calibri"/>
              </a:defRPr>
            </a:pPr>
            <a:r>
              <a:rPr b="1">
                <a:solidFill>
                  <a:srgbClr val="0F172A"/>
                </a:solidFill>
              </a:rPr>
              <a:t>4. Mobile Vehicular Sensing: </a:t>
            </a:r>
            <a:r>
              <a:rPr>
                <a:solidFill>
                  <a:srgbClr val="475569"/>
                </a:solidFill>
              </a:rPr>
              <a:t>Mounting calibrated nodes on public transit vehicles (trotros) for hyper-local street-level air pollution mapping.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01168"/>
            <a:ext cx="10698480" cy="1078992"/>
          </a:xfrm>
          <a:prstGeom prst="rect">
            <a:avLst/>
          </a:prstGeom>
          <a:noFill/>
        </p:spPr>
        <p:txBody>
          <a:bodyPr wrap="square" lIns="0" rIns="0" tIns="0" bIns="0">
            <a:spAutoFit/>
          </a:bodyPr>
          <a:lstStyle/>
          <a:p>
            <a:pPr>
              <a:spcAft>
                <a:spcPts val="200"/>
              </a:spcAft>
              <a:defRPr sz="1100" b="1">
                <a:solidFill>
                  <a:srgbClr val="DAA520"/>
                </a:solidFill>
                <a:latin typeface="Arial"/>
              </a:defRPr>
            </a:pPr>
            <a:r>
              <a:t>05 | CONCLUSION</a:t>
            </a:r>
          </a:p>
          <a:p>
            <a:pPr>
              <a:defRPr sz="2000" b="1">
                <a:solidFill>
                  <a:srgbClr val="FFFFFF"/>
                </a:solidFill>
                <a:latin typeface="Arial"/>
              </a:defRPr>
            </a:pPr>
            <a:r>
              <a:t>Conclusion &amp; Strategic Takeaways</a:t>
            </a:r>
          </a:p>
        </p:txBody>
      </p:sp>
      <p:sp>
        <p:nvSpPr>
          <p:cNvPr id="3" name="TextBox 2"/>
          <p:cNvSpPr txBox="1"/>
          <p:nvPr/>
        </p:nvSpPr>
        <p:spPr>
          <a:xfrm>
            <a:off x="731520" y="6263640"/>
            <a:ext cx="8046720" cy="320040"/>
          </a:xfrm>
          <a:prstGeom prst="rect">
            <a:avLst/>
          </a:prstGeom>
          <a:noFill/>
        </p:spPr>
        <p:txBody>
          <a:bodyPr wrap="none" lIns="0" rIns="0" tIns="0" bIns="0">
            <a:spAutoFit/>
          </a:bodyPr>
          <a:lstStyle/>
          <a:p>
            <a:pPr>
              <a:defRPr sz="1000">
                <a:solidFill>
                  <a:srgbClr val="64748B"/>
                </a:solidFill>
                <a:latin typeface="Calibri"/>
              </a:defRPr>
            </a:pPr>
            <a:r>
              <a:t>Department of Computer Science • University of Ghana  |  SPIME v4 Defense  |  Slide 21 of 22</a:t>
            </a:r>
          </a:p>
        </p:txBody>
      </p:sp>
      <p:sp>
        <p:nvSpPr>
          <p:cNvPr id="4" name="Rounded Rectangle 3"/>
          <p:cNvSpPr/>
          <p:nvPr/>
        </p:nvSpPr>
        <p:spPr>
          <a:xfrm>
            <a:off x="731520" y="1600200"/>
            <a:ext cx="10698480" cy="1325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00200"/>
            <a:ext cx="109728" cy="13258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737360"/>
            <a:ext cx="10149840" cy="1051560"/>
          </a:xfrm>
          <a:prstGeom prst="rect">
            <a:avLst/>
          </a:prstGeom>
          <a:noFill/>
        </p:spPr>
        <p:txBody>
          <a:bodyPr wrap="square">
            <a:spAutoFit/>
          </a:bodyPr>
          <a:lstStyle/>
          <a:p>
            <a:pPr>
              <a:spcAft>
                <a:spcPts val="400"/>
              </a:spcAft>
              <a:defRPr sz="1400" b="1">
                <a:solidFill>
                  <a:srgbClr val="2563EB"/>
                </a:solidFill>
                <a:latin typeface="Arial"/>
              </a:defRPr>
            </a:pPr>
            <a:r>
              <a:t>1. The Hardware Gap is Bridged</a:t>
            </a:r>
          </a:p>
          <a:p>
            <a:pPr>
              <a:defRPr sz="1150">
                <a:solidFill>
                  <a:srgbClr val="475569"/>
                </a:solidFill>
                <a:latin typeface="Calibri"/>
              </a:defRPr>
            </a:pPr>
            <a:r>
              <a:t>Low-cost optical particle counters, when coupled with physics-informed machine learning (SPIME v4), achieve regulatory-grade holdout accuracy (R² = 0.9632, MAE = 0.61 µg/m³), matching $30,000 reference monitors at 1% of the capital cost.</a:t>
            </a:r>
          </a:p>
        </p:txBody>
      </p:sp>
      <p:sp>
        <p:nvSpPr>
          <p:cNvPr id="7" name="Rounded Rectangle 6"/>
          <p:cNvSpPr/>
          <p:nvPr/>
        </p:nvSpPr>
        <p:spPr>
          <a:xfrm>
            <a:off x="731520" y="3108960"/>
            <a:ext cx="10698480" cy="1325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3108960"/>
            <a:ext cx="109728" cy="13258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246120"/>
            <a:ext cx="10149840" cy="1051560"/>
          </a:xfrm>
          <a:prstGeom prst="rect">
            <a:avLst/>
          </a:prstGeom>
          <a:noFill/>
        </p:spPr>
        <p:txBody>
          <a:bodyPr wrap="square">
            <a:spAutoFit/>
          </a:bodyPr>
          <a:lstStyle/>
          <a:p>
            <a:pPr>
              <a:spcAft>
                <a:spcPts val="400"/>
              </a:spcAft>
              <a:defRPr sz="1400" b="1">
                <a:solidFill>
                  <a:srgbClr val="059669"/>
                </a:solidFill>
                <a:latin typeface="Arial"/>
              </a:defRPr>
            </a:pPr>
            <a:r>
              <a:t>2. Physics Guidance Eliminates Overfitting</a:t>
            </a:r>
          </a:p>
          <a:p>
            <a:pPr>
              <a:defRPr sz="1150">
                <a:solidFill>
                  <a:srgbClr val="475569"/>
                </a:solidFill>
                <a:latin typeface="Calibri"/>
              </a:defRPr>
            </a:pPr>
            <a:r>
              <a:t>Integrating thermodynamic moisture formulations and empirical Köhler growth curves prevents machine learning models from memorizing microclimate noise, delivering robust multi-season generalization without accuracy degradation (ΔR² = -0.0002).</a:t>
            </a:r>
          </a:p>
        </p:txBody>
      </p:sp>
      <p:sp>
        <p:nvSpPr>
          <p:cNvPr id="10" name="Rounded Rectangle 9"/>
          <p:cNvSpPr/>
          <p:nvPr/>
        </p:nvSpPr>
        <p:spPr>
          <a:xfrm>
            <a:off x="731520" y="4617720"/>
            <a:ext cx="10698480" cy="1325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4617720"/>
            <a:ext cx="109728" cy="1325880"/>
          </a:xfrm>
          <a:prstGeom prst="rect">
            <a:avLst/>
          </a:prstGeom>
          <a:solidFill>
            <a:srgbClr val="00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754880"/>
            <a:ext cx="10149840" cy="1051560"/>
          </a:xfrm>
          <a:prstGeom prst="rect">
            <a:avLst/>
          </a:prstGeom>
          <a:noFill/>
        </p:spPr>
        <p:txBody>
          <a:bodyPr wrap="square">
            <a:spAutoFit/>
          </a:bodyPr>
          <a:lstStyle/>
          <a:p>
            <a:pPr>
              <a:spcAft>
                <a:spcPts val="400"/>
              </a:spcAft>
              <a:defRPr sz="1400" b="1">
                <a:solidFill>
                  <a:srgbClr val="000066"/>
                </a:solidFill>
                <a:latin typeface="Arial"/>
              </a:defRPr>
            </a:pPr>
            <a:r>
              <a:t>3. Democratized Environmental Surveillance for Africa</a:t>
            </a:r>
          </a:p>
          <a:p>
            <a:pPr>
              <a:defRPr sz="1150">
                <a:solidFill>
                  <a:srgbClr val="475569"/>
                </a:solidFill>
                <a:latin typeface="Calibri"/>
              </a:defRPr>
            </a:pPr>
            <a:r>
              <a:t>This research provides a scalable, open-source, reproducible framework that enables Sub-Saharan municipalities to establish dense ambient air quality networks without multi-million-dollar capital budgets, empowering data-driven public health intervention.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bg>
    <p:bgPr>
      <a:blipFill rotWithShape="0">
        <a:blip r:embed="rId2"/>
        <a:stretch>
          <a:fillRect/>
        </a:stretch>
      </a:blipFill>
      <a:effectLst/>
    </p:bgPr>
  </p:bg>
  <p:cSld>
    <p:spTree>
      <p:nvGrpSpPr>
        <p:cNvPr id="1" name=""/>
        <p:cNvGrpSpPr/>
        <p:nvPr/>
      </p:nvGrpSpPr>
      <p:grpSpPr/>
      <p:sp>
        <p:nvSpPr>
          <p:cNvPr id="2" name="TextBox 1"/>
          <p:cNvSpPr txBox="1"/>
          <p:nvPr/>
        </p:nvSpPr>
        <p:spPr>
          <a:xfrm>
            <a:off x="914400" y="411480"/>
            <a:ext cx="10360152" cy="594360"/>
          </a:xfrm>
          <a:prstGeom prst="rect">
            <a:avLst/>
          </a:prstGeom>
          <a:noFill/>
        </p:spPr>
        <p:txBody>
          <a:bodyPr wrap="none">
            <a:spAutoFit/>
          </a:bodyPr>
          <a:lstStyle/>
          <a:p>
            <a:pPr algn="ctr">
              <a:defRPr sz="1300" b="1">
                <a:solidFill>
                  <a:srgbClr val="DAA520"/>
                </a:solidFill>
                <a:latin typeface="Arial"/>
              </a:defRPr>
            </a:pPr>
            <a:r>
              <a:t>UNIVERSITY OF GHANA  •  DEPARTMENT OF COMPUTER SCIENCE</a:t>
            </a:r>
          </a:p>
        </p:txBody>
      </p:sp>
      <p:sp>
        <p:nvSpPr>
          <p:cNvPr id="3" name="TextBox 2"/>
          <p:cNvSpPr txBox="1"/>
          <p:nvPr/>
        </p:nvSpPr>
        <p:spPr>
          <a:xfrm>
            <a:off x="914400" y="1051560"/>
            <a:ext cx="10360152" cy="914400"/>
          </a:xfrm>
          <a:prstGeom prst="rect">
            <a:avLst/>
          </a:prstGeom>
          <a:noFill/>
        </p:spPr>
        <p:txBody>
          <a:bodyPr wrap="none">
            <a:spAutoFit/>
          </a:bodyPr>
          <a:lstStyle/>
          <a:p>
            <a:pPr algn="ctr">
              <a:defRPr sz="2800" b="1">
                <a:solidFill>
                  <a:srgbClr val="FFFFFF"/>
                </a:solidFill>
                <a:latin typeface="Arial"/>
              </a:defRPr>
            </a:pPr>
            <a:r>
              <a:t>THANK YOU FOR YOUR ATTENTION</a:t>
            </a:r>
          </a:p>
        </p:txBody>
      </p:sp>
      <p:sp>
        <p:nvSpPr>
          <p:cNvPr id="4" name="TextBox 3"/>
          <p:cNvSpPr txBox="1"/>
          <p:nvPr/>
        </p:nvSpPr>
        <p:spPr>
          <a:xfrm>
            <a:off x="914400" y="2057400"/>
            <a:ext cx="10360152" cy="502920"/>
          </a:xfrm>
          <a:prstGeom prst="rect">
            <a:avLst/>
          </a:prstGeom>
          <a:noFill/>
        </p:spPr>
        <p:txBody>
          <a:bodyPr wrap="none">
            <a:spAutoFit/>
          </a:bodyPr>
          <a:lstStyle/>
          <a:p>
            <a:pPr algn="ctr">
              <a:defRPr sz="1700" b="1">
                <a:solidFill>
                  <a:srgbClr val="F59E0B"/>
                </a:solidFill>
                <a:latin typeface="Calibri"/>
              </a:defRPr>
            </a:pPr>
            <a:r>
              <a:t>Questions, Critiques &amp; Committee Discussion</a:t>
            </a:r>
          </a:p>
        </p:txBody>
      </p:sp>
      <p:sp>
        <p:nvSpPr>
          <p:cNvPr id="5" name="Rounded Rectangle 4"/>
          <p:cNvSpPr/>
          <p:nvPr/>
        </p:nvSpPr>
        <p:spPr>
          <a:xfrm>
            <a:off x="1828800" y="2788920"/>
            <a:ext cx="8531352" cy="2423160"/>
          </a:xfrm>
          <a:prstGeom prst="roundRect">
            <a:avLst/>
          </a:prstGeom>
          <a:solidFill>
            <a:srgbClr val="111F35"/>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03120" y="2926080"/>
            <a:ext cx="7982712" cy="2148840"/>
          </a:xfrm>
          <a:prstGeom prst="rect">
            <a:avLst/>
          </a:prstGeom>
          <a:noFill/>
        </p:spPr>
        <p:txBody>
          <a:bodyPr wrap="square">
            <a:spAutoFit/>
          </a:bodyPr>
          <a:lstStyle/>
          <a:p>
            <a:pPr>
              <a:spcAft>
                <a:spcPts val="800"/>
              </a:spcAft>
              <a:defRPr sz="1100" b="1">
                <a:solidFill>
                  <a:srgbClr val="DAA520"/>
                </a:solidFill>
                <a:latin typeface="Arial"/>
              </a:defRPr>
            </a:pPr>
            <a:r>
              <a:t>PROJECT METADATA &amp; REPOSITORY ARCHIVE</a:t>
            </a:r>
          </a:p>
          <a:p>
            <a:pPr>
              <a:spcAft>
                <a:spcPts val="500"/>
              </a:spcAft>
              <a:defRPr sz="1200">
                <a:latin typeface="Calibri"/>
              </a:defRPr>
            </a:pPr>
            <a:r>
              <a:rPr b="1">
                <a:solidFill>
                  <a:srgbClr val="0F172A"/>
                </a:solidFill>
              </a:rPr>
              <a:t>Research Title: </a:t>
            </a:r>
            <a:r>
              <a:rPr>
                <a:solidFill>
                  <a:srgbClr val="475569"/>
                </a:solidFill>
              </a:rPr>
              <a:t>SPIME: A Stacked Physics-Informed Meta-Ensemble for Low-Cost PM2.5 Sensor Calibration</a:t>
            </a:r>
          </a:p>
          <a:p>
            <a:pPr>
              <a:spcAft>
                <a:spcPts val="500"/>
              </a:spcAft>
              <a:defRPr sz="1200">
                <a:latin typeface="Calibri"/>
              </a:defRPr>
            </a:pPr>
            <a:r>
              <a:rPr b="1">
                <a:solidFill>
                  <a:srgbClr val="0F172A"/>
                </a:solidFill>
              </a:rPr>
              <a:t>Candidate: </a:t>
            </a:r>
            <a:r>
              <a:rPr>
                <a:solidFill>
                  <a:srgbClr val="475569"/>
                </a:solidFill>
              </a:rPr>
              <a:t>Neal Allison Hughes (Student ID: 11178252)</a:t>
            </a:r>
          </a:p>
          <a:p>
            <a:pPr>
              <a:spcAft>
                <a:spcPts val="500"/>
              </a:spcAft>
              <a:defRPr sz="1200">
                <a:latin typeface="Calibri"/>
              </a:defRPr>
            </a:pPr>
            <a:r>
              <a:rPr b="1">
                <a:solidFill>
                  <a:srgbClr val="0F172A"/>
                </a:solidFill>
              </a:rPr>
              <a:t>Principal Supervisor: </a:t>
            </a:r>
            <a:r>
              <a:rPr>
                <a:solidFill>
                  <a:srgbClr val="475569"/>
                </a:solidFill>
              </a:rPr>
              <a:t>Prof. Isaac Wiafe (Department of Computer Science)</a:t>
            </a:r>
          </a:p>
          <a:p>
            <a:pPr>
              <a:spcAft>
                <a:spcPts val="500"/>
              </a:spcAft>
              <a:defRPr sz="1200">
                <a:latin typeface="Calibri"/>
              </a:defRPr>
            </a:pPr>
            <a:r>
              <a:rPr b="1">
                <a:solidFill>
                  <a:srgbClr val="0F172A"/>
                </a:solidFill>
              </a:rPr>
              <a:t>Live Web Application: </a:t>
            </a:r>
            <a:r>
              <a:rPr>
                <a:solidFill>
                  <a:srgbClr val="475569"/>
                </a:solidFill>
              </a:rPr>
              <a:t>https://afri-airsense.netlify.app</a:t>
            </a:r>
          </a:p>
          <a:p>
            <a:pPr>
              <a:spcAft>
                <a:spcPts val="500"/>
              </a:spcAft>
              <a:defRPr sz="1200">
                <a:latin typeface="Calibri"/>
              </a:defRPr>
            </a:pPr>
            <a:r>
              <a:rPr b="1">
                <a:solidFill>
                  <a:srgbClr val="0F172A"/>
                </a:solidFill>
              </a:rPr>
              <a:t>Open-Source Codebase: </a:t>
            </a:r>
            <a:r>
              <a:rPr>
                <a:solidFill>
                  <a:srgbClr val="475569"/>
                </a:solidFill>
              </a:rPr>
              <a:t>github.com/hughes-allison/Modulair-PM-Calibration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1128</Words>
  <Application>Microsoft Office PowerPoint</Application>
  <PresentationFormat>Widescreen</PresentationFormat>
  <Paragraphs>103</Paragraphs>
  <Slides>8</Slides>
  <Notes>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MS PGothic</vt:lpstr>
      <vt:lpstr>Aptos</vt:lpstr>
      <vt:lpstr>Aptos Display</vt:lpstr>
      <vt:lpstr>Arial</vt:lpstr>
      <vt:lpstr>Calibri</vt:lpstr>
      <vt:lpstr>Times New Roman</vt:lpstr>
      <vt:lpstr>Office Theme</vt:lpstr>
      <vt:lpstr>1_Office Theme</vt:lpstr>
      <vt:lpstr>FINAL YEAR PROJECT PRESENTATION &amp; DEMO </vt:lpstr>
      <vt:lpstr>OUTLINE OF  PRESENTATION</vt:lpstr>
      <vt:lpstr>Introduction</vt:lpstr>
      <vt:lpstr>Aims and Objectives</vt:lpstr>
      <vt:lpstr>Related Work</vt:lpstr>
      <vt:lpstr>Proposed Solution</vt:lpstr>
      <vt:lpstr>End Slide</vt:lpstr>
      <vt:lpstr>FINAL YEAR PROJECT PRESENTATION &amp; DEMO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Prempeh Sharon</dc:creator>
  <cp:lastModifiedBy>Prempeh Sharon</cp:lastModifiedBy>
  <cp:revision>1</cp:revision>
  <dcterms:created xsi:type="dcterms:W3CDTF">2025-09-15T15:38:40Z</dcterms:created>
  <dcterms:modified xsi:type="dcterms:W3CDTF">2025-09-15T15:40:01Z</dcterms:modified>
</cp:coreProperties>
</file>