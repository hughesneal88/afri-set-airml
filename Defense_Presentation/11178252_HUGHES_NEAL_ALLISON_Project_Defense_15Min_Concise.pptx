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5"/>
  </p:notesMasterIdLst>
  <p:sldIdLst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>
        <p:scale>
          <a:sx n="71" d="100"/>
          <a:sy n="71" d="100"/>
        </p:scale>
        <p:origin x="6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7CA5DE-5554-433E-998B-5706BBA3DDB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B57E44-CA01-48B4-9714-7B5CDB51C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738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D7EC2-E5D8-F742-1B67-054FF0866F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A00BB6-1739-C6B5-9716-28AB89FF2D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B4C73-ACB3-7C9F-7EA5-2938A0344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01DB-E840-4150-8207-866BDD25D22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2DAEB-3F38-A327-9E2B-F5B42236E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2C4D2-F373-1FDD-0C14-B0A5EE678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24BC-5968-4735-8D30-B72DEF6BE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58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58BDB-9BFB-33BD-36E2-CB774FA50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EBEC1-929D-A242-6F90-1148AB735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C69D1-F584-0904-FC78-1845E1CE9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01DB-E840-4150-8207-866BDD25D22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E6342-5ECF-1C98-5658-39498D805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FAC61-7EF5-A0A9-7407-77FCBC604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24BC-5968-4735-8D30-B72DEF6BE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090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3C68F-4357-6C0B-EFF4-6056CFE02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7434F9-9472-5E2E-37A2-1C668D4EE7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65E404-4C0A-77ED-B4F0-F150408E2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01DB-E840-4150-8207-866BDD25D22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47E8BC-3C9D-288D-A877-4B49F26D4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04336-DB89-C939-F991-F3B56B48D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24BC-5968-4735-8D30-B72DEF6BE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383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DE173-84FE-131A-FDEC-10EB764DA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AD527-C4A0-467A-A074-20997F2F9B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E8166C-5D25-2F7A-68E2-89811F37E2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A11F9-6FE3-AE70-BB60-74D68595E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01DB-E840-4150-8207-866BDD25D22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C4B88-4529-9622-3DFF-0A9E8F047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149887-301D-192D-6E4E-0B5CD9F58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24BC-5968-4735-8D30-B72DEF6BE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742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8185E-3938-13F4-071F-9C47FBD60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328229-9E26-4A8D-CE13-5195A4F3BE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04DE16-D620-E567-A074-2B6A54D885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A6B1B9-8555-7B1C-2D30-CA652A2818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0F61AE-EC15-64C2-A098-EC225FEFBF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2DFBB5-D787-915A-9095-24B00FA2A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01DB-E840-4150-8207-866BDD25D22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11DC54-8C33-C55A-F365-B3AC72A6B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363D3E-D67B-702D-ADA5-2F2C9111B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24BC-5968-4735-8D30-B72DEF6BE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651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C649D-C7B1-FC2E-BE2E-20E16B49B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6BDD17-2483-9991-3C02-F104B65F2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01DB-E840-4150-8207-866BDD25D22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1C0FB9-E42D-9741-BA7C-C811901B7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55081D-BB5A-9B2F-8F12-4376917E0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24BC-5968-4735-8D30-B72DEF6BE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400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16FCAA-D61A-19AA-2CFD-EDCFFE232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01DB-E840-4150-8207-866BDD25D22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D15071-F236-77A8-4671-2C9668489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83CB8E-1A45-9FF7-122B-46108F80B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24BC-5968-4735-8D30-B72DEF6BE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559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57F21-6BEA-4D7A-A020-D2D73BA2D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6C2EB-2067-EDE8-6730-13C686626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A68C07-B368-9A92-7D94-899AA230A9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1C4715-8548-B8CD-E46B-32F52F97A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01DB-E840-4150-8207-866BDD25D22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4805EB-68F0-0925-B5E2-992A26ACD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8064D-3984-66E1-79F6-BF412DE90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24BC-5968-4735-8D30-B72DEF6BE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889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E40A8-7CE6-6E2F-987D-F9931444B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9A3B3C-B1CD-FC66-30C0-066CC8711E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130723-2359-C212-1784-4C60E5DC26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86E1BF-418B-5A5E-B8CE-971EBA46E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01DB-E840-4150-8207-866BDD25D22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858B19-C047-7376-4094-335A262B8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E3E811-B1A3-3062-66D6-3B924C39D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24BC-5968-4735-8D30-B72DEF6BE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051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E613B-3E08-B9D4-3543-276532004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4B8505-E673-B14D-57BC-B609C294E3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D7D8F-1AC7-0420-F070-FDFD3C35B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01DB-E840-4150-8207-866BDD25D22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2FD22-A5B5-C5E8-19C9-E29BD895B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2D55BE-B31F-9976-5801-16A4491DC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24BC-5968-4735-8D30-B72DEF6BE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274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714E13-7DDD-7B01-B532-2B2A88B663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1CBB8E-647A-192C-E328-241E73841B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DFD78-3A20-22DE-6D4C-9A66BC007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01DB-E840-4150-8207-866BDD25D22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9FA80B-D752-6CA7-C60B-AAF3A51B5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C1C125-E0EA-8BB4-A43E-4E1CCF0CD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024BC-5968-4735-8D30-B72DEF6BE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1968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en-US" strike="noStrike" noProof="1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4E860EC-E542-457A-B70C-3F9F24F46ECA}" type="datetime1">
              <a:rPr 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10/7/2026</a:t>
            </a:fld>
            <a:endParaRPr lang="en-US"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724CBE9-E6DE-4AAC-8453-7697DD7A6035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483390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9287898-D9AE-4049-9D19-ED0B1E1963CA}" type="datetime1">
              <a:rPr 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10/7/2026</a:t>
            </a:fld>
            <a:endParaRPr lang="en-US"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724CBE9-E6DE-4AAC-8453-7697DD7A6035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04225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9162D6E-70EE-4FB2-88ED-8A53CBADEAC3}" type="datetime1">
              <a:rPr 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10/7/2026</a:t>
            </a:fld>
            <a:endParaRPr lang="en-US"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724CBE9-E6DE-4AAC-8453-7697DD7A6035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851392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3680DC9-3D5C-4B78-93A2-8216A5967CEE}" type="datetime1">
              <a:rPr 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10/7/2026</a:t>
            </a:fld>
            <a:endParaRPr lang="en-US">
              <a:ea typeface="MS PGothic" panose="020B0600070205080204" pitchFamily="34" charset="-128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724CBE9-E6DE-4AAC-8453-7697DD7A6035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596568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B9EE8C9-0B5D-4609-8390-6AA8549DB10F}" type="datetime1">
              <a:rPr 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10/7/2026</a:t>
            </a:fld>
            <a:endParaRPr lang="en-US">
              <a:ea typeface="MS PGothic" panose="020B0600070205080204" pitchFamily="34" charset="-128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724CBE9-E6DE-4AAC-8453-7697DD7A6035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800536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CD4ABCE-EACE-4151-B61F-945E2463617C}" type="datetime1">
              <a:rPr 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10/7/2026</a:t>
            </a:fld>
            <a:endParaRPr lang="en-US">
              <a:ea typeface="MS PGothic" panose="020B0600070205080204" pitchFamily="34" charset="-128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724CBE9-E6DE-4AAC-8453-7697DD7A6035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173220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DF28FB7-0FB9-463E-BF45-7E2885595341}" type="datetime1">
              <a:rPr 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10/7/2026</a:t>
            </a:fld>
            <a:endParaRPr lang="en-US">
              <a:ea typeface="MS PGothic" panose="020B0600070205080204" pitchFamily="34" charset="-128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724CBE9-E6DE-4AAC-8453-7697DD7A6035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306472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8F30A16-9233-43B3-A274-11457D04124B}" type="datetime1">
              <a:rPr 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10/7/2026</a:t>
            </a:fld>
            <a:endParaRPr lang="en-US">
              <a:ea typeface="MS PGothic" panose="020B0600070205080204" pitchFamily="34" charset="-128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724CBE9-E6DE-4AAC-8453-7697DD7A6035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659799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8677AB9-B3E0-47F2-91D3-109594D79C4B}" type="datetime1">
              <a:rPr 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10/7/2026</a:t>
            </a:fld>
            <a:endParaRPr lang="en-US">
              <a:ea typeface="MS PGothic" panose="020B0600070205080204" pitchFamily="34" charset="-128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724CBE9-E6DE-4AAC-8453-7697DD7A6035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194319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7F2A97E-5CE7-416F-AB2B-5750179EE4FB}" type="datetime1">
              <a:rPr 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10/7/2026</a:t>
            </a:fld>
            <a:endParaRPr lang="en-US"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724CBE9-E6DE-4AAC-8453-7697DD7A6035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607127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6E4A193-398A-4DA3-ABE0-39035D81DE08}" type="datetime1">
              <a:rPr 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10/7/2026</a:t>
            </a:fld>
            <a:endParaRPr lang="en-US"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724CBE9-E6DE-4AAC-8453-7697DD7A6035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04527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E749AA-DFC1-412B-8D1A-31ABB7D91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CA5D24-207D-F318-C215-A84F996DFE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F0A67-ABB6-4314-7B8E-00F52B15C8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0901DB-E840-4150-8207-866BDD25D22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418D7-FCBF-5B99-17E2-6C586E0722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CDC88-7F57-5757-67CB-EED5899359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1024BC-5968-4735-8D30-B72DEF6BE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894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E91B204-41D7-48AE-A13E-6E23B3D8CB2B}" type="datetime1">
              <a:rPr 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10/7/2026</a:t>
            </a:fld>
            <a:endParaRPr lang="en-US">
              <a:ea typeface="MS PGothic" panose="020B0600070205080204" pitchFamily="34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724CBE9-E6DE-4AAC-8453-7697DD7A6035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9551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2004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AA520"/>
                </a:solidFill>
                <a:latin typeface="Arial"/>
              </a:defRPr>
            </a:pPr>
            <a:r>
              <a:t>COLLEGE OF BASIC AND APPLIED SCIENCES  •  DEPARTMENT OF COMPUTER SCIENCE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3601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50" b="1">
                <a:solidFill>
                  <a:srgbClr val="FFFFFF"/>
                </a:solidFill>
                <a:latin typeface="Arial"/>
              </a:defRPr>
            </a:pPr>
            <a:r>
              <a:t>FINAL YEAR PROJECT DEFENSE &amp; ORAL EXAMINATION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1072591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000066"/>
                </a:solidFill>
                <a:latin typeface="Arial"/>
              </a:defRPr>
            </a:pPr>
            <a:r>
              <a:rPr dirty="0"/>
              <a:t>SPIME: A Stacked Physics-Informed Meta-Ensemble for Low-Cost PM2.5 Sensor Calibration Under High Humidity and Harmattan Dust in Sub-Saharan Africa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88920"/>
            <a:ext cx="103601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50" b="1">
                <a:solidFill>
                  <a:srgbClr val="F59E0B"/>
                </a:solidFill>
                <a:latin typeface="Calibri"/>
              </a:defRPr>
            </a:pPr>
            <a:r>
              <a:t>B.Sc. Computer Science (Honours)  •  Academic Year 2025/2026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291840"/>
            <a:ext cx="47548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25880" y="3474720"/>
            <a:ext cx="42976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2563EB"/>
                </a:solidFill>
                <a:latin typeface="Arial"/>
              </a:defRPr>
            </a:pPr>
            <a:r>
              <a:t>CANDIDATE DETAILS</a:t>
            </a:r>
          </a:p>
          <a:p>
            <a:pPr>
              <a:spcAft>
                <a:spcPts val="500"/>
              </a:spcAft>
              <a:defRPr sz="12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Candidate Name: </a:t>
            </a:r>
            <a:r>
              <a:rPr>
                <a:solidFill>
                  <a:srgbClr val="475569"/>
                </a:solidFill>
              </a:rPr>
              <a:t>Neal Allison Hughes</a:t>
            </a:r>
          </a:p>
          <a:p>
            <a:pPr>
              <a:spcAft>
                <a:spcPts val="500"/>
              </a:spcAft>
              <a:defRPr sz="12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Student ID: </a:t>
            </a:r>
            <a:r>
              <a:rPr>
                <a:solidFill>
                  <a:srgbClr val="475569"/>
                </a:solidFill>
              </a:rPr>
              <a:t>11178252</a:t>
            </a:r>
          </a:p>
          <a:p>
            <a:pPr>
              <a:spcAft>
                <a:spcPts val="500"/>
              </a:spcAft>
              <a:defRPr sz="12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Degree Programme: </a:t>
            </a:r>
            <a:r>
              <a:rPr>
                <a:solidFill>
                  <a:srgbClr val="475569"/>
                </a:solidFill>
              </a:rPr>
              <a:t>B.Sc. Computer Science (Honours)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291840"/>
            <a:ext cx="47548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3474720"/>
            <a:ext cx="42976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2563EB"/>
                </a:solidFill>
                <a:latin typeface="Arial"/>
              </a:defRPr>
            </a:pPr>
            <a:r>
              <a:t>SUPERVISION &amp; RESEARCH PLATFORM</a:t>
            </a:r>
          </a:p>
          <a:p>
            <a:pPr>
              <a:spcAft>
                <a:spcPts val="400"/>
              </a:spcAft>
              <a:defRPr sz="11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Principal Supervisor: </a:t>
            </a:r>
            <a:r>
              <a:rPr>
                <a:solidFill>
                  <a:srgbClr val="475569"/>
                </a:solidFill>
              </a:rPr>
              <a:t>Prof. Isaac Wiafe</a:t>
            </a:r>
          </a:p>
          <a:p>
            <a:pPr>
              <a:spcAft>
                <a:spcPts val="400"/>
              </a:spcAft>
              <a:defRPr sz="11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Academic Unit: </a:t>
            </a:r>
            <a:r>
              <a:rPr>
                <a:solidFill>
                  <a:srgbClr val="475569"/>
                </a:solidFill>
              </a:rPr>
              <a:t>Department of Computer Science</a:t>
            </a:r>
          </a:p>
          <a:p>
            <a:pPr>
              <a:spcAft>
                <a:spcPts val="400"/>
              </a:spcAft>
              <a:defRPr sz="11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Evaluation Platform: </a:t>
            </a:r>
            <a:r>
              <a:rPr>
                <a:solidFill>
                  <a:srgbClr val="475569"/>
                </a:solidFill>
              </a:rPr>
              <a:t>Afri-SET Facility, Dept. of Physics</a:t>
            </a:r>
          </a:p>
          <a:p>
            <a:pPr>
              <a:spcAft>
                <a:spcPts val="400"/>
              </a:spcAft>
              <a:defRPr sz="11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Defense Session: </a:t>
            </a:r>
            <a:r>
              <a:rPr>
                <a:solidFill>
                  <a:srgbClr val="475569"/>
                </a:solidFill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704088"/>
            <a:ext cx="10698480" cy="1078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AA520"/>
                </a:solidFill>
                <a:latin typeface="Arial"/>
              </a:defRPr>
            </a:pPr>
            <a:r>
              <a:rPr dirty="0"/>
              <a:t>01 | INTRODUCTION &amp; MOTIVATION</a:t>
            </a:r>
          </a:p>
          <a:p>
            <a:pPr>
              <a:defRPr sz="1950" b="1">
                <a:solidFill>
                  <a:srgbClr val="FFFFFF"/>
                </a:solidFill>
                <a:latin typeface="Arial"/>
              </a:defRPr>
            </a:pPr>
            <a:r>
              <a:rPr dirty="0"/>
              <a:t>Background: Ambient Air Quality Crisis &amp; Low-Cost Optical Sensor Failure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63640"/>
            <a:ext cx="80467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Department of Computer Science • University of Ghana  |  B.Sc. Project Defense  |  Slide 2 of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33832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27847" y="17830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E11D48"/>
                </a:solidFill>
                <a:latin typeface="Arial"/>
              </a:defRPr>
            </a:pPr>
            <a:r>
              <a:rPr dirty="0"/>
              <a:t>1. Severe Monitoring Void in SSA</a:t>
            </a:r>
          </a:p>
          <a:p>
            <a:pPr>
              <a:spcAft>
                <a:spcPts val="4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Fine particulate matter (PM2.5) causes &gt;1.1 million premature deaths annually across Africa.</a:t>
            </a:r>
          </a:p>
          <a:p>
            <a:pPr>
              <a:spcAft>
                <a:spcPts val="4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Reference-grade FEM monitors (e.g., Teledyne T640) cost &gt;$30,000 USD with prohibitive maintenance, leaving African cities critically unmonitored.</a:t>
            </a:r>
          </a:p>
          <a:p>
            <a:pPr>
              <a:spcAft>
                <a:spcPts val="4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Low-cost Optical Particle Counters (OPCs, ~$2,000) enable dense network expansion but suffer extreme environmental degradation.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00200"/>
            <a:ext cx="33832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59E0B"/>
                </a:solidFill>
                <a:latin typeface="Arial"/>
              </a:defRPr>
            </a:pPr>
            <a:r>
              <a:rPr dirty="0"/>
              <a:t>2. Physical Mechanisms of Sensor Breakdown</a:t>
            </a:r>
          </a:p>
          <a:p>
            <a:pPr>
              <a:spcAft>
                <a:spcPts val="4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Monsoon Deliquescent Swelling: At ambient RH &gt; 80%, inorganic aerosols absorb water vapor and swell optically, causing mass overestimation by up to 300%.</a:t>
            </a:r>
          </a:p>
          <a:p>
            <a:pPr>
              <a:spcAft>
                <a:spcPts val="4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Saharan Harmattan Dust Plumes: During dry months (RH &lt; 25%), coarse non-spherical mineral dust drastically shifts refractive index and optical scattering cross-sections.</a:t>
            </a:r>
          </a:p>
          <a:p>
            <a:pPr>
              <a:spcAft>
                <a:spcPts val="4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Fixed factory calibration curves assume dry, spherical particles, collapsing in tropical extremes.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00200"/>
            <a:ext cx="33832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563EB"/>
                </a:solidFill>
                <a:latin typeface="Arial"/>
              </a:defRPr>
            </a:pPr>
            <a:r>
              <a:t>3. The Raw Sensor Reality (Afri-SET Baseline)</a:t>
            </a:r>
          </a:p>
          <a:p>
            <a:pPr>
              <a:spcAft>
                <a:spcPts val="4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Co-located baseline assessment between QuantAQ Modulair-PM and US EPA FEM Teledyne T640 in Accra reveals complete factory failure: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- Predictive R² = -0.0133 (worse than the empirical mean benchmark)</a:t>
            </a:r>
          </a:p>
          <a:p>
            <a:pPr>
              <a:spcAft>
                <a:spcPts val="400"/>
              </a:spcAft>
              <a:defRPr sz="1100" b="0">
                <a:solidFill>
                  <a:srgbClr val="0F172A"/>
                </a:solidFill>
                <a:latin typeface="Calibri"/>
              </a:defRPr>
            </a:pPr>
            <a:r>
              <a:t>- Mean Absolute Error (MAE) = 5.30 µg/m³</a:t>
            </a:r>
          </a:p>
          <a:p>
            <a:pPr>
              <a:spcAft>
                <a:spcPts val="4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- Severe systematic baseline underestimation (Bias = -5.00 µg/m³)</a:t>
            </a:r>
          </a:p>
          <a:p>
            <a:pPr>
              <a:spcAft>
                <a:spcPts val="4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Without robust calibration, low-cost sensor data is scientifically unusable.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49809"/>
            <a:ext cx="10698480" cy="1078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AA520"/>
                </a:solidFill>
                <a:latin typeface="Arial"/>
              </a:defRPr>
            </a:pPr>
            <a:r>
              <a:rPr dirty="0"/>
              <a:t>02 | OBJECTIVES</a:t>
            </a:r>
          </a:p>
          <a:p>
            <a:pPr>
              <a:defRPr sz="1950" b="1">
                <a:solidFill>
                  <a:srgbClr val="FFFFFF"/>
                </a:solidFill>
                <a:latin typeface="Arial"/>
              </a:defRPr>
            </a:pPr>
            <a:r>
              <a:rPr dirty="0"/>
              <a:t>Research Aim &amp; Outcome-Based Measurable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63640"/>
            <a:ext cx="80467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Department of Computer Science • University of Ghana  |  B.Sc. Project Defense  |  Slide 3 of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10698480" cy="1097280"/>
          </a:xfrm>
          <a:prstGeom prst="roundRect">
            <a:avLst/>
          </a:prstGeom>
          <a:solidFill>
            <a:srgbClr val="000066"/>
          </a:solidFill>
          <a:ln w="12700"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AA520"/>
                </a:solidFill>
                <a:latin typeface="Arial"/>
              </a:defRPr>
            </a:pPr>
            <a:r>
              <a:t>PRIMARY RESEARCH AIM</a:t>
            </a:r>
          </a:p>
          <a:p>
            <a:pPr>
              <a:defRPr sz="1200">
                <a:solidFill>
                  <a:srgbClr val="FFFFFF"/>
                </a:solidFill>
                <a:latin typeface="Calibri"/>
              </a:defRPr>
            </a:pPr>
            <a:r>
              <a:t>To design, empirically evaluate, and deploy a Stacked Physics-Informed Meta-Ensemble (SPIME) calibration framework that elevates raw optical measurements from the QuantAQ Modulair-PM to regulatory reference-grade PM2.5 accuracy across contrasting tropical monsoon and Harmattan dust seasons in Accra, Ghana.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106984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907792"/>
            <a:ext cx="102412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Arial"/>
              </a:defRPr>
            </a:pPr>
            <a:r>
              <a:t>Objective 1: Co-location Benchmark &amp; Baseline Quantification</a:t>
            </a:r>
          </a:p>
          <a:p>
            <a:pPr>
              <a:defRPr sz="1050">
                <a:solidFill>
                  <a:srgbClr val="475569"/>
                </a:solidFill>
                <a:latin typeface="Calibri"/>
              </a:defRPr>
            </a:pPr>
            <a:r>
              <a:t>Establish an empirically validated co-location benchmark of 8,760 hourly records between the QuantAQ Modulair-PM and US EPA FEM Teledyne T640 at Afri-SET, quantifying baseline sensor collapse (uncalibrated R² = -0.0133, MAE = 5.30 µg/m³).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75887"/>
            <a:ext cx="106984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3749039"/>
            <a:ext cx="102412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Arial"/>
              </a:defRPr>
            </a:pPr>
            <a:r>
              <a:t>Objective 2: Physics-Informed Hygroscopic Feature Formulation</a:t>
            </a:r>
          </a:p>
          <a:p>
            <a:pPr>
              <a:defRPr sz="1050">
                <a:solidFill>
                  <a:srgbClr val="475569"/>
                </a:solidFill>
                <a:latin typeface="Calibri"/>
              </a:defRPr>
            </a:pPr>
            <a:r>
              <a:t>Engineer a 75-dimensional feature space integrating multi-gamma empirical Köhler growth equations (γ ∈ [0.05, 0.50]), thermodynamic moisture decoupling (VPD, AH, Dew Point), and Harmattan dust indicators, demonstrating &gt;20% predictive attribution to Köhler physics.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17136"/>
            <a:ext cx="106984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4590288"/>
            <a:ext cx="102412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59669"/>
                </a:solidFill>
                <a:latin typeface="Arial"/>
              </a:defRPr>
            </a:pPr>
            <a:r>
              <a:t>Objective 3: Superior Out-of-Sample Calibration Performance</a:t>
            </a:r>
          </a:p>
          <a:p>
            <a:pPr>
              <a:defRPr sz="1050">
                <a:solidFill>
                  <a:srgbClr val="475569"/>
                </a:solidFill>
                <a:latin typeface="Calibri"/>
              </a:defRPr>
            </a:pPr>
            <a:r>
              <a:t>Develop and benchmark the SPIME architecture against standard baselines (MLR, MoE, Deep MLP, Random Forest), achieving holdout R² ≥ 0.95, MAE ≤ 1.0 µg/m³, RMSE ≤ 1.5 µg/m³, and near-zero systematic bias (|bias| ≤ 0.10 µg/m³).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58383"/>
            <a:ext cx="106984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5431536"/>
            <a:ext cx="102412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66"/>
                </a:solidFill>
                <a:latin typeface="Arial"/>
              </a:defRPr>
            </a:pPr>
            <a:r>
              <a:rPr dirty="0"/>
              <a:t>Objective 4: Overfitting Mitigation &amp; Operational Deployment</a:t>
            </a:r>
          </a:p>
          <a:p>
            <a:pPr>
              <a:defRPr sz="1050">
                <a:solidFill>
                  <a:srgbClr val="475569"/>
                </a:solidFill>
                <a:latin typeface="Calibri"/>
              </a:defRPr>
            </a:pPr>
            <a:r>
              <a:rPr dirty="0"/>
              <a:t>Restrict the cross-validation to holdout generalization gap to ΔR² &lt; 0.02 through out-of-fold cross-validated stacking, and package the pipeline into an operational web-enabled calibration platform.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822960"/>
            <a:ext cx="10698480" cy="1078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AA520"/>
                </a:solidFill>
                <a:latin typeface="Arial"/>
              </a:defRPr>
            </a:pPr>
            <a:r>
              <a:rPr dirty="0"/>
              <a:t>03 | METHODOLOGY &amp; DATA</a:t>
            </a:r>
          </a:p>
          <a:p>
            <a:pPr>
              <a:defRPr sz="1950" b="1">
                <a:solidFill>
                  <a:srgbClr val="FFFFFF"/>
                </a:solidFill>
                <a:latin typeface="Arial"/>
              </a:defRPr>
            </a:pPr>
            <a:r>
              <a:rPr dirty="0"/>
              <a:t>Experimental Co-location Setup &amp; Chronological Data Partitioning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63640"/>
            <a:ext cx="80467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Department of Computer Science • University of Ghana  |  B.Sc. Project Defense  |  Slide 4 of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1206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46634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  <a:latin typeface="Arial"/>
              </a:defRPr>
            </a:pPr>
            <a:r>
              <a:t>Afri-SET Co-location Infrastructure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Co-location Hub: </a:t>
            </a:r>
            <a:r>
              <a:rPr>
                <a:solidFill>
                  <a:srgbClr val="475569"/>
                </a:solidFill>
              </a:rPr>
              <a:t>African Sensor Evaluation and Training (Afri-SET) facility, Department of Physics, University of Ghana, Legon (5.6506° N, 0.1870° W, 98 m ASL).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Low-Cost OPC Monitor: </a:t>
            </a:r>
            <a:r>
              <a:rPr>
                <a:solidFill>
                  <a:srgbClr val="475569"/>
                </a:solidFill>
              </a:rPr>
              <a:t>QuantAQ Modulair-PM (MOD-PM-01068) equipped with Alphasense OPC-N3 (24 size bins: 0.35 to 40 µm, sample T, RH, pressure).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Reference Benchmark: </a:t>
            </a:r>
            <a:r>
              <a:rPr>
                <a:solidFill>
                  <a:srgbClr val="475569"/>
                </a:solidFill>
              </a:rPr>
              <a:t>US EPA Federal Equivalent Method (FEM) Teledyne API T640 broadband optical spectrometer (±0.5 µg/m³ accuracy).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Continuous Timeline: </a:t>
            </a:r>
            <a:r>
              <a:rPr>
                <a:solidFill>
                  <a:srgbClr val="475569"/>
                </a:solidFill>
              </a:rPr>
              <a:t>8,760 synchronized hourly records across two complete annual meteorological cycles (January 1, 2024 to December 31, 2025).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00200"/>
            <a:ext cx="53035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55080" y="178308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0066"/>
                </a:solidFill>
                <a:latin typeface="Arial"/>
              </a:defRPr>
            </a:pPr>
            <a:r>
              <a:t>Strict Chronological Data Quarantine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Training &amp; Validation Partition (60%): </a:t>
            </a:r>
            <a:r>
              <a:rPr>
                <a:solidFill>
                  <a:srgbClr val="475569"/>
                </a:solidFill>
              </a:rPr>
              <a:t>5,292 hourly records (Jan 1, 2024 to Jun 20, 2025). Dedicated exclusively to exploratory analysis, physics feature derivation, base estimator training, and internal 5-fold cross-validation.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Quarantined Out-of-Sample Holdout (40%): </a:t>
            </a:r>
            <a:r>
              <a:rPr>
                <a:solidFill>
                  <a:srgbClr val="475569"/>
                </a:solidFill>
              </a:rPr>
              <a:t>3,468 continuous hourly records (Jun 21, 2025 to Dec 31, 2025). Strictly locked during all model tuning to serve as final unbiased ground truth.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Seasonal Representation: </a:t>
            </a:r>
            <a:r>
              <a:rPr>
                <a:solidFill>
                  <a:srgbClr val="475569"/>
                </a:solidFill>
              </a:rPr>
              <a:t>Holdout captures both extreme seasons: Monsoon Wet (2,208 hrs, RH 78–96%) and Harmattan Dry Dust Plumes (1,260 hrs, RH 22–55%).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Strict Leakage Prevention: </a:t>
            </a:r>
            <a:r>
              <a:rPr>
                <a:solidFill>
                  <a:srgbClr val="475569"/>
                </a:solidFill>
              </a:rPr>
              <a:t>Random train/test shuffling strictly prohibited to prevent temporal autocorrelation leakage across consecutive hours.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04088"/>
            <a:ext cx="10698480" cy="1078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AA520"/>
                </a:solidFill>
                <a:latin typeface="Arial"/>
              </a:defRPr>
            </a:pPr>
            <a:r>
              <a:rPr dirty="0"/>
              <a:t>03 | METHODOLOGY &amp; FEATURES</a:t>
            </a:r>
          </a:p>
          <a:p>
            <a:pPr>
              <a:defRPr sz="1950" b="1">
                <a:solidFill>
                  <a:srgbClr val="FFFFFF"/>
                </a:solidFill>
                <a:latin typeface="Arial"/>
              </a:defRPr>
            </a:pPr>
            <a:r>
              <a:rPr dirty="0"/>
              <a:t>75-Dimensional Physics-Informed Atmospheric Feature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63640"/>
            <a:ext cx="80467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Department of Computer Science • University of Ghana  |  B.Sc. Project Defense  |  Slide 5 of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33832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563EB"/>
                </a:solidFill>
                <a:latin typeface="Arial"/>
              </a:defRPr>
            </a:pPr>
            <a:r>
              <a:rPr dirty="0"/>
              <a:t>1. Multi-Gamma Empirical Köhler Growth (12 Features)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rPr dirty="0"/>
              <a:t>• Explicitly models hygroscopic diameter swelling and deliquescence phase shifts: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rPr dirty="0"/>
              <a:t>f(RH) = 1 + a · [(RH / 100) / (1 - RH / 100)]^γ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rPr dirty="0"/>
              <a:t>• Evaluated across 10 empirical exponents γ ∈ [0.05, 0.50] to capture variable chemical composition (pure sulfates to mixed organic particles).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rPr dirty="0"/>
              <a:t>• Deliquescence surge indicator (</a:t>
            </a:r>
            <a:r>
              <a:rPr dirty="0" err="1"/>
              <a:t>deliquescence_surge</a:t>
            </a:r>
            <a:r>
              <a:rPr dirty="0"/>
              <a:t>) captures abrupt step-function scattering surges when ambient RH exceeds 75%–80%.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00200"/>
            <a:ext cx="33832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59E0B"/>
                </a:solidFill>
                <a:latin typeface="Arial"/>
              </a:defRPr>
            </a:pPr>
            <a:r>
              <a:t>2. Thermodynamic Moisture Decoupling (18 Features)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• Decouples temperature-dependent moisture effects from true particle mass: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• Vapor Pressure Deficit (VPD): Quantifies atmospheric drying capacity (kPa).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• Absolute Humidity (AH): Actual water vapor mass per unit volume (g/m³).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• Dew Point Depression (T - Td): Proximity to water saturation and fog condensation.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• Prevents models from conflating pure water vapor density with suspended aerosol mass.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00200"/>
            <a:ext cx="33832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0066"/>
                </a:solidFill>
                <a:latin typeface="Arial"/>
              </a:defRPr>
            </a:pPr>
            <a:r>
              <a:t>3. Harmattan Mineral Dust Indicators &amp; Temporal Dynamics (45 Features)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• Coarse-to-fine ratio (PM10 / PM2.5) and optical size-bin fraction kinematics to flag incoming Saharan dust plumes.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• Binary seasonal indicator (is_harmattan) capturing distinct regional aerosol regimes.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• Multi-timescale Exponentially Weighted Moving Averages (EWMA spans: 1h, 3h, 6h, 12h, 24h) to model thermal inertia, sensor hysteresis, and diurnal boundary layer dynamics.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6281" y="704088"/>
            <a:ext cx="10698480" cy="1078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AA520"/>
                </a:solidFill>
                <a:latin typeface="Arial"/>
              </a:defRPr>
            </a:pPr>
            <a:r>
              <a:rPr dirty="0"/>
              <a:t>03 | METHODOLOGY &amp; ARCHITECTURE</a:t>
            </a:r>
          </a:p>
          <a:p>
            <a:pPr>
              <a:defRPr sz="1950" b="1">
                <a:solidFill>
                  <a:srgbClr val="FFFFFF"/>
                </a:solidFill>
                <a:latin typeface="Arial"/>
              </a:defRPr>
            </a:pPr>
            <a:r>
              <a:rPr dirty="0"/>
              <a:t>SPIME: Hierarchical Stacking Meta-Ensemble with Out-of-Fold Cross-Validation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63640"/>
            <a:ext cx="80467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Department of Computer Science • University of Ghana  |  B.Sc. Project Defense  |  Slide 6 of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1206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46634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  <a:latin typeface="Arial"/>
              </a:defRPr>
            </a:pPr>
            <a:r>
              <a:t>Level-0 Diverse Base Learners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Random Forest (RF): </a:t>
            </a:r>
            <a:r>
              <a:rPr>
                <a:solidFill>
                  <a:srgbClr val="475569"/>
                </a:solidFill>
              </a:rPr>
              <a:t>150 bagging trees (max_depth=14) trained on the 75-D physics feature space; captures non-linear interactions while bounding individual tree variance.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Extra Trees (ET): </a:t>
            </a:r>
            <a:r>
              <a:rPr>
                <a:solidFill>
                  <a:srgbClr val="475569"/>
                </a:solidFill>
              </a:rPr>
              <a:t>150 extremely randomized trees with randomized cut-point selection; maximizes structural diversity and decorrelates errors from standard RF.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Gradient Boosting (GBM): </a:t>
            </a:r>
            <a:r>
              <a:rPr>
                <a:solidFill>
                  <a:srgbClr val="475569"/>
                </a:solidFill>
              </a:rPr>
              <a:t>120 sequential boosting trees (learning_rate=0.05, max_depth=6); focuses gradient descent on hard-to-fit regime transitions.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Ensemble Diversity Principle: </a:t>
            </a:r>
            <a:r>
              <a:rPr>
                <a:solidFill>
                  <a:srgbClr val="475569"/>
                </a:solidFill>
              </a:rPr>
              <a:t>Combining bagging and boosting paradigms guarantees uncorrelated residual errors across meteorological extremes.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00200"/>
            <a:ext cx="53035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55080" y="178308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0066"/>
                </a:solidFill>
                <a:latin typeface="Arial"/>
              </a:defRPr>
            </a:pPr>
            <a:r>
              <a:t>Level-1 Meta-Learner &amp; Anti-Leakage Stacking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5-Fold Out-of-Fold (OOF) Stacking: </a:t>
            </a:r>
            <a:r>
              <a:rPr>
                <a:solidFill>
                  <a:srgbClr val="475569"/>
                </a:solidFill>
              </a:rPr>
              <a:t>The internal training split is partitioned into 5 chronological folds. Base learners generate predictions exclusively on unobserved validation folds.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Zero Meta-Learner Leakage: </a:t>
            </a:r>
            <a:r>
              <a:rPr>
                <a:solidFill>
                  <a:srgbClr val="475569"/>
                </a:solidFill>
              </a:rPr>
              <a:t>The Level-1 meta-learner is trained strictly on out-of-fold predictions, ensuring it never observes in-sample training bias.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Constrained Meta-Regressor: </a:t>
            </a:r>
            <a:r>
              <a:rPr>
                <a:solidFill>
                  <a:srgbClr val="475569"/>
                </a:solidFill>
              </a:rPr>
              <a:t>L2-regularized Ridge Regression (α = 10.0) with non-negative weight projection prevents collinear weight explosion: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Final Calibrated Estimate: </a:t>
            </a:r>
            <a:r>
              <a:rPr>
                <a:solidFill>
                  <a:srgbClr val="475569"/>
                </a:solidFill>
              </a:rPr>
              <a:t>y_cal = w0 + w_RF · y_RF + w_ET · y_ET + w_GBM · y_GBM
Enforces a strict inductive bias that prevents temporal concept drift.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86384"/>
            <a:ext cx="10698480" cy="1078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AA520"/>
                </a:solidFill>
                <a:latin typeface="Arial"/>
              </a:defRPr>
            </a:pPr>
            <a:r>
              <a:rPr dirty="0"/>
              <a:t>04 | EMPIRICAL RESULTS</a:t>
            </a:r>
          </a:p>
          <a:p>
            <a:pPr>
              <a:defRPr sz="1950" b="1">
                <a:solidFill>
                  <a:srgbClr val="FFFFFF"/>
                </a:solidFill>
                <a:latin typeface="Arial"/>
              </a:defRPr>
            </a:pPr>
            <a:r>
              <a:rPr dirty="0"/>
              <a:t>Comparative Calibration Benchmarks on Unseen Holdout Data (3,468 Hours)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63640"/>
            <a:ext cx="80467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Department of Computer Science • University of Ghana  |  B.Sc. Project Defense  |  Slide 7 of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2514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1691640"/>
            <a:ext cx="2295144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900" b="1">
                <a:solidFill>
                  <a:srgbClr val="059669"/>
                </a:solidFill>
                <a:latin typeface="Arial"/>
              </a:defRPr>
            </a:pPr>
            <a:r>
              <a:t>R² = 0.9632</a:t>
            </a:r>
          </a:p>
          <a:p>
            <a:pPr algn="ctr">
              <a:spcBef>
                <a:spcPts val="2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HOLDOUT ACCURACY</a:t>
            </a:r>
          </a:p>
          <a:p>
            <a:pPr algn="ctr">
              <a:defRPr sz="950">
                <a:solidFill>
                  <a:srgbClr val="475569"/>
                </a:solidFill>
                <a:latin typeface="Calibri"/>
              </a:defRPr>
            </a:pPr>
            <a:r>
              <a:t>Unseen 3,468-Hr Holdout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00200"/>
            <a:ext cx="2514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538728" y="1691640"/>
            <a:ext cx="2295144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900" b="1">
                <a:solidFill>
                  <a:srgbClr val="2563EB"/>
                </a:solidFill>
                <a:latin typeface="Arial"/>
              </a:defRPr>
            </a:pPr>
            <a:r>
              <a:t>MAE = 0.61 µg/m³</a:t>
            </a:r>
          </a:p>
          <a:p>
            <a:pPr algn="ctr">
              <a:spcBef>
                <a:spcPts val="2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MEAN ABSOLUTE ERROR</a:t>
            </a:r>
          </a:p>
          <a:p>
            <a:pPr algn="ctr">
              <a:defRPr sz="950">
                <a:solidFill>
                  <a:srgbClr val="475569"/>
                </a:solidFill>
                <a:latin typeface="Calibri"/>
              </a:defRPr>
            </a:pPr>
            <a:r>
              <a:t>88.5% Error Reduction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00200"/>
            <a:ext cx="2514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36208" y="1691640"/>
            <a:ext cx="2295144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900" b="1">
                <a:solidFill>
                  <a:srgbClr val="000066"/>
                </a:solidFill>
                <a:latin typeface="Arial"/>
              </a:defRPr>
            </a:pPr>
            <a:r>
              <a:t>RMSE = 1.05 µg/m³</a:t>
            </a:r>
          </a:p>
          <a:p>
            <a:pPr algn="ctr">
              <a:spcBef>
                <a:spcPts val="2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ROOT MEAN SQ ERROR</a:t>
            </a:r>
          </a:p>
          <a:p>
            <a:pPr algn="ctr">
              <a:defRPr sz="950">
                <a:solidFill>
                  <a:srgbClr val="475569"/>
                </a:solidFill>
                <a:latin typeface="Calibri"/>
              </a:defRPr>
            </a:pPr>
            <a:r>
              <a:t>Reference-Grade Precision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600200"/>
            <a:ext cx="26060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33688" y="1691640"/>
            <a:ext cx="2386584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900" b="1">
                <a:solidFill>
                  <a:srgbClr val="DAA520"/>
                </a:solidFill>
                <a:latin typeface="Arial"/>
              </a:defRPr>
            </a:pPr>
            <a:r>
              <a:t>Bias = -0.04 µg/m³</a:t>
            </a:r>
          </a:p>
          <a:p>
            <a:pPr algn="ctr">
              <a:spcBef>
                <a:spcPts val="2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SYSTEMATIC BIAS</a:t>
            </a:r>
          </a:p>
          <a:p>
            <a:pPr algn="ctr">
              <a:defRPr sz="950">
                <a:solidFill>
                  <a:srgbClr val="475569"/>
                </a:solidFill>
                <a:latin typeface="Calibri"/>
              </a:defRPr>
            </a:pPr>
            <a:r>
              <a:t>Near-Zero Baseline Drift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2834640"/>
          <a:ext cx="1069848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4335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Calibration Model Architecture</a:t>
                      </a:r>
                    </a:p>
                  </a:txBody>
                  <a:tcPr>
                    <a:solidFill>
                      <a:srgbClr val="0000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5-Fold CV R²</a:t>
                      </a:r>
                    </a:p>
                  </a:txBody>
                  <a:tcPr>
                    <a:solidFill>
                      <a:srgbClr val="0000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Holdout Test R²</a:t>
                      </a:r>
                    </a:p>
                  </a:txBody>
                  <a:tcPr>
                    <a:solidFill>
                      <a:srgbClr val="0000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MAE (µg/m³)</a:t>
                      </a:r>
                    </a:p>
                  </a:txBody>
                  <a:tcPr>
                    <a:solidFill>
                      <a:srgbClr val="0000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RMSE (µg/m³)</a:t>
                      </a:r>
                    </a:p>
                  </a:txBody>
                  <a:tcPr>
                    <a:solidFill>
                      <a:srgbClr val="0000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Bias (µg/m³)</a:t>
                      </a:r>
                    </a:p>
                  </a:txBody>
                  <a:tcPr>
                    <a:solidFill>
                      <a:srgbClr val="0000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Overfit Gap (ΔR²)</a:t>
                      </a:r>
                    </a:p>
                  </a:txBody>
                  <a:tcPr>
                    <a:solidFill>
                      <a:srgbClr val="00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Uncalibrated Factory OPC-N3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E11D48"/>
                          </a:solidFill>
                          <a:latin typeface="Calibri"/>
                        </a:defRPr>
                      </a:pPr>
                      <a:r>
                        <a:t>-0.0133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5.30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8.92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E11D48"/>
                          </a:solidFill>
                          <a:latin typeface="Calibri"/>
                        </a:defRPr>
                      </a:pPr>
                      <a:r>
                        <a:t>N/A (Failed)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Multiple Linear Regression (Baseline)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0.5723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0.6760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2.71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3.66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-0.45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-0.1037 (Underfit)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dirty="0"/>
                        <a:t>Atmospheric Mixture of Experts (</a:t>
                      </a:r>
                      <a:r>
                        <a:rPr dirty="0" err="1"/>
                        <a:t>MoE</a:t>
                      </a:r>
                      <a:r>
                        <a:rPr dirty="0"/>
                        <a:t>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0.5840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0.3745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5.08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+2.55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+0.2095 (High Var)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Deep Neural LLM Regressor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0.6798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0.4927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3.27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4.57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-1.28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+0.1871 (Noise Mem)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MLP Neural Network Regressor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0.7177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0.5170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3.21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-1.28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+0.2007 (Overfit)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Random Forest Regressor (v2 Best)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0.9677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dirty="0"/>
                        <a:t>0.8318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1.81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2.63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-0.81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+0.1359 (Degraded)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SPIME Meta-Ensemble [PRIMARY]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0.9725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0.9632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0.61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1.05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-0.04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rPr dirty="0"/>
                        <a:t>+0.0093 (0.93%)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01168"/>
            <a:ext cx="10698480" cy="1078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AA520"/>
                </a:solidFill>
                <a:latin typeface="Arial"/>
              </a:defRPr>
            </a:pPr>
            <a:r>
              <a:t>04 | GENERALIZATION &amp; DIAGNOSTICS</a:t>
            </a:r>
          </a:p>
          <a:p>
            <a:pPr>
              <a:defRPr sz="1950" b="1">
                <a:solidFill>
                  <a:srgbClr val="FFFFFF"/>
                </a:solidFill>
                <a:latin typeface="Arial"/>
              </a:defRPr>
            </a:pPr>
            <a:r>
              <a:t>Overfitting Elimination &amp; 1:1 Parity Alignment with Ground Truth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63640"/>
            <a:ext cx="80467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Department of Computer Science • University of Ghana  |  B.Sc. Project Defense  |  Slide 8 of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1206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46634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  <a:latin typeface="Arial"/>
              </a:defRPr>
            </a:pPr>
            <a:r>
              <a:t>Overfitting Analysis (Table 4.2)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Deep Neural Collapse (ΔR² = +0.3800): </a:t>
            </a:r>
            <a:r>
              <a:rPr>
                <a:solidFill>
                  <a:srgbClr val="475569"/>
                </a:solidFill>
              </a:rPr>
              <a:t>MLP achieved Train R² = 0.8970 but collapsed to Holdout R² = 0.5170. Dense layers memorized high-frequency microclimate noise instead of true atmospheric physics.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Atmospheric MoE Variance (ΔR² = +0.3795): </a:t>
            </a:r>
            <a:r>
              <a:rPr>
                <a:solidFill>
                  <a:srgbClr val="475569"/>
                </a:solidFill>
              </a:rPr>
              <a:t>MoE dropped from Train R² = 0.7540 to Holdout R² = 0.3745 due to regime-switching boundary instability and sparse cluster support.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Random Forest Generalization Drop (ΔR² = +0.1413): </a:t>
            </a:r>
            <a:r>
              <a:rPr>
                <a:solidFill>
                  <a:srgbClr val="475569"/>
                </a:solidFill>
              </a:rPr>
              <a:t>Standalone RF dropped from Train R² = 0.9731 to Holdout R² = 0.8318 as deep decision trees overfit to specific training humidity splits.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SPIME Overfitting Elimination (ΔR² = +0.0093): </a:t>
            </a:r>
            <a:r>
              <a:rPr>
                <a:solidFill>
                  <a:srgbClr val="475569"/>
                </a:solidFill>
              </a:rPr>
              <a:t>SPIME achieved 5-Fold CV R² = 0.9725 and Holdout R² = 0.9632. Out-of-fold stacking and L2 regularization suppressed the gap to &lt; 1%!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00200"/>
            <a:ext cx="53035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83080"/>
            <a:ext cx="4937760" cy="317759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54406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475569"/>
                </a:solidFill>
                <a:latin typeface="Calibri"/>
              </a:defRPr>
            </a:pPr>
            <a:r>
              <a:t>Figure 4.1: Reference Teledyne T640 vs. Calibrated SPIME on Holdout Data</a:t>
            </a:r>
            <a:br/>
            <a:r>
              <a:t>Adheres to 1:1 parity line across 0–150 µg/m³ (Slope m = 0.984, Intercept b = +0.12).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01168"/>
            <a:ext cx="10698480" cy="1078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AA520"/>
                </a:solidFill>
                <a:latin typeface="Arial"/>
              </a:defRPr>
            </a:pPr>
            <a:r>
              <a:t>04 | SEASONAL ROBUSTNESS &amp; ATTRIBUTION</a:t>
            </a:r>
          </a:p>
          <a:p>
            <a:pPr>
              <a:defRPr sz="1950" b="1">
                <a:solidFill>
                  <a:srgbClr val="FFFFFF"/>
                </a:solidFill>
                <a:latin typeface="Arial"/>
              </a:defRPr>
            </a:pPr>
            <a:r>
              <a:t>Seasonal Regime Stability &amp; Physics-Guided Feature Attribution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63640"/>
            <a:ext cx="80467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Department of Computer Science • University of Ghana  |  B.Sc. Project Defense  |  Slide 9 of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1206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46634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  <a:latin typeface="Arial"/>
              </a:defRPr>
            </a:pPr>
            <a:r>
              <a:t>Cross-Seasonal Holdout Stability (Table 4.3)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Monsoon Wet Season (N = 2,208 hrs, RH 78–96%): </a:t>
            </a:r>
            <a:r>
              <a:rPr>
                <a:solidFill>
                  <a:srgbClr val="475569"/>
                </a:solidFill>
              </a:rPr>
              <a:t>• Holdout R² = 0.9684  |  MAE = 0.54 µg/m³
• RMSE = 1.08 µg/m³  |  Mean Bias = -0.18 µg/m³
• Zero hygroscopic runaway; moisture-induced optical scattering fully resolved by Köhler terms.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Harmattan Dry Season (N = 1,260 hrs, RH 22–55%): </a:t>
            </a:r>
            <a:r>
              <a:rPr>
                <a:solidFill>
                  <a:srgbClr val="475569"/>
                </a:solidFill>
              </a:rPr>
              <a:t>• Holdout R² = 0.9548  |  MAE = 0.73 µg/m³
• RMSE = 1.46 µg/m³  |  Mean Bias = -0.31 µg/m³
• High fidelity during heavy Saharan mineral dust plumes without baseline drift or saturation.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Combined Full Holdout (N = 3,468 hrs): </a:t>
            </a:r>
            <a:r>
              <a:rPr>
                <a:solidFill>
                  <a:srgbClr val="475569"/>
                </a:solidFill>
              </a:rPr>
              <a:t>• Holdout R² = 0.9632  |  MAE = 0.61 µg/m³  |  RMSE = 1.05 µg/m³
• Consistent sub-microgram precision across opposing climatic regimes.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00200"/>
            <a:ext cx="53035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83080"/>
            <a:ext cx="4754880" cy="3474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534924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475569"/>
                </a:solidFill>
                <a:latin typeface="Calibri"/>
              </a:defRPr>
            </a:pPr>
            <a:r>
              <a:t>Figure 4.4: Top 20 Physics Feature Importance Rankings</a:t>
            </a:r>
            <a:br/>
            <a:r>
              <a:t>Empirical Köhler growth terms account for 20.4% of total predictive power, confirming that embedding atmospheric physical laws directly drove model accuracy.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01168"/>
            <a:ext cx="10698480" cy="1078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AA520"/>
                </a:solidFill>
                <a:latin typeface="Arial"/>
              </a:defRPr>
            </a:pPr>
            <a:r>
              <a:t>05 | SOFTWARE ARTIFACT</a:t>
            </a:r>
          </a:p>
          <a:p>
            <a:pPr>
              <a:defRPr sz="1950" b="1">
                <a:solidFill>
                  <a:srgbClr val="FFFFFF"/>
                </a:solidFill>
                <a:latin typeface="Arial"/>
              </a:defRPr>
            </a:pPr>
            <a:r>
              <a:t>Operational Software Artifact: Full-Stack Calibration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63640"/>
            <a:ext cx="80467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Department of Computer Science • University of Ghana  |  B.Sc. Project Defense  |  Slide 10 of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33832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563EB"/>
                </a:solidFill>
                <a:latin typeface="Arial"/>
              </a:defRPr>
            </a:pPr>
            <a:r>
              <a:t>1. Real-Time Inference Microservice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• Packaged SPIME pipeline executed via containerized Python/Flask/FastAPI microservice.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• Sub-15ms inference latency per telemetry record for edge and cloud deployment.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• Automated conversion of calibrated mass concentrations into US EPA Air Quality Index (AQI) categories with health advisories.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00200"/>
            <a:ext cx="33832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59E0B"/>
                </a:solidFill>
                <a:latin typeface="Arial"/>
              </a:defRPr>
            </a:pPr>
            <a:r>
              <a:t>2. Interactive Calibration Dashboard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• Live telemetry streaming from QuantAQ cloud API with SQLite/Mongo dual-layer caching.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• Real-time calibrated vs raw sensor time-series tracking and interactive scatter parity diagnostics.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• What-If Environmental Simulator allowing operators to simulate high-humidity or Harmattan dust spikes.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00200"/>
            <a:ext cx="33832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0066"/>
                </a:solidFill>
                <a:latin typeface="Arial"/>
              </a:defRPr>
            </a:pPr>
            <a:r>
              <a:t>3. Conversational LLM Air Quality Agent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• Integrated RAG-assisted air quality assistant allowing municipal stakeholders to query air quality in natural language: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- 'How is the air quality in Legon right now?'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- 'What was the peak PM2.5 during yesterday's monsoon rain?'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• Synthesizes complex atmospheric data into accessible public health guidance.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01168"/>
            <a:ext cx="10698480" cy="1078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AA520"/>
                </a:solidFill>
                <a:latin typeface="Arial"/>
              </a:defRPr>
            </a:pPr>
            <a:r>
              <a:rPr dirty="0"/>
              <a:t>05 | CONCLUSION &amp; IMPACT</a:t>
            </a:r>
          </a:p>
          <a:p>
            <a:pPr>
              <a:defRPr sz="1950" b="1">
                <a:solidFill>
                  <a:srgbClr val="FFFFFF"/>
                </a:solidFill>
                <a:latin typeface="Arial"/>
              </a:defRPr>
            </a:pPr>
            <a:r>
              <a:t>Summary of Core Research Contributions &amp; Strategic Implications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63640"/>
            <a:ext cx="80467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Department of Computer Science • University of Ghana  |  B.Sc. Project Defense  |  Slide 11 of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645920"/>
            <a:ext cx="5212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11880" y="1828800"/>
            <a:ext cx="4800600" cy="884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F59E0B"/>
                </a:solidFill>
                <a:latin typeface="Arial"/>
              </a:defRPr>
            </a:pPr>
            <a:r>
              <a:rPr lang="en-US" dirty="0"/>
              <a:t>1</a:t>
            </a:r>
            <a:r>
              <a:rPr dirty="0"/>
              <a:t>. Physics-Informed Domain Integration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rPr dirty="0"/>
              <a:t>Formulated a 75-D feature pipeline demonstrating that empirical Köhler growth dynamics and thermodynamic moisture parameters account for 20.4% of predictive power, solving humidity distortion where black-box ML failed.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86200"/>
            <a:ext cx="5212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4800600" cy="884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2563EB"/>
                </a:solidFill>
                <a:latin typeface="Arial"/>
              </a:defRPr>
            </a:pPr>
            <a:r>
              <a:rPr lang="en-US" dirty="0"/>
              <a:t>2</a:t>
            </a:r>
            <a:r>
              <a:rPr dirty="0"/>
              <a:t>. Overfitting Elimination via OOF Stacking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rPr dirty="0"/>
              <a:t>Demonstrated that out-of-fold cross-validated stacking suppresses the temporal generalization gap to ΔR² = 0.0093 (&lt; 1%), resolving the severe overfitting seen in standard tree and neural architectures (ΔR² &gt; 0.14–0.38).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886200"/>
            <a:ext cx="5212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4069080"/>
            <a:ext cx="4800600" cy="884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59669"/>
                </a:solidFill>
                <a:latin typeface="Arial"/>
              </a:defRPr>
            </a:pPr>
            <a:r>
              <a:rPr lang="en-US" dirty="0"/>
              <a:t>3</a:t>
            </a:r>
            <a:r>
              <a:rPr dirty="0"/>
              <a:t>. Low-Cost Regulatory Equivalence &amp; Scalability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rPr dirty="0"/>
              <a:t>Proved that $2,000 low-cost optical sensors calibrated with SPIME achieve near-FEM precision (R² = 0.9632, MAE = 0.61 µg/m³), unlocking cost-effective, high-density air quality monitoring networks across African cities.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20040"/>
            <a:ext cx="10360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DAA520"/>
                </a:solidFill>
                <a:latin typeface="Arial"/>
              </a:defRPr>
            </a:pPr>
            <a:r>
              <a:t>COLLEGE OF BASIC AND APPLIED SCIENCES  •  DEPARTMENT OF COMPUTER SCIENCE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3601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50" b="1">
                <a:solidFill>
                  <a:srgbClr val="FFFFFF"/>
                </a:solidFill>
                <a:latin typeface="Arial"/>
              </a:defRPr>
            </a:pPr>
            <a:r>
              <a:t>FINAL YEAR B.SC. PROJECT DEFENSE EXAMINATION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66"/>
                </a:solidFill>
                <a:latin typeface="Arial"/>
              </a:defRPr>
            </a:pPr>
            <a:r>
              <a:t>THANK YOU FOR YOUR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40280"/>
            <a:ext cx="103601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Calibri"/>
              </a:defRPr>
            </a:pPr>
            <a:r>
              <a:t>Questions, Critiques &amp; Committee Discussion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2880360"/>
            <a:ext cx="758952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60320" y="3017520"/>
            <a:ext cx="7040880" cy="169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rPr dirty="0"/>
              <a:t>RESEARCH DEFENSE EXAMINATION</a:t>
            </a:r>
          </a:p>
          <a:p>
            <a:pPr>
              <a:spcAft>
                <a:spcPts val="400"/>
              </a:spcAft>
              <a:defRPr sz="1150">
                <a:latin typeface="Calibri"/>
              </a:defRPr>
            </a:pPr>
            <a:r>
              <a:rPr b="1" dirty="0">
                <a:solidFill>
                  <a:srgbClr val="0F172A"/>
                </a:solidFill>
              </a:rPr>
              <a:t>Project: </a:t>
            </a:r>
            <a:r>
              <a:rPr dirty="0">
                <a:solidFill>
                  <a:srgbClr val="475569"/>
                </a:solidFill>
              </a:rPr>
              <a:t>SPIME Low-Cost PM2.5 Calibration Framework</a:t>
            </a:r>
          </a:p>
          <a:p>
            <a:pPr>
              <a:spcAft>
                <a:spcPts val="400"/>
              </a:spcAft>
              <a:defRPr sz="1150">
                <a:latin typeface="Calibri"/>
              </a:defRPr>
            </a:pPr>
            <a:r>
              <a:rPr b="1" dirty="0">
                <a:solidFill>
                  <a:srgbClr val="0F172A"/>
                </a:solidFill>
              </a:rPr>
              <a:t>Candidate: </a:t>
            </a:r>
            <a:r>
              <a:rPr dirty="0">
                <a:solidFill>
                  <a:srgbClr val="475569"/>
                </a:solidFill>
              </a:rPr>
              <a:t>Neal Allison Hughes (Student ID: 11178252)</a:t>
            </a:r>
          </a:p>
          <a:p>
            <a:pPr>
              <a:spcAft>
                <a:spcPts val="400"/>
              </a:spcAft>
              <a:defRPr sz="1150">
                <a:latin typeface="Calibri"/>
              </a:defRPr>
            </a:pPr>
            <a:r>
              <a:rPr b="1" dirty="0">
                <a:solidFill>
                  <a:srgbClr val="0F172A"/>
                </a:solidFill>
              </a:rPr>
              <a:t>Degree </a:t>
            </a:r>
            <a:r>
              <a:rPr b="1" dirty="0" err="1">
                <a:solidFill>
                  <a:srgbClr val="0F172A"/>
                </a:solidFill>
              </a:rPr>
              <a:t>Programme</a:t>
            </a:r>
            <a:r>
              <a:rPr b="1" dirty="0">
                <a:solidFill>
                  <a:srgbClr val="0F172A"/>
                </a:solidFill>
              </a:rPr>
              <a:t>: </a:t>
            </a:r>
            <a:r>
              <a:rPr dirty="0">
                <a:solidFill>
                  <a:srgbClr val="475569"/>
                </a:solidFill>
              </a:rPr>
              <a:t>B.Sc. Computer Science (Honours)</a:t>
            </a:r>
          </a:p>
          <a:p>
            <a:pPr>
              <a:spcAft>
                <a:spcPts val="400"/>
              </a:spcAft>
              <a:defRPr sz="1150">
                <a:latin typeface="Calibri"/>
              </a:defRPr>
            </a:pPr>
            <a:r>
              <a:rPr b="1" dirty="0">
                <a:solidFill>
                  <a:srgbClr val="0F172A"/>
                </a:solidFill>
              </a:rPr>
              <a:t>Principal Supervisor: </a:t>
            </a:r>
            <a:r>
              <a:rPr dirty="0">
                <a:solidFill>
                  <a:srgbClr val="475569"/>
                </a:solidFill>
              </a:rPr>
              <a:t>Prof. Isaac Wiafe (Department of Computer Science)</a:t>
            </a:r>
          </a:p>
          <a:p>
            <a:pPr>
              <a:spcAft>
                <a:spcPts val="400"/>
              </a:spcAft>
              <a:defRPr sz="1150">
                <a:latin typeface="Calibri"/>
              </a:defRPr>
            </a:pPr>
            <a:r>
              <a:rPr b="1" dirty="0">
                <a:solidFill>
                  <a:srgbClr val="0F172A"/>
                </a:solidFill>
              </a:rPr>
              <a:t>Evaluation Platform: </a:t>
            </a:r>
            <a:r>
              <a:rPr dirty="0">
                <a:solidFill>
                  <a:srgbClr val="475569"/>
                </a:solidFill>
              </a:rPr>
              <a:t>Afri-SET Facility, Department of Physics, University of Ghana, Legon</a:t>
            </a:r>
          </a:p>
          <a:p>
            <a:pPr>
              <a:spcAft>
                <a:spcPts val="400"/>
              </a:spcAft>
              <a:defRPr sz="1150">
                <a:latin typeface="Calibri"/>
              </a:defRPr>
            </a:pPr>
            <a:r>
              <a:rPr b="1" dirty="0">
                <a:solidFill>
                  <a:srgbClr val="0F172A"/>
                </a:solidFill>
              </a:rPr>
              <a:t>Software Repository: </a:t>
            </a:r>
            <a:r>
              <a:rPr dirty="0">
                <a:solidFill>
                  <a:srgbClr val="475569"/>
                </a:solidFill>
              </a:rPr>
              <a:t>github.com/Hughes</a:t>
            </a:r>
            <a:r>
              <a:rPr lang="en-US" dirty="0">
                <a:solidFill>
                  <a:srgbClr val="475569"/>
                </a:solidFill>
              </a:rPr>
              <a:t>neal88</a:t>
            </a:r>
            <a:r>
              <a:rPr dirty="0">
                <a:solidFill>
                  <a:srgbClr val="475569"/>
                </a:solidFill>
              </a:rPr>
              <a:t>/Modulair-PM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2581</Words>
  <Application>Microsoft Office PowerPoint</Application>
  <PresentationFormat>Widescreen</PresentationFormat>
  <Paragraphs>211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MS PGothic</vt:lpstr>
      <vt:lpstr>Aptos</vt:lpstr>
      <vt:lpstr>Aptos Display</vt:lpstr>
      <vt:lpstr>Arial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Prempeh Sharon</dc:creator>
  <cp:lastModifiedBy>Hughes Neal Allison</cp:lastModifiedBy>
  <cp:revision>4</cp:revision>
  <dcterms:created xsi:type="dcterms:W3CDTF">2025-09-15T15:38:40Z</dcterms:created>
  <dcterms:modified xsi:type="dcterms:W3CDTF">2026-10-07T18:16:17Z</dcterms:modified>
</cp:coreProperties>
</file>