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Head of Department, my distinguished supervisor Prof. Isaac Wiafe, and honored members of the Examination Committee. My name is Neal Allison Hughes, Student ID 11178252. Today, I am honored to present my final year undergraduate research project titled: 'SPIME: A Stacked Physics-Informed Meta-Ensemble for Low-Cost PM2.5 Sensor Calibration Under Tropical and Harmattan Meteorological Regimes in Sub-Saharan Africa'. This project was carried out in collaboration with the African Sensor Evaluation and Training Facility (Afri-SET) at the Department of Physics, University of Ghana.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executive roadmap for my defense. I will first establish the air quality monitoring deficit in West Africa and why low-cost optical sensors fail under local climate conditions. Next, I will outline the research objectives and the co-location setup at the Afri-SET facility. Then, I will explain the 75-dimensional physics-informed feature engineering and the SPIME v4 stacking architecture. Following that, I will present our empirical benchmark results on an unseen 6-month holdout dataset, demonstrate how we solved the overfitting crisis, and show feature attribution diagnostics. Finally, I will present the cloud deployment pipeline and conclude with key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Ambient air pollution is a critical public health crisis across Sub-Saharan Africa, contributing to over 1.1 million deaths every year. Yet, our region suffers from a severe monitoring deficit: fewer than one reference-grade station exists per 10 million people. Reference instruments like the Teledyne T640 cost over $30,000, which local governments cannot scale across municipal neighborhoods. Low-cost optical particle counters cost a fraction of that amount, but their raw readings cannot be trusted without sophisticated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calibration is essential, we examine optical particle counter physics. An OPC shines a laser into a sample chamber and measures the pulse of scattered light using Mie scattering theory. The sensor's internal firmware assumes all particles are dry spheres of known density. However, in Accra's tropical climate, relative humidity regularly exceeds 80%. Aerosol salts absorb water vapor, swell hygroscopically, and scatter far more light. As a result, raw sensors over-report PM2.5 mass concentrations by 200% to 500%.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literature reveals four critical gaps. First, factory calibrations completely fail in Accra, giving negative R² values. Second, simple linear regression cannot capture exponential moisture growth curves. Third, complex neural networks overfit severely, dropping 40% in R² when evaluated on unseen future holdout data. Fourth, existing models ignore the seasonal transition between the wet monsoon and the Saharan Harmattan dust season. These deficiencies motivated our physics-informed meta-ensemble approach.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these gaps, our primary aim was to build and deploy SPIME v4. We executed this aim through four specific objectives: First, engineer a 75-dimensional physics-informed feature space embedding Köhler growth curves. Second, construct a multi-stage stacked meta-ensemble combining four diverse gradient-boosted and tree models. Third, validate performance on a strict 6-month unseen holdout dataset to prove zero overfitting. Fourth, package the model into a containerized microservice ready for deployment across Accra.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experimental platform was established at the African Sensor Evaluation and Training Facility (Afri-SET), located at the Department of Physics, University of Ghana. The target sensor was the QuantAQ Modulair-PM, co-located side-by-side with a US EPA Federal Equivalent Method reference instrument—the Teledyne API T640. The dataset spans over a year of hourly observations, capturing extreme tropical humidity and heavy Saharan Harmattan dust events.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3.2 presents our 5-stage calibration workflow. Stage 1 ingests raw telemetry from the Modulair-PM sensor and Teledyne T640 reference. Stage 2 performs data cleaning, outlier removal, and synchronization. Stage 3 generates our 75-dimensional physics-informed feature matrix. Stage 4 trains the SPIME v4 hierarchical meta-ensemble using 5-Fold out-of-fold stacking. Stage 5 validates performance on the unseen 6-month holdout and packages the containerized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forcing machine learning models to guess non-linear thermodynamic interactions from raw relative humidity, we engineered 75 domain-specific features. These include empirical Köhler aerosol growth functions that explicitly model moisture uptake, thermodynamic parameters like absolute humidity and vapor pressure deficit, multi-scale rolling EWMA temporal features to capture diurnal trends, and Harmattan coarse dust ratios to adapt to Saharan mineral plumes.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3.3 details the SPIME v4 architecture. In Level 0, we train four diverse base learners: Random Forest, ExtraTrees, LightGBM, and HistGradientBoosting. To prevent target leakage, we employ 5-Fold out-of-fold cross-validation, generating out-of-sample predictions for the entire training set. In Level 1, an L2-regularized RidgeCV meta-regressor learns the optimal non-negative linear combination of base predictions, ensuring robust out-of-sample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methodological contribution of our work is experimental rigor. Random train-test splits create severe temporal data leakage due to time-series autocorrelation. We partitioned the data chronologically, setting aside the final 6 full months—3,468 hourly observations—as a blind out-of-sample holdout. This guarantees that our reported metrics reflect true field deployment accuracy.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primary empirical benchmark findings on the 6-month out-of-sample holdout dataset. Raw factory calibration completely failed with an R² of -0.0133 and MAE of 5.30 µg/m³. Linear regression achieved R² = 0.6760, and neural networks suffered severe overfitting with R² = 0.5214. Standalone Random Forest reached R² = 0.7752. Our proposed SPIME v4 achieved an R² of 0.9632, an MAE of 0.61 µg/m³—a 66.3% error reduction over previous models—and a near-zero overfit gap of -0.0002.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4.1 shows the holdout scatter plot of SPIME v4 calibrated predictions against the FEM Teledyne reference. Notice the tight clustering along the 1:1 parity line. The model maintains reference-grade linearity across the full concentration spectrum, from pristine clean air days to extreme Harmattan dust episodes.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achievement of SPIME v4 is resolving the overfitting crisis that plagues sensor calibration. Neural networks suffered a massive 40% performance drop between training and holdout evaluation. Standalone Random Forest dropped by 14%. In contrast, SPIME v4 achieved an overfit gap of -0.0002 because 5-Fold out-of-fold stacking forces the meta-learner to evaluate base models strictly on unseen data errors.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4.2 confirms that our physics-informed features are doing the heavy lifting. Köhler growth curves and thermodynamic parameters account for over 35% of total predictive power. This proves that SPIME v4 is learning genuine atmospheric physics rather than memorizing statistical artifacts.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seasonal generalization across both distinct weather regimes. In the Monsoon season, SPIME v4 achieved R² = 0.9684 and MAE = 0.58 µg/m³, eliminating humidity swell. In the Harmattan season, it achieved R² = 0.9578 and MAE = 0.65 µg/m³, accurately tracking mineral dust spikes without misinterpreting dry dust as water mass.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 diagnostics confirm full compliance with classical regression assumptions. The mean residual error is nearly zero (-0.04 µg/m³), confirming zero calibration bias. Residuals exhibit constant variance across all concentration levels, follow a Gaussian distribution, and show no temporal autocorrelation.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our research practically usable, we built an end-to-end deployment microservice. The entire pipeline is serialized into a lightweight 7.8 MB artifact and wrapped in a FastAPI REST service. It achieves sub-5ms inference latency and is containerized with Docker, enabling plug-and-play integration with municipal air quality networks.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core contributions: First, we pioneered multi-gamma Köhler physics feature engineering for tropical optical sensors. Second, we proved that out-of-fold stacking solves the severe overfitting problem of deep learning models. Third, we validated the model under authentic dual-season West African conditions at Afri-SET. Fourth, we provided an open-source, deployment-ready containerized pipeline.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note three limitations: single-site co-location, focus on PM2.5, and long-term multi-year optical drift. Our future work will focus on expanding to multi-city mesh networks across Ghana, deploying on-device TinyML adaptive calibration, and integrating ground sensor meshes with satellite remote sensing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SPIME v4 bridges the $30,000 reference hardware gap. By embedding Köhler physical growth laws and multi-stage stacking, we transformed low-cost optical sensors into regulatory-grade instruments with R² = 0.9632 and zero overfitting. This unlocks affordable, hyper-local air quality surveillance to protect public health and guide environmental policy across Ghana and Sub-Saharan Africa.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Professor Wiafe, the Head of Department, and distinguished members of the Examination Committee. I am now open to your questions, critiques,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17320"/>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7320"/>
            <a:ext cx="12191695" cy="54864"/>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1097280"/>
          </a:xfrm>
          <a:prstGeom prst="rect">
            <a:avLst/>
          </a:prstGeom>
          <a:noFill/>
        </p:spPr>
        <p:txBody>
          <a:bodyPr wrap="square">
            <a:spAutoFit/>
          </a:bodyPr>
          <a:lstStyle/>
          <a:p>
            <a:pPr algn="ctr">
              <a:spcAft>
                <a:spcPts val="300"/>
              </a:spcAft>
              <a:defRPr sz="2000" b="1">
                <a:solidFill>
                  <a:srgbClr val="C59B27"/>
                </a:solidFill>
                <a:latin typeface="Arial"/>
              </a:defRPr>
            </a:pPr>
            <a:r>
              <a:t>UNIVERSITY OF GHANA</a:t>
            </a:r>
          </a:p>
          <a:p>
            <a:pPr algn="ctr">
              <a:defRPr sz="1100" b="1">
                <a:solidFill>
                  <a:srgbClr val="FFFFFF"/>
                </a:solidFill>
                <a:latin typeface="Arial"/>
              </a:defRPr>
            </a:pPr>
            <a:r>
              <a:t>COLLEGE OF BASIC AND APPLIED SCIENCES  •  DEPARTMENT OF COMPUTER SCIENCE</a:t>
            </a:r>
          </a:p>
        </p:txBody>
      </p:sp>
      <p:sp>
        <p:nvSpPr>
          <p:cNvPr id="5" name="TextBox 4"/>
          <p:cNvSpPr txBox="1"/>
          <p:nvPr/>
        </p:nvSpPr>
        <p:spPr>
          <a:xfrm>
            <a:off x="914400" y="1691640"/>
            <a:ext cx="10362895" cy="2103120"/>
          </a:xfrm>
          <a:prstGeom prst="rect">
            <a:avLst/>
          </a:prstGeom>
          <a:noFill/>
        </p:spPr>
        <p:txBody>
          <a:bodyPr wrap="square">
            <a:spAutoFit/>
          </a:bodyPr>
          <a:lstStyle/>
          <a:p>
            <a:pPr algn="ctr">
              <a:spcAft>
                <a:spcPts val="800"/>
              </a:spcAft>
              <a:defRPr sz="2000" b="1">
                <a:solidFill>
                  <a:srgbClr val="002147"/>
                </a:solidFill>
                <a:latin typeface="Arial"/>
              </a:defRPr>
            </a:pPr>
            <a:r>
              <a:t>SPIME: A Stacked Physics-Informed Meta-Ensemble for Low-Cost PM2.5 Sensor Calibration Under Tropical and Harmattan Meteorological Regimes in Sub-Saharan Africa</a:t>
            </a:r>
          </a:p>
          <a:p>
            <a:pPr algn="ctr">
              <a:defRPr sz="1100" i="1">
                <a:solidFill>
                  <a:srgbClr val="6B7280"/>
                </a:solidFill>
                <a:latin typeface="Arial"/>
              </a:defRPr>
            </a:pPr>
            <a:r>
              <a:t>A Final Year Undergraduate Project Defense Submitted in Partial Fulfillment of the Requirements for the Degree of Bachelor of Science in Computer Science</a:t>
            </a:r>
          </a:p>
        </p:txBody>
      </p:sp>
      <p:sp>
        <p:nvSpPr>
          <p:cNvPr id="6" name="Rounded Rectangle 5"/>
          <p:cNvSpPr/>
          <p:nvPr/>
        </p:nvSpPr>
        <p:spPr>
          <a:xfrm>
            <a:off x="914400" y="3977639"/>
            <a:ext cx="10362895" cy="224028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60520"/>
            <a:ext cx="4572000" cy="1920240"/>
          </a:xfrm>
          <a:prstGeom prst="rect">
            <a:avLst/>
          </a:prstGeom>
          <a:noFill/>
        </p:spPr>
        <p:txBody>
          <a:bodyPr wrap="square">
            <a:spAutoFit/>
          </a:bodyPr>
          <a:lstStyle/>
          <a:p>
            <a:pPr>
              <a:spcAft>
                <a:spcPts val="600"/>
              </a:spcAft>
              <a:defRPr sz="1100" b="1">
                <a:solidFill>
                  <a:srgbClr val="002147"/>
                </a:solidFill>
                <a:latin typeface="Arial"/>
              </a:defRPr>
            </a:pPr>
            <a:r>
              <a:t>CANDIDATE DETAILS</a:t>
            </a:r>
          </a:p>
          <a:p>
            <a:pPr>
              <a:lnSpc>
                <a:spcPct val="115000"/>
              </a:lnSpc>
              <a:spcAft>
                <a:spcPts val="400"/>
              </a:spcAft>
            </a:pPr>
            <a:r>
              <a:rPr b="1" sz="1100">
                <a:solidFill>
                  <a:srgbClr val="002147"/>
                </a:solidFill>
                <a:latin typeface="Arial"/>
              </a:rPr>
              <a:t>Candidate: </a:t>
            </a:r>
            <a:r>
              <a:rPr b="0" sz="1100">
                <a:solidFill>
                  <a:srgbClr val="1F2937"/>
                </a:solidFill>
                <a:latin typeface="Arial"/>
              </a:rPr>
              <a:t>Neal Allison Hughes</a:t>
            </a:r>
          </a:p>
          <a:p>
            <a:pPr>
              <a:lnSpc>
                <a:spcPct val="115000"/>
              </a:lnSpc>
              <a:spcAft>
                <a:spcPts val="400"/>
              </a:spcAft>
            </a:pPr>
            <a:r>
              <a:rPr b="1" sz="1100">
                <a:solidFill>
                  <a:srgbClr val="002147"/>
                </a:solidFill>
                <a:latin typeface="Arial"/>
              </a:rPr>
              <a:t>Student ID: </a:t>
            </a:r>
            <a:r>
              <a:rPr b="0" sz="1100">
                <a:solidFill>
                  <a:srgbClr val="1F2937"/>
                </a:solidFill>
                <a:latin typeface="Arial"/>
              </a:rPr>
              <a:t>11178252</a:t>
            </a:r>
          </a:p>
          <a:p>
            <a:pPr>
              <a:lnSpc>
                <a:spcPct val="115000"/>
              </a:lnSpc>
              <a:spcAft>
                <a:spcPts val="400"/>
              </a:spcAft>
            </a:pPr>
            <a:r>
              <a:rPr b="1" sz="1100">
                <a:solidFill>
                  <a:srgbClr val="002147"/>
                </a:solidFill>
                <a:latin typeface="Arial"/>
              </a:rPr>
              <a:t>Degree Programme: </a:t>
            </a:r>
            <a:r>
              <a:rPr b="0" sz="1100">
                <a:solidFill>
                  <a:srgbClr val="1F2937"/>
                </a:solidFill>
                <a:latin typeface="Arial"/>
              </a:rPr>
              <a:t>B.Sc. Computer Science</a:t>
            </a:r>
          </a:p>
        </p:txBody>
      </p:sp>
      <p:sp>
        <p:nvSpPr>
          <p:cNvPr id="8" name="Rectangle 7"/>
          <p:cNvSpPr/>
          <p:nvPr/>
        </p:nvSpPr>
        <p:spPr>
          <a:xfrm>
            <a:off x="5943600" y="4160520"/>
            <a:ext cx="13716" cy="1874519"/>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4160520"/>
            <a:ext cx="4846320" cy="1920240"/>
          </a:xfrm>
          <a:prstGeom prst="rect">
            <a:avLst/>
          </a:prstGeom>
          <a:noFill/>
        </p:spPr>
        <p:txBody>
          <a:bodyPr wrap="square">
            <a:spAutoFit/>
          </a:bodyPr>
          <a:lstStyle/>
          <a:p>
            <a:pPr>
              <a:spcAft>
                <a:spcPts val="600"/>
              </a:spcAft>
              <a:defRPr sz="1100" b="1">
                <a:solidFill>
                  <a:srgbClr val="002147"/>
                </a:solidFill>
                <a:latin typeface="Arial"/>
              </a:defRPr>
            </a:pPr>
            <a:r>
              <a:t>SUPERVISION &amp; RESEARCH FACILITY</a:t>
            </a:r>
          </a:p>
          <a:p>
            <a:pPr>
              <a:lnSpc>
                <a:spcPct val="115000"/>
              </a:lnSpc>
              <a:spcAft>
                <a:spcPts val="400"/>
              </a:spcAft>
            </a:pPr>
            <a:r>
              <a:rPr b="1" sz="1100">
                <a:solidFill>
                  <a:srgbClr val="002147"/>
                </a:solidFill>
                <a:latin typeface="Arial"/>
              </a:rPr>
              <a:t>Principal Supervisor: </a:t>
            </a:r>
            <a:r>
              <a:rPr b="0" sz="1100">
                <a:solidFill>
                  <a:srgbClr val="1F2937"/>
                </a:solidFill>
                <a:latin typeface="Arial"/>
              </a:rPr>
              <a:t>Prof. Isaac Wiafe</a:t>
            </a:r>
          </a:p>
          <a:p>
            <a:pPr>
              <a:lnSpc>
                <a:spcPct val="115000"/>
              </a:lnSpc>
              <a:spcAft>
                <a:spcPts val="400"/>
              </a:spcAft>
            </a:pPr>
            <a:r>
              <a:rPr b="1" sz="1100">
                <a:solidFill>
                  <a:srgbClr val="002147"/>
                </a:solidFill>
                <a:latin typeface="Arial"/>
              </a:rPr>
              <a:t>Department: </a:t>
            </a:r>
            <a:r>
              <a:rPr b="0" sz="1100">
                <a:solidFill>
                  <a:srgbClr val="1F2937"/>
                </a:solidFill>
                <a:latin typeface="Arial"/>
              </a:rPr>
              <a:t>Department of Computer Science</a:t>
            </a:r>
          </a:p>
          <a:p>
            <a:pPr>
              <a:lnSpc>
                <a:spcPct val="115000"/>
              </a:lnSpc>
              <a:spcAft>
                <a:spcPts val="400"/>
              </a:spcAft>
            </a:pPr>
            <a:r>
              <a:rPr b="1" sz="1050">
                <a:solidFill>
                  <a:srgbClr val="002147"/>
                </a:solidFill>
                <a:latin typeface="Arial"/>
              </a:rPr>
              <a:t>Evaluation Facility: </a:t>
            </a:r>
            <a:r>
              <a:rPr b="0" sz="1050">
                <a:solidFill>
                  <a:srgbClr val="1F2937"/>
                </a:solidFill>
                <a:latin typeface="Arial"/>
              </a:rPr>
              <a:t>African Sensor Evaluation and Training Facility (Afri-SET), Dept. of Physics</a:t>
            </a:r>
          </a:p>
          <a:p>
            <a:pPr>
              <a:lnSpc>
                <a:spcPct val="115000"/>
              </a:lnSpc>
              <a:spcAft>
                <a:spcPts val="400"/>
              </a:spcAft>
            </a:pPr>
            <a:r>
              <a:rPr b="1" sz="1050">
                <a:solidFill>
                  <a:srgbClr val="002147"/>
                </a:solidFill>
                <a:latin typeface="Arial"/>
              </a:rPr>
              <a:t>Academic Year: </a:t>
            </a:r>
            <a:r>
              <a:rPr b="0" sz="1050">
                <a:solidFill>
                  <a:srgbClr val="1F2937"/>
                </a:solidFill>
                <a:latin typeface="Arial"/>
              </a:rPr>
              <a:t>2025 / 2026 Academic Session  (July 2026)</a:t>
            </a:r>
          </a:p>
        </p:txBody>
      </p:sp>
      <p:sp>
        <p:nvSpPr>
          <p:cNvPr id="10" name="Rectangle 9"/>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2" name="TextBox 11"/>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3" name="TextBox 12"/>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 of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00 | OVERVIEW</a:t>
            </a:r>
          </a:p>
          <a:p>
            <a:pPr>
              <a:defRPr sz="1900" b="1">
                <a:solidFill>
                  <a:srgbClr val="FFFFFF"/>
                </a:solidFill>
                <a:latin typeface="Arial"/>
              </a:defRPr>
            </a:pPr>
            <a:r>
              <a:t>Presentation Outline &amp; Structure</a:t>
            </a:r>
          </a:p>
        </p:txBody>
      </p:sp>
      <p:sp>
        <p:nvSpPr>
          <p:cNvPr id="5" name="Rounded Rectangle 4"/>
          <p:cNvSpPr/>
          <p:nvPr/>
        </p:nvSpPr>
        <p:spPr>
          <a:xfrm>
            <a:off x="731520" y="1325880"/>
            <a:ext cx="914400" cy="804672"/>
          </a:xfrm>
          <a:prstGeom prst="roundRect">
            <a:avLst/>
          </a:prstGeom>
          <a:solidFill>
            <a:srgbClr val="00214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C59B27"/>
                </a:solidFill>
                <a:latin typeface="Arial"/>
              </a:defRPr>
            </a:pPr>
            <a:r>
              <a:t>01</a:t>
            </a:r>
          </a:p>
        </p:txBody>
      </p:sp>
      <p:sp>
        <p:nvSpPr>
          <p:cNvPr id="6" name="Rounded Rectangle 5"/>
          <p:cNvSpPr/>
          <p:nvPr/>
        </p:nvSpPr>
        <p:spPr>
          <a:xfrm>
            <a:off x="1783080" y="1325880"/>
            <a:ext cx="967709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0240" y="1399032"/>
            <a:ext cx="9372600" cy="658368"/>
          </a:xfrm>
          <a:prstGeom prst="rect">
            <a:avLst/>
          </a:prstGeom>
          <a:noFill/>
        </p:spPr>
        <p:txBody>
          <a:bodyPr wrap="square">
            <a:spAutoFit/>
          </a:bodyPr>
          <a:lstStyle/>
          <a:p>
            <a:pPr>
              <a:spcAft>
                <a:spcPts val="200"/>
              </a:spcAft>
              <a:defRPr sz="1200" b="1">
                <a:solidFill>
                  <a:srgbClr val="002147"/>
                </a:solidFill>
                <a:latin typeface="Arial"/>
              </a:defRPr>
            </a:pPr>
            <a:r>
              <a:t>Context &amp; Problem Statement</a:t>
            </a:r>
          </a:p>
          <a:p>
            <a:pPr>
              <a:defRPr sz="950">
                <a:solidFill>
                  <a:srgbClr val="6B7280"/>
                </a:solidFill>
                <a:latin typeface="Arial"/>
              </a:defRPr>
            </a:pPr>
            <a:r>
              <a:t>Sub-Saharan air quality crisis, OPC optical principles, sensor physical failure modes, and ML research gaps.</a:t>
            </a:r>
          </a:p>
        </p:txBody>
      </p:sp>
      <p:sp>
        <p:nvSpPr>
          <p:cNvPr id="8" name="Rounded Rectangle 7"/>
          <p:cNvSpPr/>
          <p:nvPr/>
        </p:nvSpPr>
        <p:spPr>
          <a:xfrm>
            <a:off x="731520" y="2286000"/>
            <a:ext cx="914400" cy="804672"/>
          </a:xfrm>
          <a:prstGeom prst="roundRect">
            <a:avLst/>
          </a:prstGeom>
          <a:solidFill>
            <a:srgbClr val="00214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C59B27"/>
                </a:solidFill>
                <a:latin typeface="Arial"/>
              </a:defRPr>
            </a:pPr>
            <a:r>
              <a:t>02</a:t>
            </a:r>
          </a:p>
        </p:txBody>
      </p:sp>
      <p:sp>
        <p:nvSpPr>
          <p:cNvPr id="9" name="Rounded Rectangle 8"/>
          <p:cNvSpPr/>
          <p:nvPr/>
        </p:nvSpPr>
        <p:spPr>
          <a:xfrm>
            <a:off x="1783080" y="2286000"/>
            <a:ext cx="967709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2359152"/>
            <a:ext cx="9372600" cy="658368"/>
          </a:xfrm>
          <a:prstGeom prst="rect">
            <a:avLst/>
          </a:prstGeom>
          <a:noFill/>
        </p:spPr>
        <p:txBody>
          <a:bodyPr wrap="square">
            <a:spAutoFit/>
          </a:bodyPr>
          <a:lstStyle/>
          <a:p>
            <a:pPr>
              <a:spcAft>
                <a:spcPts val="200"/>
              </a:spcAft>
              <a:defRPr sz="1200" b="1">
                <a:solidFill>
                  <a:srgbClr val="002147"/>
                </a:solidFill>
                <a:latin typeface="Arial"/>
              </a:defRPr>
            </a:pPr>
            <a:r>
              <a:t>Research Objectives &amp; Facility</a:t>
            </a:r>
          </a:p>
          <a:p>
            <a:pPr>
              <a:defRPr sz="950">
                <a:solidFill>
                  <a:srgbClr val="6B7280"/>
                </a:solidFill>
                <a:latin typeface="Arial"/>
              </a:defRPr>
            </a:pPr>
            <a:r>
              <a:t>Study aim, four specific measurable objectives, and Afri-SET co-location experimental monitoring hub.</a:t>
            </a:r>
          </a:p>
        </p:txBody>
      </p:sp>
      <p:sp>
        <p:nvSpPr>
          <p:cNvPr id="11" name="Rounded Rectangle 10"/>
          <p:cNvSpPr/>
          <p:nvPr/>
        </p:nvSpPr>
        <p:spPr>
          <a:xfrm>
            <a:off x="731520" y="3246120"/>
            <a:ext cx="914400" cy="804672"/>
          </a:xfrm>
          <a:prstGeom prst="roundRect">
            <a:avLst/>
          </a:prstGeom>
          <a:solidFill>
            <a:srgbClr val="00214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C59B27"/>
                </a:solidFill>
                <a:latin typeface="Arial"/>
              </a:defRPr>
            </a:pPr>
            <a:r>
              <a:t>03</a:t>
            </a:r>
          </a:p>
        </p:txBody>
      </p:sp>
      <p:sp>
        <p:nvSpPr>
          <p:cNvPr id="12" name="Rounded Rectangle 11"/>
          <p:cNvSpPr/>
          <p:nvPr/>
        </p:nvSpPr>
        <p:spPr>
          <a:xfrm>
            <a:off x="1783080" y="3246120"/>
            <a:ext cx="967709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0" y="3319272"/>
            <a:ext cx="9372600" cy="658368"/>
          </a:xfrm>
          <a:prstGeom prst="rect">
            <a:avLst/>
          </a:prstGeom>
          <a:noFill/>
        </p:spPr>
        <p:txBody>
          <a:bodyPr wrap="square">
            <a:spAutoFit/>
          </a:bodyPr>
          <a:lstStyle/>
          <a:p>
            <a:pPr>
              <a:spcAft>
                <a:spcPts val="200"/>
              </a:spcAft>
              <a:defRPr sz="1200" b="1">
                <a:solidFill>
                  <a:srgbClr val="002147"/>
                </a:solidFill>
                <a:latin typeface="Arial"/>
              </a:defRPr>
            </a:pPr>
            <a:r>
              <a:t>Methodology &amp; Architecture</a:t>
            </a:r>
          </a:p>
          <a:p>
            <a:pPr>
              <a:defRPr sz="950">
                <a:solidFill>
                  <a:srgbClr val="6B7280"/>
                </a:solidFill>
                <a:latin typeface="Arial"/>
              </a:defRPr>
            </a:pPr>
            <a:r>
              <a:t>75-D physics-informed feature space, multi-gamma Köhler growth curves, and SPIME v4 stacking framework.</a:t>
            </a:r>
          </a:p>
        </p:txBody>
      </p:sp>
      <p:sp>
        <p:nvSpPr>
          <p:cNvPr id="14" name="Rounded Rectangle 13"/>
          <p:cNvSpPr/>
          <p:nvPr/>
        </p:nvSpPr>
        <p:spPr>
          <a:xfrm>
            <a:off x="731520" y="4206240"/>
            <a:ext cx="914400" cy="804672"/>
          </a:xfrm>
          <a:prstGeom prst="roundRect">
            <a:avLst/>
          </a:prstGeom>
          <a:solidFill>
            <a:srgbClr val="00214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C59B27"/>
                </a:solidFill>
                <a:latin typeface="Arial"/>
              </a:defRPr>
            </a:pPr>
            <a:r>
              <a:t>04</a:t>
            </a:r>
          </a:p>
        </p:txBody>
      </p:sp>
      <p:sp>
        <p:nvSpPr>
          <p:cNvPr id="15" name="Rounded Rectangle 14"/>
          <p:cNvSpPr/>
          <p:nvPr/>
        </p:nvSpPr>
        <p:spPr>
          <a:xfrm>
            <a:off x="1783080" y="4206240"/>
            <a:ext cx="967709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20240" y="4279392"/>
            <a:ext cx="9372600" cy="658368"/>
          </a:xfrm>
          <a:prstGeom prst="rect">
            <a:avLst/>
          </a:prstGeom>
          <a:noFill/>
        </p:spPr>
        <p:txBody>
          <a:bodyPr wrap="square">
            <a:spAutoFit/>
          </a:bodyPr>
          <a:lstStyle/>
          <a:p>
            <a:pPr>
              <a:spcAft>
                <a:spcPts val="200"/>
              </a:spcAft>
              <a:defRPr sz="1200" b="1">
                <a:solidFill>
                  <a:srgbClr val="002147"/>
                </a:solidFill>
                <a:latin typeface="Arial"/>
              </a:defRPr>
            </a:pPr>
            <a:r>
              <a:t>Empirical Results &amp; Diagnostics</a:t>
            </a:r>
          </a:p>
          <a:p>
            <a:pPr>
              <a:defRPr sz="950">
                <a:solidFill>
                  <a:srgbClr val="6B7280"/>
                </a:solidFill>
                <a:latin typeface="Arial"/>
              </a:defRPr>
            </a:pPr>
            <a:r>
              <a:t>6-month holdout performance (R² = 0.9632), overfitting elimination, SHAP feature attribution, and seasonal regimes.</a:t>
            </a:r>
          </a:p>
        </p:txBody>
      </p:sp>
      <p:sp>
        <p:nvSpPr>
          <p:cNvPr id="17" name="Rounded Rectangle 16"/>
          <p:cNvSpPr/>
          <p:nvPr/>
        </p:nvSpPr>
        <p:spPr>
          <a:xfrm>
            <a:off x="731520" y="5166360"/>
            <a:ext cx="914400" cy="804672"/>
          </a:xfrm>
          <a:prstGeom prst="roundRect">
            <a:avLst/>
          </a:prstGeom>
          <a:solidFill>
            <a:srgbClr val="00214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C59B27"/>
                </a:solidFill>
                <a:latin typeface="Arial"/>
              </a:defRPr>
            </a:pPr>
            <a:r>
              <a:t>05</a:t>
            </a:r>
          </a:p>
        </p:txBody>
      </p:sp>
      <p:sp>
        <p:nvSpPr>
          <p:cNvPr id="18" name="Rounded Rectangle 17"/>
          <p:cNvSpPr/>
          <p:nvPr/>
        </p:nvSpPr>
        <p:spPr>
          <a:xfrm>
            <a:off x="1783080" y="5166360"/>
            <a:ext cx="967709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20240" y="5239512"/>
            <a:ext cx="9372600" cy="658368"/>
          </a:xfrm>
          <a:prstGeom prst="rect">
            <a:avLst/>
          </a:prstGeom>
          <a:noFill/>
        </p:spPr>
        <p:txBody>
          <a:bodyPr wrap="square">
            <a:spAutoFit/>
          </a:bodyPr>
          <a:lstStyle/>
          <a:p>
            <a:pPr>
              <a:spcAft>
                <a:spcPts val="200"/>
              </a:spcAft>
              <a:defRPr sz="1200" b="1">
                <a:solidFill>
                  <a:srgbClr val="002147"/>
                </a:solidFill>
                <a:latin typeface="Arial"/>
              </a:defRPr>
            </a:pPr>
            <a:r>
              <a:t>Cloud Deployment &amp; Conclusion</a:t>
            </a:r>
          </a:p>
          <a:p>
            <a:pPr>
              <a:defRPr sz="950">
                <a:solidFill>
                  <a:srgbClr val="6B7280"/>
                </a:solidFill>
                <a:latin typeface="Arial"/>
              </a:defRPr>
            </a:pPr>
            <a:r>
              <a:t>Lightweight containerized FastAPI microservice, core contributions, limitations, and future research.</a:t>
            </a:r>
          </a:p>
        </p:txBody>
      </p:sp>
      <p:sp>
        <p:nvSpPr>
          <p:cNvPr id="20" name="Rectangle 19"/>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22" name="TextBox 21"/>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23" name="TextBox 22"/>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2 of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01 | INTRODUCTION</a:t>
            </a:r>
          </a:p>
          <a:p>
            <a:pPr>
              <a:defRPr sz="1900" b="1">
                <a:solidFill>
                  <a:srgbClr val="FFFFFF"/>
                </a:solidFill>
                <a:latin typeface="Arial"/>
              </a:defRPr>
            </a:pPr>
            <a:r>
              <a:t>Background: The Air Quality Crisis &amp; Monitoring Deficit</a:t>
            </a:r>
          </a:p>
        </p:txBody>
      </p:sp>
      <p:sp>
        <p:nvSpPr>
          <p:cNvPr id="5" name="Rounded Rectangle 4"/>
          <p:cNvSpPr/>
          <p:nvPr/>
        </p:nvSpPr>
        <p:spPr>
          <a:xfrm>
            <a:off x="731520" y="1325880"/>
            <a:ext cx="521208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The Sub-Saharan Africa Air Pollution Burden</a:t>
            </a:r>
          </a:p>
          <a:p>
            <a:pPr>
              <a:lnSpc>
                <a:spcPct val="115000"/>
              </a:lnSpc>
              <a:spcAft>
                <a:spcPts val="800"/>
              </a:spcAft>
            </a:pPr>
            <a:r>
              <a:rPr b="1" sz="1150">
                <a:solidFill>
                  <a:srgbClr val="002147"/>
                </a:solidFill>
                <a:latin typeface="Arial"/>
              </a:rPr>
              <a:t>Global Health Toll: </a:t>
            </a:r>
            <a:r>
              <a:rPr b="0" sz="1150">
                <a:solidFill>
                  <a:srgbClr val="1F2937"/>
                </a:solidFill>
                <a:latin typeface="Arial"/>
              </a:rPr>
              <a:t>Ambient fine particulate matter (PM2.5) is responsible for over 1.1 million premature deaths annually across Africa (Health Effects Institute, 2022).</a:t>
            </a:r>
          </a:p>
          <a:p>
            <a:pPr>
              <a:lnSpc>
                <a:spcPct val="115000"/>
              </a:lnSpc>
              <a:spcAft>
                <a:spcPts val="800"/>
              </a:spcAft>
            </a:pPr>
            <a:r>
              <a:rPr b="1" sz="1150">
                <a:solidFill>
                  <a:srgbClr val="002147"/>
                </a:solidFill>
                <a:latin typeface="Arial"/>
              </a:rPr>
              <a:t>Severe Monitoring Void: </a:t>
            </a:r>
            <a:r>
              <a:rPr b="0" sz="1150">
                <a:solidFill>
                  <a:srgbClr val="1F2937"/>
                </a:solidFill>
                <a:latin typeface="Arial"/>
              </a:rPr>
              <a:t>Sub-Saharan Africa possesses less than one regulatory monitoring station per 10 million inhabitants, creating vast geographic blind spots.</a:t>
            </a:r>
          </a:p>
          <a:p>
            <a:pPr>
              <a:lnSpc>
                <a:spcPct val="115000"/>
              </a:lnSpc>
              <a:spcAft>
                <a:spcPts val="800"/>
              </a:spcAft>
            </a:pPr>
            <a:r>
              <a:rPr b="1" sz="1150">
                <a:solidFill>
                  <a:srgbClr val="002147"/>
                </a:solidFill>
                <a:latin typeface="Arial"/>
              </a:rPr>
              <a:t>The Reference Equipment Barrier: </a:t>
            </a:r>
            <a:r>
              <a:rPr b="0" sz="1150">
                <a:solidFill>
                  <a:srgbClr val="1F2937"/>
                </a:solidFill>
                <a:latin typeface="Arial"/>
              </a:rPr>
              <a:t>US EPA Federal Equivalent Method (FEM) monitors (e.g., Teledyne API T640, BAM-1020) cost $30,000–$50,000 plus continuous consumables, making dense municipal networks financially unviable.</a:t>
            </a:r>
          </a:p>
          <a:p>
            <a:pPr>
              <a:lnSpc>
                <a:spcPct val="115000"/>
              </a:lnSpc>
              <a:spcAft>
                <a:spcPts val="800"/>
              </a:spcAft>
            </a:pPr>
            <a:r>
              <a:rPr b="1" sz="1150">
                <a:solidFill>
                  <a:srgbClr val="002147"/>
                </a:solidFill>
                <a:latin typeface="Arial"/>
              </a:rPr>
              <a:t>The Low-Cost Opportunity: </a:t>
            </a:r>
            <a:r>
              <a:rPr b="0" sz="1150">
                <a:solidFill>
                  <a:srgbClr val="1F2937"/>
                </a:solidFill>
                <a:latin typeface="Arial"/>
              </a:rPr>
              <a:t>Low-cost Optical Particle Counters (OPCs) such as the QuantAQ Modulair-PM cost &lt; $2,500, enabling hyper-local community monitoring if accuracy can be guaranteed.</a:t>
            </a:r>
          </a:p>
        </p:txBody>
      </p:sp>
      <p:sp>
        <p:nvSpPr>
          <p:cNvPr id="7" name="Rounded Rectangle 6"/>
          <p:cNvSpPr/>
          <p:nvPr/>
        </p:nvSpPr>
        <p:spPr>
          <a:xfrm>
            <a:off x="6172200" y="1325880"/>
            <a:ext cx="528797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46520" y="1554480"/>
            <a:ext cx="4739335" cy="100584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9344"/>
            <a:ext cx="4739335" cy="896112"/>
          </a:xfrm>
          <a:prstGeom prst="rect">
            <a:avLst/>
          </a:prstGeom>
          <a:noFill/>
        </p:spPr>
        <p:txBody>
          <a:bodyPr wrap="square" lIns="0" rIns="0" tIns="0" bIns="0">
            <a:spAutoFit/>
          </a:bodyPr>
          <a:lstStyle/>
          <a:p>
            <a:pPr algn="ctr">
              <a:defRPr sz="1700" b="1">
                <a:solidFill>
                  <a:srgbClr val="002147"/>
                </a:solidFill>
                <a:latin typeface="Arial"/>
              </a:defRPr>
            </a:pPr>
            <a:r>
              <a:t>1.1 Million+</a:t>
            </a:r>
          </a:p>
          <a:p>
            <a:pPr algn="ctr">
              <a:defRPr sz="850" b="1">
                <a:solidFill>
                  <a:srgbClr val="6B7280"/>
                </a:solidFill>
                <a:latin typeface="Arial"/>
              </a:defRPr>
            </a:pPr>
            <a:r>
              <a:t>ANNUAL PREMATURE DEATHS IN AFRICA</a:t>
            </a:r>
          </a:p>
          <a:p>
            <a:pPr algn="ctr">
              <a:defRPr sz="750">
                <a:solidFill>
                  <a:srgbClr val="B48214"/>
                </a:solidFill>
                <a:latin typeface="Arial"/>
              </a:defRPr>
            </a:pPr>
            <a:r>
              <a:t>Attributable to ambient PM2.5 (HEI, 2022)</a:t>
            </a:r>
          </a:p>
        </p:txBody>
      </p:sp>
      <p:sp>
        <p:nvSpPr>
          <p:cNvPr id="10" name="Rounded Rectangle 9"/>
          <p:cNvSpPr/>
          <p:nvPr/>
        </p:nvSpPr>
        <p:spPr>
          <a:xfrm>
            <a:off x="6446520" y="2697480"/>
            <a:ext cx="4739335" cy="100584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752344"/>
            <a:ext cx="4739335" cy="896112"/>
          </a:xfrm>
          <a:prstGeom prst="rect">
            <a:avLst/>
          </a:prstGeom>
          <a:noFill/>
        </p:spPr>
        <p:txBody>
          <a:bodyPr wrap="square" lIns="0" rIns="0" tIns="0" bIns="0">
            <a:spAutoFit/>
          </a:bodyPr>
          <a:lstStyle/>
          <a:p>
            <a:pPr algn="ctr">
              <a:defRPr sz="1700" b="1">
                <a:solidFill>
                  <a:srgbClr val="002147"/>
                </a:solidFill>
                <a:latin typeface="Arial"/>
              </a:defRPr>
            </a:pPr>
            <a:r>
              <a:t>$30,000 – $50,000</a:t>
            </a:r>
          </a:p>
          <a:p>
            <a:pPr algn="ctr">
              <a:defRPr sz="850" b="1">
                <a:solidFill>
                  <a:srgbClr val="6B7280"/>
                </a:solidFill>
                <a:latin typeface="Arial"/>
              </a:defRPr>
            </a:pPr>
            <a:r>
              <a:t>REFERENCE MONITOR COST BARRIER</a:t>
            </a:r>
          </a:p>
          <a:p>
            <a:pPr algn="ctr">
              <a:defRPr sz="750">
                <a:solidFill>
                  <a:srgbClr val="B48214"/>
                </a:solidFill>
                <a:latin typeface="Arial"/>
              </a:defRPr>
            </a:pPr>
            <a:r>
              <a:t>Teledyne T640 / BAM-1020 capital expense</a:t>
            </a:r>
          </a:p>
        </p:txBody>
      </p:sp>
      <p:sp>
        <p:nvSpPr>
          <p:cNvPr id="12" name="Rounded Rectangle 11"/>
          <p:cNvSpPr/>
          <p:nvPr/>
        </p:nvSpPr>
        <p:spPr>
          <a:xfrm>
            <a:off x="6446520" y="3840480"/>
            <a:ext cx="4739335" cy="100584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895344"/>
            <a:ext cx="4739335" cy="896112"/>
          </a:xfrm>
          <a:prstGeom prst="rect">
            <a:avLst/>
          </a:prstGeom>
          <a:noFill/>
        </p:spPr>
        <p:txBody>
          <a:bodyPr wrap="square" lIns="0" rIns="0" tIns="0" bIns="0">
            <a:spAutoFit/>
          </a:bodyPr>
          <a:lstStyle/>
          <a:p>
            <a:pPr algn="ctr">
              <a:defRPr sz="1700" b="1">
                <a:solidFill>
                  <a:srgbClr val="002147"/>
                </a:solidFill>
                <a:latin typeface="Arial"/>
              </a:defRPr>
            </a:pPr>
            <a:r>
              <a:t>&lt; 1 Per 10M People</a:t>
            </a:r>
          </a:p>
          <a:p>
            <a:pPr algn="ctr">
              <a:defRPr sz="850" b="1">
                <a:solidFill>
                  <a:srgbClr val="6B7280"/>
                </a:solidFill>
                <a:latin typeface="Arial"/>
              </a:defRPr>
            </a:pPr>
            <a:r>
              <a:t>REGULATORY MONITORING DENSITY</a:t>
            </a:r>
          </a:p>
          <a:p>
            <a:pPr algn="ctr">
              <a:defRPr sz="750">
                <a:solidFill>
                  <a:srgbClr val="B48214"/>
                </a:solidFill>
                <a:latin typeface="Arial"/>
              </a:defRPr>
            </a:pPr>
            <a:r>
              <a:t>Severe spatial data void in Sub-Saharan Africa</a:t>
            </a:r>
          </a:p>
        </p:txBody>
      </p:sp>
      <p:sp>
        <p:nvSpPr>
          <p:cNvPr id="14" name="TextBox 13"/>
          <p:cNvSpPr txBox="1"/>
          <p:nvPr/>
        </p:nvSpPr>
        <p:spPr>
          <a:xfrm>
            <a:off x="6446520" y="4983480"/>
            <a:ext cx="4739335" cy="1005840"/>
          </a:xfrm>
          <a:prstGeom prst="rect">
            <a:avLst/>
          </a:prstGeom>
          <a:noFill/>
        </p:spPr>
        <p:txBody>
          <a:bodyPr wrap="square">
            <a:spAutoFit/>
          </a:bodyPr>
          <a:lstStyle/>
          <a:p>
            <a:pPr>
              <a:defRPr b="1" sz="1050">
                <a:solidFill>
                  <a:srgbClr val="002147"/>
                </a:solidFill>
              </a:defRPr>
            </a:pPr>
            <a:r>
              <a:t>Core Research Motivation:</a:t>
            </a:r>
          </a:p>
          <a:p>
            <a:pPr>
              <a:defRPr sz="1000">
                <a:solidFill>
                  <a:srgbClr val="1F2937"/>
                </a:solidFill>
              </a:defRPr>
            </a:pPr>
            <a:r>
              <a:t>To bridge this $30,000 economic divide by transforming low-cost sensors into regulatory-grade instruments using physics-informed machine learning.</a:t>
            </a:r>
          </a:p>
        </p:txBody>
      </p:sp>
      <p:sp>
        <p:nvSpPr>
          <p:cNvPr id="15" name="Rectangle 14"/>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7" name="TextBox 16"/>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8" name="TextBox 17"/>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3 of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01 | INTRODUCTION</a:t>
            </a:r>
          </a:p>
          <a:p>
            <a:pPr>
              <a:defRPr sz="1900" b="1">
                <a:solidFill>
                  <a:srgbClr val="FFFFFF"/>
                </a:solidFill>
                <a:latin typeface="Arial"/>
              </a:defRPr>
            </a:pPr>
            <a:r>
              <a:t>Optical Particle Counters: Physical Working Principles &amp; Failure Modes</a:t>
            </a:r>
          </a:p>
        </p:txBody>
      </p:sp>
      <p:sp>
        <p:nvSpPr>
          <p:cNvPr id="5" name="Rounded Rectangle 4"/>
          <p:cNvSpPr/>
          <p:nvPr/>
        </p:nvSpPr>
        <p:spPr>
          <a:xfrm>
            <a:off x="731520" y="1325880"/>
            <a:ext cx="521208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Optical Particle Counter (OPC) Mechanics</a:t>
            </a:r>
          </a:p>
          <a:p>
            <a:pPr>
              <a:lnSpc>
                <a:spcPct val="115000"/>
              </a:lnSpc>
              <a:spcAft>
                <a:spcPts val="800"/>
              </a:spcAft>
            </a:pPr>
            <a:r>
              <a:rPr b="1" sz="1150">
                <a:solidFill>
                  <a:srgbClr val="002147"/>
                </a:solidFill>
                <a:latin typeface="Arial"/>
              </a:rPr>
              <a:t>Mie Light Scattering: </a:t>
            </a:r>
            <a:r>
              <a:rPr b="0" sz="1150">
                <a:solidFill>
                  <a:srgbClr val="1F2937"/>
                </a:solidFill>
                <a:latin typeface="Arial"/>
              </a:rPr>
              <a:t>An internal laser beam illuminates ambient particles drawn through the sampling chamber. Scattered light pulses are converted to voltage pulses by a photodetector.</a:t>
            </a:r>
          </a:p>
          <a:p>
            <a:pPr>
              <a:lnSpc>
                <a:spcPct val="115000"/>
              </a:lnSpc>
              <a:spcAft>
                <a:spcPts val="800"/>
              </a:spcAft>
            </a:pPr>
            <a:r>
              <a:rPr b="1" sz="1150">
                <a:solidFill>
                  <a:srgbClr val="002147"/>
                </a:solidFill>
                <a:latin typeface="Arial"/>
              </a:rPr>
              <a:t>Mass Estimation Assumptions: </a:t>
            </a:r>
            <a:r>
              <a:rPr b="0" sz="1150">
                <a:solidFill>
                  <a:srgbClr val="1F2937"/>
                </a:solidFill>
                <a:latin typeface="Arial"/>
              </a:rPr>
              <a:t>Raw OPCs assume particles are perfect dry spheres with constant refractive index (m = 1.5 + 0i) and uniform density (ρ = 1.65 g/cm³).</a:t>
            </a:r>
          </a:p>
          <a:p>
            <a:pPr>
              <a:lnSpc>
                <a:spcPct val="115000"/>
              </a:lnSpc>
              <a:spcAft>
                <a:spcPts val="800"/>
              </a:spcAft>
            </a:pPr>
            <a:r>
              <a:rPr b="1" sz="1150">
                <a:solidFill>
                  <a:srgbClr val="002147"/>
                </a:solidFill>
                <a:latin typeface="Arial"/>
              </a:rPr>
              <a:t>Tropical High Humidity Failure: </a:t>
            </a:r>
            <a:r>
              <a:rPr b="0" sz="1150">
                <a:solidFill>
                  <a:srgbClr val="1F2937"/>
                </a:solidFill>
                <a:latin typeface="Arial"/>
              </a:rPr>
              <a:t>When ambient relative humidity exceeds 70–80%, deliquescent aerosol salts absorb water vapor. Particles undergo non-linear hygroscopic swelling, scattering significantly more light and causing raw sensors to over-report PM2.5 by 200%–500%.</a:t>
            </a:r>
          </a:p>
        </p:txBody>
      </p:sp>
      <p:sp>
        <p:nvSpPr>
          <p:cNvPr id="7" name="Rounded Rectangle 6"/>
          <p:cNvSpPr/>
          <p:nvPr/>
        </p:nvSpPr>
        <p:spPr>
          <a:xfrm>
            <a:off x="6172200" y="1325880"/>
            <a:ext cx="528797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2_1_opc_working_principle.png"/>
          <p:cNvPicPr>
            <a:picLocks noChangeAspect="1"/>
          </p:cNvPicPr>
          <p:nvPr/>
        </p:nvPicPr>
        <p:blipFill>
          <a:blip r:embed="rId2"/>
          <a:stretch>
            <a:fillRect/>
          </a:stretch>
        </p:blipFill>
        <p:spPr>
          <a:xfrm>
            <a:off x="6355080" y="1508760"/>
            <a:ext cx="4922215" cy="2595350"/>
          </a:xfrm>
          <a:prstGeom prst="rect">
            <a:avLst/>
          </a:prstGeom>
        </p:spPr>
      </p:pic>
      <p:sp>
        <p:nvSpPr>
          <p:cNvPr id="9" name="TextBox 8"/>
          <p:cNvSpPr txBox="1"/>
          <p:nvPr/>
        </p:nvSpPr>
        <p:spPr>
          <a:xfrm>
            <a:off x="6355080" y="5623560"/>
            <a:ext cx="4922215" cy="411480"/>
          </a:xfrm>
          <a:prstGeom prst="rect">
            <a:avLst/>
          </a:prstGeom>
          <a:noFill/>
        </p:spPr>
        <p:txBody>
          <a:bodyPr wrap="none">
            <a:spAutoFit/>
          </a:bodyPr>
          <a:lstStyle/>
          <a:p>
            <a:pPr algn="ctr">
              <a:defRPr sz="900" i="1">
                <a:solidFill>
                  <a:srgbClr val="6B7280"/>
                </a:solidFill>
              </a:defRPr>
            </a:pPr>
            <a:r>
              <a:t>Figure 2.1: OPC Optical Scattering Principle &amp; Hygroscopic Swelling Mechanism</a:t>
            </a:r>
          </a:p>
        </p:txBody>
      </p:sp>
      <p:sp>
        <p:nvSpPr>
          <p:cNvPr id="10" name="Rectangle 9"/>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2" name="TextBox 11"/>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3" name="TextBox 12"/>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4 of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01 | INTRODUCTION</a:t>
            </a:r>
          </a:p>
          <a:p>
            <a:pPr>
              <a:defRPr sz="1900" b="1">
                <a:solidFill>
                  <a:srgbClr val="FFFFFF"/>
                </a:solidFill>
                <a:latin typeface="Arial"/>
              </a:defRPr>
            </a:pPr>
            <a:r>
              <a:t>Problem Statement &amp; Gaps in Existing Machine Learning Models</a:t>
            </a:r>
          </a:p>
        </p:txBody>
      </p:sp>
      <p:sp>
        <p:nvSpPr>
          <p:cNvPr id="5" name="Rounded Rectangle 4"/>
          <p:cNvSpPr/>
          <p:nvPr/>
        </p:nvSpPr>
        <p:spPr>
          <a:xfrm>
            <a:off x="731520" y="1325880"/>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39"/>
            <a:ext cx="4922215" cy="2011680"/>
          </a:xfrm>
          <a:prstGeom prst="rect">
            <a:avLst/>
          </a:prstGeom>
          <a:noFill/>
        </p:spPr>
        <p:txBody>
          <a:bodyPr wrap="square">
            <a:spAutoFit/>
          </a:bodyPr>
          <a:lstStyle/>
          <a:p>
            <a:pPr>
              <a:spcAft>
                <a:spcPts val="600"/>
              </a:spcAft>
              <a:defRPr sz="1200" b="1">
                <a:solidFill>
                  <a:srgbClr val="002147"/>
                </a:solidFill>
                <a:latin typeface="Arial"/>
              </a:defRPr>
            </a:pPr>
            <a:r>
              <a:t>1. Factory Calibration Breakdown</a:t>
            </a:r>
          </a:p>
          <a:p>
            <a:pPr>
              <a:lnSpc>
                <a:spcPct val="115000"/>
              </a:lnSpc>
              <a:defRPr sz="1000">
                <a:solidFill>
                  <a:srgbClr val="1F2937"/>
                </a:solidFill>
                <a:latin typeface="Arial"/>
              </a:defRPr>
            </a:pPr>
            <a:r>
              <a:t>Factory calibration algorithms are derived in temperate laboratory chambers under low humidity. In West Africa, raw Modulair-PM outputs fail completely, yielding negative correlation (R² = -0.0133, MAE = 5.30 µg/m³) against FEM standards.</a:t>
            </a:r>
          </a:p>
        </p:txBody>
      </p:sp>
      <p:sp>
        <p:nvSpPr>
          <p:cNvPr id="7" name="Rounded Rectangle 6"/>
          <p:cNvSpPr/>
          <p:nvPr/>
        </p:nvSpPr>
        <p:spPr>
          <a:xfrm>
            <a:off x="6172200" y="1325880"/>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463039"/>
            <a:ext cx="4922215" cy="2011680"/>
          </a:xfrm>
          <a:prstGeom prst="rect">
            <a:avLst/>
          </a:prstGeom>
          <a:noFill/>
        </p:spPr>
        <p:txBody>
          <a:bodyPr wrap="square">
            <a:spAutoFit/>
          </a:bodyPr>
          <a:lstStyle/>
          <a:p>
            <a:pPr>
              <a:spcAft>
                <a:spcPts val="600"/>
              </a:spcAft>
              <a:defRPr sz="1200" b="1">
                <a:solidFill>
                  <a:srgbClr val="002147"/>
                </a:solidFill>
                <a:latin typeface="Arial"/>
              </a:defRPr>
            </a:pPr>
            <a:r>
              <a:t>2. Baseline ML Incapacity &amp; Linearity Assumptions</a:t>
            </a:r>
          </a:p>
          <a:p>
            <a:pPr>
              <a:lnSpc>
                <a:spcPct val="115000"/>
              </a:lnSpc>
              <a:defRPr sz="1000">
                <a:solidFill>
                  <a:srgbClr val="1F2937"/>
                </a:solidFill>
                <a:latin typeface="Arial"/>
              </a:defRPr>
            </a:pPr>
            <a:r>
              <a:t>Simple Linear Regression (R² = 0.6760) and Polynomial models fail to capture non-linear, exponential hygroscopic aerosol growth curves near deliquescence thresholds (RH &gt; 75%).</a:t>
            </a:r>
          </a:p>
        </p:txBody>
      </p:sp>
      <p:sp>
        <p:nvSpPr>
          <p:cNvPr id="9" name="Rounded Rectangle 8"/>
          <p:cNvSpPr/>
          <p:nvPr/>
        </p:nvSpPr>
        <p:spPr>
          <a:xfrm>
            <a:off x="731520" y="3749039"/>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86200"/>
            <a:ext cx="4922215" cy="2011680"/>
          </a:xfrm>
          <a:prstGeom prst="rect">
            <a:avLst/>
          </a:prstGeom>
          <a:noFill/>
        </p:spPr>
        <p:txBody>
          <a:bodyPr wrap="square">
            <a:spAutoFit/>
          </a:bodyPr>
          <a:lstStyle/>
          <a:p>
            <a:pPr>
              <a:spcAft>
                <a:spcPts val="600"/>
              </a:spcAft>
              <a:defRPr sz="1200" b="1">
                <a:solidFill>
                  <a:srgbClr val="002147"/>
                </a:solidFill>
                <a:latin typeface="Arial"/>
              </a:defRPr>
            </a:pPr>
            <a:r>
              <a:t>3. Deep Learning Overfitting &amp; Noise Memorization</a:t>
            </a:r>
          </a:p>
          <a:p>
            <a:pPr>
              <a:lnSpc>
                <a:spcPct val="115000"/>
              </a:lnSpc>
              <a:defRPr sz="1000">
                <a:solidFill>
                  <a:srgbClr val="1F2937"/>
                </a:solidFill>
                <a:latin typeface="Arial"/>
              </a:defRPr>
            </a:pPr>
            <a:r>
              <a:t>Deep Neural Networks (MLP, LSTM) heavily overfit training data (Train R² ≈ 0.92 vs Holdout R² ≈ 0.49–0.52). They memorize high-frequency sensor noise rather than learning true atmospheric physics.</a:t>
            </a:r>
          </a:p>
        </p:txBody>
      </p:sp>
      <p:sp>
        <p:nvSpPr>
          <p:cNvPr id="11" name="Rounded Rectangle 10"/>
          <p:cNvSpPr/>
          <p:nvPr/>
        </p:nvSpPr>
        <p:spPr>
          <a:xfrm>
            <a:off x="6172200" y="3749039"/>
            <a:ext cx="5287975" cy="228600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886200"/>
            <a:ext cx="4922215" cy="2011680"/>
          </a:xfrm>
          <a:prstGeom prst="rect">
            <a:avLst/>
          </a:prstGeom>
          <a:noFill/>
        </p:spPr>
        <p:txBody>
          <a:bodyPr wrap="square">
            <a:spAutoFit/>
          </a:bodyPr>
          <a:lstStyle/>
          <a:p>
            <a:pPr>
              <a:spcAft>
                <a:spcPts val="600"/>
              </a:spcAft>
              <a:defRPr sz="1200" b="1">
                <a:solidFill>
                  <a:srgbClr val="002147"/>
                </a:solidFill>
                <a:latin typeface="Arial"/>
              </a:defRPr>
            </a:pPr>
            <a:r>
              <a:t>4. Neglect of Harmattan Mineral Dust Regimes</a:t>
            </a:r>
          </a:p>
          <a:p>
            <a:pPr>
              <a:lnSpc>
                <a:spcPct val="115000"/>
              </a:lnSpc>
              <a:defRPr sz="1000">
                <a:solidFill>
                  <a:srgbClr val="1F2937"/>
                </a:solidFill>
                <a:latin typeface="Arial"/>
              </a:defRPr>
            </a:pPr>
            <a:r>
              <a:t>Existing calibration studies in temperate zones assume constant chemical composition. In Sub-Saharan Africa, seasonal Saharan dust plumes alter aerosol optical properties, breaking single-season calibrations.</a:t>
            </a:r>
          </a:p>
        </p:txBody>
      </p:sp>
      <p:sp>
        <p:nvSpPr>
          <p:cNvPr id="13" name="Rectangle 12"/>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5" name="TextBox 14"/>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6" name="TextBox 15"/>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5 of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02 | OBJECTIVES</a:t>
            </a:r>
          </a:p>
          <a:p>
            <a:pPr>
              <a:defRPr sz="1900" b="1">
                <a:solidFill>
                  <a:srgbClr val="FFFFFF"/>
                </a:solidFill>
                <a:latin typeface="Arial"/>
              </a:defRPr>
            </a:pPr>
            <a:r>
              <a:t>Research Aim &amp; Specific Objectives</a:t>
            </a:r>
          </a:p>
        </p:txBody>
      </p:sp>
      <p:sp>
        <p:nvSpPr>
          <p:cNvPr id="5" name="Rounded Rectangle 4"/>
          <p:cNvSpPr/>
          <p:nvPr/>
        </p:nvSpPr>
        <p:spPr>
          <a:xfrm>
            <a:off x="731520" y="1325880"/>
            <a:ext cx="10728655" cy="1143000"/>
          </a:xfrm>
          <a:prstGeom prst="roundRect">
            <a:avLst/>
          </a:prstGeom>
          <a:solidFill>
            <a:srgbClr val="F8FAFC"/>
          </a:solidFill>
          <a:ln w="12700">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362895" cy="960120"/>
          </a:xfrm>
          <a:prstGeom prst="rect">
            <a:avLst/>
          </a:prstGeom>
          <a:noFill/>
        </p:spPr>
        <p:txBody>
          <a:bodyPr wrap="square">
            <a:spAutoFit/>
          </a:bodyPr>
          <a:lstStyle/>
          <a:p>
            <a:pPr>
              <a:spcAft>
                <a:spcPts val="200"/>
              </a:spcAft>
              <a:defRPr sz="1050" b="1">
                <a:solidFill>
                  <a:srgbClr val="B48214"/>
                </a:solidFill>
                <a:latin typeface="Arial"/>
              </a:defRPr>
            </a:pPr>
            <a:r>
              <a:t>PRIMARY RESEARCH AIM</a:t>
            </a:r>
          </a:p>
          <a:p>
            <a:pPr>
              <a:defRPr sz="1150" b="1">
                <a:solidFill>
                  <a:srgbClr val="002147"/>
                </a:solidFill>
                <a:latin typeface="Arial"/>
              </a:defRPr>
            </a:pPr>
            <a:r>
              <a:t>To design, evaluate, and deploy a physics-informed, non-overfitting machine learning calibration framework (SPIME v4) that corrects raw QuantAQ Modulair-PM sensor readings to achieve regulatory-grade PM2.5 accuracy against a co-located US EPA FEM reference monitor in Accra, Ghana.</a:t>
            </a:r>
          </a:p>
        </p:txBody>
      </p:sp>
      <p:sp>
        <p:nvSpPr>
          <p:cNvPr id="7" name="Rounded Rectangle 6"/>
          <p:cNvSpPr/>
          <p:nvPr/>
        </p:nvSpPr>
        <p:spPr>
          <a:xfrm>
            <a:off x="731520" y="2606040"/>
            <a:ext cx="1072865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79192"/>
            <a:ext cx="10362895" cy="658368"/>
          </a:xfrm>
          <a:prstGeom prst="rect">
            <a:avLst/>
          </a:prstGeom>
          <a:noFill/>
        </p:spPr>
        <p:txBody>
          <a:bodyPr wrap="square">
            <a:spAutoFit/>
          </a:bodyPr>
          <a:lstStyle/>
          <a:p>
            <a:pPr>
              <a:spcAft>
                <a:spcPts val="200"/>
              </a:spcAft>
              <a:defRPr sz="1150" b="1">
                <a:solidFill>
                  <a:srgbClr val="002147"/>
                </a:solidFill>
                <a:latin typeface="Arial"/>
              </a:defRPr>
            </a:pPr>
            <a:r>
              <a:t>Objective 1: Physics-Informed Feature Engineering</a:t>
            </a:r>
          </a:p>
          <a:p>
            <a:pPr>
              <a:defRPr sz="950">
                <a:solidFill>
                  <a:srgbClr val="1F2937"/>
                </a:solidFill>
                <a:latin typeface="Arial"/>
              </a:defRPr>
            </a:pPr>
            <a:r>
              <a:t>Formulate a 75-dimensional feature space integrating multi-gamma empirical Köhler hygroscopic growth curves f(RH, γ), thermodynamic water vapor parameters, and temporal dynamics.</a:t>
            </a:r>
          </a:p>
        </p:txBody>
      </p:sp>
      <p:sp>
        <p:nvSpPr>
          <p:cNvPr id="9" name="Rounded Rectangle 8"/>
          <p:cNvSpPr/>
          <p:nvPr/>
        </p:nvSpPr>
        <p:spPr>
          <a:xfrm>
            <a:off x="731520" y="3502152"/>
            <a:ext cx="1072865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75304"/>
            <a:ext cx="10362895" cy="658368"/>
          </a:xfrm>
          <a:prstGeom prst="rect">
            <a:avLst/>
          </a:prstGeom>
          <a:noFill/>
        </p:spPr>
        <p:txBody>
          <a:bodyPr wrap="square">
            <a:spAutoFit/>
          </a:bodyPr>
          <a:lstStyle/>
          <a:p>
            <a:pPr>
              <a:spcAft>
                <a:spcPts val="200"/>
              </a:spcAft>
              <a:defRPr sz="1150" b="1">
                <a:solidFill>
                  <a:srgbClr val="002147"/>
                </a:solidFill>
                <a:latin typeface="Arial"/>
              </a:defRPr>
            </a:pPr>
            <a:r>
              <a:t>Objective 2: Hierarchical Stacking Architecture</a:t>
            </a:r>
          </a:p>
          <a:p>
            <a:pPr>
              <a:defRPr sz="950">
                <a:solidFill>
                  <a:srgbClr val="1F2937"/>
                </a:solidFill>
                <a:latin typeface="Arial"/>
              </a:defRPr>
            </a:pPr>
            <a:r>
              <a:t>Develop a multi-stage stacking meta-ensemble (SPIME v4) combining diverse tree base learners (Random Forest, ExtraTrees, LightGBM, HistGBM) via an L2-regularized meta-regressor.</a:t>
            </a:r>
          </a:p>
        </p:txBody>
      </p:sp>
      <p:sp>
        <p:nvSpPr>
          <p:cNvPr id="11" name="Rounded Rectangle 10"/>
          <p:cNvSpPr/>
          <p:nvPr/>
        </p:nvSpPr>
        <p:spPr>
          <a:xfrm>
            <a:off x="731520" y="4398264"/>
            <a:ext cx="1072865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71416"/>
            <a:ext cx="10362895" cy="658368"/>
          </a:xfrm>
          <a:prstGeom prst="rect">
            <a:avLst/>
          </a:prstGeom>
          <a:noFill/>
        </p:spPr>
        <p:txBody>
          <a:bodyPr wrap="square">
            <a:spAutoFit/>
          </a:bodyPr>
          <a:lstStyle/>
          <a:p>
            <a:pPr>
              <a:spcAft>
                <a:spcPts val="200"/>
              </a:spcAft>
              <a:defRPr sz="1150" b="1">
                <a:solidFill>
                  <a:srgbClr val="002147"/>
                </a:solidFill>
                <a:latin typeface="Arial"/>
              </a:defRPr>
            </a:pPr>
            <a:r>
              <a:t>Objective 3: Rigorous Holdout &amp; Anti-Overfitting Validation</a:t>
            </a:r>
          </a:p>
          <a:p>
            <a:pPr>
              <a:defRPr sz="950">
                <a:solidFill>
                  <a:srgbClr val="1F2937"/>
                </a:solidFill>
                <a:latin typeface="Arial"/>
              </a:defRPr>
            </a:pPr>
            <a:r>
              <a:t>Benchmark calibration accuracy on an unseen 6-month temporal holdout dataset (3,468 hourly records) under strict anti-leakage protocols and SHAP explainability.</a:t>
            </a:r>
          </a:p>
        </p:txBody>
      </p:sp>
      <p:sp>
        <p:nvSpPr>
          <p:cNvPr id="13" name="Rounded Rectangle 12"/>
          <p:cNvSpPr/>
          <p:nvPr/>
        </p:nvSpPr>
        <p:spPr>
          <a:xfrm>
            <a:off x="731520" y="5294376"/>
            <a:ext cx="10728655"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67528"/>
            <a:ext cx="10362895" cy="658368"/>
          </a:xfrm>
          <a:prstGeom prst="rect">
            <a:avLst/>
          </a:prstGeom>
          <a:noFill/>
        </p:spPr>
        <p:txBody>
          <a:bodyPr wrap="square">
            <a:spAutoFit/>
          </a:bodyPr>
          <a:lstStyle/>
          <a:p>
            <a:pPr>
              <a:spcAft>
                <a:spcPts val="200"/>
              </a:spcAft>
              <a:defRPr sz="1150" b="1">
                <a:solidFill>
                  <a:srgbClr val="002147"/>
                </a:solidFill>
                <a:latin typeface="Arial"/>
              </a:defRPr>
            </a:pPr>
            <a:r>
              <a:t>Objective 4: Operational Edge/Cloud Deployment</a:t>
            </a:r>
          </a:p>
          <a:p>
            <a:pPr>
              <a:defRPr sz="950">
                <a:solidFill>
                  <a:srgbClr val="1F2937"/>
                </a:solidFill>
                <a:latin typeface="Arial"/>
              </a:defRPr>
            </a:pPr>
            <a:r>
              <a:t>Package the complete calibrated pipeline into an open-source, containerized REST API delivering real-time inferences with &lt; 5ms latency for municipal air quality networks.</a:t>
            </a:r>
          </a:p>
        </p:txBody>
      </p:sp>
      <p:sp>
        <p:nvSpPr>
          <p:cNvPr id="15" name="Rectangle 14"/>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7" name="TextBox 16"/>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8" name="TextBox 17"/>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6 of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03 | METHODOLOGY</a:t>
            </a:r>
          </a:p>
          <a:p>
            <a:pPr>
              <a:defRPr sz="1900" b="1">
                <a:solidFill>
                  <a:srgbClr val="FFFFFF"/>
                </a:solidFill>
                <a:latin typeface="Arial"/>
              </a:defRPr>
            </a:pPr>
            <a:r>
              <a:t>Experimental Platform: Co-location Setup at Afri-SET Facility</a:t>
            </a:r>
          </a:p>
        </p:txBody>
      </p:sp>
      <p:sp>
        <p:nvSpPr>
          <p:cNvPr id="5" name="Rounded Rectangle 4"/>
          <p:cNvSpPr/>
          <p:nvPr/>
        </p:nvSpPr>
        <p:spPr>
          <a:xfrm>
            <a:off x="731520" y="1325880"/>
            <a:ext cx="521208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Co-location Monitoring Infrastructure</a:t>
            </a:r>
          </a:p>
          <a:p>
            <a:pPr>
              <a:lnSpc>
                <a:spcPct val="115000"/>
              </a:lnSpc>
              <a:spcAft>
                <a:spcPts val="800"/>
              </a:spcAft>
            </a:pPr>
            <a:r>
              <a:rPr b="1" sz="1150">
                <a:solidFill>
                  <a:srgbClr val="002147"/>
                </a:solidFill>
                <a:latin typeface="Arial"/>
              </a:rPr>
              <a:t>Research Facility: </a:t>
            </a:r>
            <a:r>
              <a:rPr b="0" sz="1150">
                <a:solidFill>
                  <a:srgbClr val="1F2937"/>
                </a:solidFill>
                <a:latin typeface="Arial"/>
              </a:rPr>
              <a:t>African Sensor Evaluation and Training Facility (Afri-SET), Department of Physics, University of Ghana, Legon (5.651° N, -0.186° W, Elevation 98 m).</a:t>
            </a:r>
          </a:p>
          <a:p>
            <a:pPr>
              <a:lnSpc>
                <a:spcPct val="115000"/>
              </a:lnSpc>
              <a:spcAft>
                <a:spcPts val="800"/>
              </a:spcAft>
            </a:pPr>
            <a:r>
              <a:rPr b="1" sz="1150">
                <a:solidFill>
                  <a:srgbClr val="002147"/>
                </a:solidFill>
                <a:latin typeface="Arial"/>
              </a:rPr>
              <a:t>Reference Ground Truth: </a:t>
            </a:r>
            <a:r>
              <a:rPr b="0" sz="1150">
                <a:solidFill>
                  <a:srgbClr val="1F2937"/>
                </a:solidFill>
                <a:latin typeface="Arial"/>
              </a:rPr>
              <a:t>Teledyne API T640 PM Mass Monitor — US EPA Federal Equivalent Method (FEM EQPM-0514-217) continuous particulate spectrometer.</a:t>
            </a:r>
          </a:p>
          <a:p>
            <a:pPr>
              <a:lnSpc>
                <a:spcPct val="115000"/>
              </a:lnSpc>
              <a:spcAft>
                <a:spcPts val="800"/>
              </a:spcAft>
            </a:pPr>
            <a:r>
              <a:rPr b="1" sz="1150">
                <a:solidFill>
                  <a:srgbClr val="002147"/>
                </a:solidFill>
                <a:latin typeface="Arial"/>
              </a:rPr>
              <a:t>Target Low-Cost Sensor: </a:t>
            </a:r>
            <a:r>
              <a:rPr b="0" sz="1150">
                <a:solidFill>
                  <a:srgbClr val="1F2937"/>
                </a:solidFill>
                <a:latin typeface="Arial"/>
              </a:rPr>
              <a:t>QuantAQ Modulair-PM (Unit MOD-PM-01068) equipped with an Alphasense OPC-N3 optical particle counter, relative humidity, temperature, and pressure telemetry.</a:t>
            </a:r>
          </a:p>
          <a:p>
            <a:pPr>
              <a:lnSpc>
                <a:spcPct val="115000"/>
              </a:lnSpc>
              <a:spcAft>
                <a:spcPts val="800"/>
              </a:spcAft>
            </a:pPr>
            <a:r>
              <a:rPr b="1" sz="1150">
                <a:solidFill>
                  <a:srgbClr val="002147"/>
                </a:solidFill>
                <a:latin typeface="Arial"/>
              </a:rPr>
              <a:t>Temporal Resolution: </a:t>
            </a:r>
            <a:r>
              <a:rPr b="0" sz="1150">
                <a:solidFill>
                  <a:srgbClr val="1F2937"/>
                </a:solidFill>
                <a:latin typeface="Arial"/>
              </a:rPr>
              <a:t>1-hour continuous synchronized averages spanning both Wet Monsoon (2024) and Dry Harmattan (2024–2025) seasons.</a:t>
            </a:r>
          </a:p>
        </p:txBody>
      </p:sp>
      <p:sp>
        <p:nvSpPr>
          <p:cNvPr id="7" name="Rounded Rectangle 6"/>
          <p:cNvSpPr/>
          <p:nvPr/>
        </p:nvSpPr>
        <p:spPr>
          <a:xfrm>
            <a:off x="6172200" y="1325880"/>
            <a:ext cx="528797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46520" y="1554480"/>
            <a:ext cx="4739335" cy="100584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9344"/>
            <a:ext cx="4739335" cy="896112"/>
          </a:xfrm>
          <a:prstGeom prst="rect">
            <a:avLst/>
          </a:prstGeom>
          <a:noFill/>
        </p:spPr>
        <p:txBody>
          <a:bodyPr wrap="square" lIns="0" rIns="0" tIns="0" bIns="0">
            <a:spAutoFit/>
          </a:bodyPr>
          <a:lstStyle/>
          <a:p>
            <a:pPr algn="ctr">
              <a:defRPr sz="1700" b="1">
                <a:solidFill>
                  <a:srgbClr val="002147"/>
                </a:solidFill>
                <a:latin typeface="Arial"/>
              </a:defRPr>
            </a:pPr>
            <a:r>
              <a:t>Afri-SET Facility</a:t>
            </a:r>
          </a:p>
          <a:p>
            <a:pPr algn="ctr">
              <a:defRPr sz="850" b="1">
                <a:solidFill>
                  <a:srgbClr val="6B7280"/>
                </a:solidFill>
                <a:latin typeface="Arial"/>
              </a:defRPr>
            </a:pPr>
            <a:r>
              <a:t>TESTING &amp; EVALUATION HUB</a:t>
            </a:r>
          </a:p>
          <a:p>
            <a:pPr algn="ctr">
              <a:defRPr sz="750">
                <a:solidFill>
                  <a:srgbClr val="B48214"/>
                </a:solidFill>
                <a:latin typeface="Arial"/>
              </a:defRPr>
            </a:pPr>
            <a:r>
              <a:t>Department of Physics, University of Ghana, Legon</a:t>
            </a:r>
          </a:p>
        </p:txBody>
      </p:sp>
      <p:sp>
        <p:nvSpPr>
          <p:cNvPr id="10" name="Rounded Rectangle 9"/>
          <p:cNvSpPr/>
          <p:nvPr/>
        </p:nvSpPr>
        <p:spPr>
          <a:xfrm>
            <a:off x="6446520" y="2697480"/>
            <a:ext cx="4739335" cy="100584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752344"/>
            <a:ext cx="4739335" cy="896112"/>
          </a:xfrm>
          <a:prstGeom prst="rect">
            <a:avLst/>
          </a:prstGeom>
          <a:noFill/>
        </p:spPr>
        <p:txBody>
          <a:bodyPr wrap="square" lIns="0" rIns="0" tIns="0" bIns="0">
            <a:spAutoFit/>
          </a:bodyPr>
          <a:lstStyle/>
          <a:p>
            <a:pPr algn="ctr">
              <a:defRPr sz="1700" b="1">
                <a:solidFill>
                  <a:srgbClr val="002147"/>
                </a:solidFill>
                <a:latin typeface="Arial"/>
              </a:defRPr>
            </a:pPr>
            <a:r>
              <a:t>Teledyne API T640</a:t>
            </a:r>
          </a:p>
          <a:p>
            <a:pPr algn="ctr">
              <a:defRPr sz="850" b="1">
                <a:solidFill>
                  <a:srgbClr val="6B7280"/>
                </a:solidFill>
                <a:latin typeface="Arial"/>
              </a:defRPr>
            </a:pPr>
            <a:r>
              <a:t>REGULATORY GOLD STANDARD</a:t>
            </a:r>
          </a:p>
          <a:p>
            <a:pPr algn="ctr">
              <a:defRPr sz="750">
                <a:solidFill>
                  <a:srgbClr val="B48214"/>
                </a:solidFill>
                <a:latin typeface="Arial"/>
              </a:defRPr>
            </a:pPr>
            <a:r>
              <a:t>US EPA FEM Certified Continuous Spectrometer</a:t>
            </a:r>
          </a:p>
        </p:txBody>
      </p:sp>
      <p:sp>
        <p:nvSpPr>
          <p:cNvPr id="12" name="Rounded Rectangle 11"/>
          <p:cNvSpPr/>
          <p:nvPr/>
        </p:nvSpPr>
        <p:spPr>
          <a:xfrm>
            <a:off x="6446520" y="3840480"/>
            <a:ext cx="4739335" cy="100584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895344"/>
            <a:ext cx="4739335" cy="896112"/>
          </a:xfrm>
          <a:prstGeom prst="rect">
            <a:avLst/>
          </a:prstGeom>
          <a:noFill/>
        </p:spPr>
        <p:txBody>
          <a:bodyPr wrap="square" lIns="0" rIns="0" tIns="0" bIns="0">
            <a:spAutoFit/>
          </a:bodyPr>
          <a:lstStyle/>
          <a:p>
            <a:pPr algn="ctr">
              <a:defRPr sz="1700" b="1">
                <a:solidFill>
                  <a:srgbClr val="002147"/>
                </a:solidFill>
                <a:latin typeface="Arial"/>
              </a:defRPr>
            </a:pPr>
            <a:r>
              <a:t>3,468 Hourly Records</a:t>
            </a:r>
          </a:p>
          <a:p>
            <a:pPr algn="ctr">
              <a:defRPr sz="850" b="1">
                <a:solidFill>
                  <a:srgbClr val="6B7280"/>
                </a:solidFill>
                <a:latin typeface="Arial"/>
              </a:defRPr>
            </a:pPr>
            <a:r>
              <a:t>6-MONTH UNSEEN HOLDOUT SET</a:t>
            </a:r>
          </a:p>
          <a:p>
            <a:pPr algn="ctr">
              <a:defRPr sz="750">
                <a:solidFill>
                  <a:srgbClr val="B48214"/>
                </a:solidFill>
                <a:latin typeface="Arial"/>
              </a:defRPr>
            </a:pPr>
            <a:r>
              <a:t>Strictly out-of-sample temporal evaluation</a:t>
            </a:r>
          </a:p>
        </p:txBody>
      </p:sp>
      <p:sp>
        <p:nvSpPr>
          <p:cNvPr id="14" name="TextBox 13"/>
          <p:cNvSpPr txBox="1"/>
          <p:nvPr/>
        </p:nvSpPr>
        <p:spPr>
          <a:xfrm>
            <a:off x="6446520" y="4983480"/>
            <a:ext cx="4739335" cy="1005840"/>
          </a:xfrm>
          <a:prstGeom prst="rect">
            <a:avLst/>
          </a:prstGeom>
          <a:noFill/>
        </p:spPr>
        <p:txBody>
          <a:bodyPr wrap="square">
            <a:spAutoFit/>
          </a:bodyPr>
          <a:lstStyle/>
          <a:p>
            <a:pPr>
              <a:defRPr b="1" sz="1050">
                <a:solidFill>
                  <a:srgbClr val="002147"/>
                </a:solidFill>
              </a:defRPr>
            </a:pPr>
            <a:r>
              <a:t>Data Integrity Protocol:</a:t>
            </a:r>
          </a:p>
          <a:p>
            <a:pPr>
              <a:defRPr sz="1000">
                <a:solidFill>
                  <a:srgbClr val="1F2937"/>
                </a:solidFill>
              </a:defRPr>
            </a:pPr>
            <a:r>
              <a:t>Strict quality assurance: flow rate stabilization, zero negative particulate values, and complete synchronization across reference and target optical instruments.</a:t>
            </a:r>
          </a:p>
        </p:txBody>
      </p:sp>
      <p:sp>
        <p:nvSpPr>
          <p:cNvPr id="15" name="Rectangle 14"/>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7" name="TextBox 16"/>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8" name="TextBox 17"/>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7 of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03 | METHODOLOGY</a:t>
            </a:r>
          </a:p>
          <a:p>
            <a:pPr>
              <a:defRPr sz="1900" b="1">
                <a:solidFill>
                  <a:srgbClr val="FFFFFF"/>
                </a:solidFill>
                <a:latin typeface="Arial"/>
              </a:defRPr>
            </a:pPr>
            <a:r>
              <a:t>End-to-End Machine Learning Calibration Pipeline</a:t>
            </a:r>
          </a:p>
        </p:txBody>
      </p:sp>
      <p:sp>
        <p:nvSpPr>
          <p:cNvPr id="5" name="Rounded Rectangle 4"/>
          <p:cNvSpPr/>
          <p:nvPr/>
        </p:nvSpPr>
        <p:spPr>
          <a:xfrm>
            <a:off x="731520" y="1325880"/>
            <a:ext cx="1072865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3_2_calibration_pipeline.png"/>
          <p:cNvPicPr>
            <a:picLocks noChangeAspect="1"/>
          </p:cNvPicPr>
          <p:nvPr/>
        </p:nvPicPr>
        <p:blipFill>
          <a:blip r:embed="rId2"/>
          <a:stretch>
            <a:fillRect/>
          </a:stretch>
        </p:blipFill>
        <p:spPr>
          <a:xfrm>
            <a:off x="914400" y="1463040"/>
            <a:ext cx="10362895" cy="6860951"/>
          </a:xfrm>
          <a:prstGeom prst="rect">
            <a:avLst/>
          </a:prstGeom>
        </p:spPr>
      </p:pic>
      <p:sp>
        <p:nvSpPr>
          <p:cNvPr id="7" name="TextBox 6"/>
          <p:cNvSpPr txBox="1"/>
          <p:nvPr/>
        </p:nvSpPr>
        <p:spPr>
          <a:xfrm>
            <a:off x="914400" y="5623560"/>
            <a:ext cx="10362895" cy="411480"/>
          </a:xfrm>
          <a:prstGeom prst="rect">
            <a:avLst/>
          </a:prstGeom>
          <a:noFill/>
        </p:spPr>
        <p:txBody>
          <a:bodyPr wrap="none">
            <a:spAutoFit/>
          </a:bodyPr>
          <a:lstStyle/>
          <a:p>
            <a:pPr algn="ctr">
              <a:defRPr sz="950" i="1">
                <a:solidFill>
                  <a:srgbClr val="6B7280"/>
                </a:solidFill>
              </a:defRPr>
            </a:pPr>
            <a:r>
              <a:t>Figure 3.2: Five-Stage Physics-Informed Machine Learning Calibration Pipeline</a:t>
            </a:r>
          </a:p>
        </p:txBody>
      </p:sp>
      <p:sp>
        <p:nvSpPr>
          <p:cNvPr id="8" name="Rectangle 7"/>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0" name="TextBox 9"/>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1" name="TextBox 10"/>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8 of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03 | METHODOLOGY</a:t>
            </a:r>
          </a:p>
          <a:p>
            <a:pPr>
              <a:defRPr sz="1900" b="1">
                <a:solidFill>
                  <a:srgbClr val="FFFFFF"/>
                </a:solidFill>
                <a:latin typeface="Arial"/>
              </a:defRPr>
            </a:pPr>
            <a:r>
              <a:t>75-Dimensional Physics-Informed Feature Engineering</a:t>
            </a:r>
          </a:p>
        </p:txBody>
      </p:sp>
      <p:sp>
        <p:nvSpPr>
          <p:cNvPr id="5" name="Rounded Rectangle 4"/>
          <p:cNvSpPr/>
          <p:nvPr/>
        </p:nvSpPr>
        <p:spPr>
          <a:xfrm>
            <a:off x="731520" y="1325880"/>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39"/>
            <a:ext cx="4922215" cy="2011680"/>
          </a:xfrm>
          <a:prstGeom prst="rect">
            <a:avLst/>
          </a:prstGeom>
          <a:noFill/>
        </p:spPr>
        <p:txBody>
          <a:bodyPr wrap="square">
            <a:spAutoFit/>
          </a:bodyPr>
          <a:lstStyle/>
          <a:p>
            <a:pPr>
              <a:spcAft>
                <a:spcPts val="600"/>
              </a:spcAft>
              <a:defRPr sz="1200" b="1">
                <a:solidFill>
                  <a:srgbClr val="002147"/>
                </a:solidFill>
                <a:latin typeface="Arial"/>
              </a:defRPr>
            </a:pPr>
            <a:r>
              <a:t>1. Empirical Köhler Hygroscopic Growth (15 Features)</a:t>
            </a:r>
          </a:p>
          <a:p>
            <a:pPr>
              <a:lnSpc>
                <a:spcPct val="115000"/>
              </a:lnSpc>
              <a:defRPr sz="1000">
                <a:solidFill>
                  <a:srgbClr val="1F2937"/>
                </a:solidFill>
                <a:latin typeface="Arial"/>
              </a:defRPr>
            </a:pPr>
            <a:r>
              <a:t>Models non-linear aerosol diameter swelling f(RH, γ) = 1 + a·(RH/100)^b / (1 - RH/100)^c across multi-gamma exponents (γ = 0.10, 0.15, 0.20, 0.25). Directly corrects optical volume overestimation.</a:t>
            </a:r>
          </a:p>
        </p:txBody>
      </p:sp>
      <p:sp>
        <p:nvSpPr>
          <p:cNvPr id="7" name="Rounded Rectangle 6"/>
          <p:cNvSpPr/>
          <p:nvPr/>
        </p:nvSpPr>
        <p:spPr>
          <a:xfrm>
            <a:off x="6172200" y="1325880"/>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463039"/>
            <a:ext cx="4922215" cy="2011680"/>
          </a:xfrm>
          <a:prstGeom prst="rect">
            <a:avLst/>
          </a:prstGeom>
          <a:noFill/>
        </p:spPr>
        <p:txBody>
          <a:bodyPr wrap="square">
            <a:spAutoFit/>
          </a:bodyPr>
          <a:lstStyle/>
          <a:p>
            <a:pPr>
              <a:spcAft>
                <a:spcPts val="600"/>
              </a:spcAft>
              <a:defRPr sz="1200" b="1">
                <a:solidFill>
                  <a:srgbClr val="002147"/>
                </a:solidFill>
                <a:latin typeface="Arial"/>
              </a:defRPr>
            </a:pPr>
            <a:r>
              <a:t>2. Thermodynamic Moisture Formulations (18 Features)</a:t>
            </a:r>
          </a:p>
          <a:p>
            <a:pPr>
              <a:lnSpc>
                <a:spcPct val="115000"/>
              </a:lnSpc>
              <a:defRPr sz="1000">
                <a:solidFill>
                  <a:srgbClr val="1F2937"/>
                </a:solidFill>
                <a:latin typeface="Arial"/>
              </a:defRPr>
            </a:pPr>
            <a:r>
              <a:t>Decouples relative humidity from temperature: Absolute Humidity (AH in g/m³), Vapor Pressure Deficit (VPD in kPa), Dew Point Depression (T - T_dew), and Tetens saturation vapor pressure.</a:t>
            </a:r>
          </a:p>
        </p:txBody>
      </p:sp>
      <p:sp>
        <p:nvSpPr>
          <p:cNvPr id="9" name="Rounded Rectangle 8"/>
          <p:cNvSpPr/>
          <p:nvPr/>
        </p:nvSpPr>
        <p:spPr>
          <a:xfrm>
            <a:off x="731520" y="3749039"/>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86200"/>
            <a:ext cx="4922215" cy="2011680"/>
          </a:xfrm>
          <a:prstGeom prst="rect">
            <a:avLst/>
          </a:prstGeom>
          <a:noFill/>
        </p:spPr>
        <p:txBody>
          <a:bodyPr wrap="square">
            <a:spAutoFit/>
          </a:bodyPr>
          <a:lstStyle/>
          <a:p>
            <a:pPr>
              <a:spcAft>
                <a:spcPts val="600"/>
              </a:spcAft>
              <a:defRPr sz="1200" b="1">
                <a:solidFill>
                  <a:srgbClr val="002147"/>
                </a:solidFill>
                <a:latin typeface="Arial"/>
              </a:defRPr>
            </a:pPr>
            <a:r>
              <a:t>3. Multi-Window Temporal EWMA Dynamics (24 Features)</a:t>
            </a:r>
          </a:p>
          <a:p>
            <a:pPr>
              <a:lnSpc>
                <a:spcPct val="115000"/>
              </a:lnSpc>
              <a:defRPr sz="1000">
                <a:solidFill>
                  <a:srgbClr val="1F2937"/>
                </a:solidFill>
                <a:latin typeface="Arial"/>
              </a:defRPr>
            </a:pPr>
            <a:r>
              <a:t>Exponentially Weighted Moving Averages (EWMA) and rolling standard deviations across 1h, 3h, 6h, 12h, and 24h windows. Captures regional particulate accumulation and dampens high-frequency sensor noise.</a:t>
            </a:r>
          </a:p>
        </p:txBody>
      </p:sp>
      <p:sp>
        <p:nvSpPr>
          <p:cNvPr id="11" name="Rounded Rectangle 10"/>
          <p:cNvSpPr/>
          <p:nvPr/>
        </p:nvSpPr>
        <p:spPr>
          <a:xfrm>
            <a:off x="6172200" y="3749039"/>
            <a:ext cx="5287975" cy="228600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886200"/>
            <a:ext cx="4922215" cy="2011680"/>
          </a:xfrm>
          <a:prstGeom prst="rect">
            <a:avLst/>
          </a:prstGeom>
          <a:noFill/>
        </p:spPr>
        <p:txBody>
          <a:bodyPr wrap="square">
            <a:spAutoFit/>
          </a:bodyPr>
          <a:lstStyle/>
          <a:p>
            <a:pPr>
              <a:spcAft>
                <a:spcPts val="600"/>
              </a:spcAft>
              <a:defRPr sz="1200" b="1">
                <a:solidFill>
                  <a:srgbClr val="002147"/>
                </a:solidFill>
                <a:latin typeface="Arial"/>
              </a:defRPr>
            </a:pPr>
            <a:r>
              <a:t>4. Seasonal Harmattan &amp; Temporal Harmonics (18 Features)</a:t>
            </a:r>
          </a:p>
          <a:p>
            <a:pPr>
              <a:lnSpc>
                <a:spcPct val="115000"/>
              </a:lnSpc>
              <a:defRPr sz="1000">
                <a:solidFill>
                  <a:srgbClr val="1F2937"/>
                </a:solidFill>
                <a:latin typeface="Arial"/>
              </a:defRPr>
            </a:pPr>
            <a:r>
              <a:t>Harmattan mineral dust ratio (PM10/PM2.5), co-pollutant cross-sensitivities (CO, NO, NO2, O3), and circular diurnal/annual harmonics [sin(2πt/T), cos(2πt/T)] to encode boundary layer height shifts.</a:t>
            </a:r>
          </a:p>
        </p:txBody>
      </p:sp>
      <p:sp>
        <p:nvSpPr>
          <p:cNvPr id="13" name="Rectangle 12"/>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5" name="TextBox 14"/>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6" name="TextBox 15"/>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9 of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03 | METHODOLOGY</a:t>
            </a:r>
          </a:p>
          <a:p>
            <a:pPr>
              <a:defRPr sz="1900" b="1">
                <a:solidFill>
                  <a:srgbClr val="FFFFFF"/>
                </a:solidFill>
                <a:latin typeface="Arial"/>
              </a:defRPr>
            </a:pPr>
            <a:r>
              <a:t>SPIME v4: Hierarchical Stacking Meta-Ensemble Architecture</a:t>
            </a:r>
          </a:p>
        </p:txBody>
      </p:sp>
      <p:sp>
        <p:nvSpPr>
          <p:cNvPr id="5" name="Rounded Rectangle 4"/>
          <p:cNvSpPr/>
          <p:nvPr/>
        </p:nvSpPr>
        <p:spPr>
          <a:xfrm>
            <a:off x="731520" y="1325880"/>
            <a:ext cx="1072865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3_6_spime_architecture.png"/>
          <p:cNvPicPr>
            <a:picLocks noChangeAspect="1"/>
          </p:cNvPicPr>
          <p:nvPr/>
        </p:nvPicPr>
        <p:blipFill>
          <a:blip r:embed="rId2"/>
          <a:stretch>
            <a:fillRect/>
          </a:stretch>
        </p:blipFill>
        <p:spPr>
          <a:xfrm>
            <a:off x="914400" y="1463040"/>
            <a:ext cx="10362895" cy="5757164"/>
          </a:xfrm>
          <a:prstGeom prst="rect">
            <a:avLst/>
          </a:prstGeom>
        </p:spPr>
      </p:pic>
      <p:sp>
        <p:nvSpPr>
          <p:cNvPr id="7" name="TextBox 6"/>
          <p:cNvSpPr txBox="1"/>
          <p:nvPr/>
        </p:nvSpPr>
        <p:spPr>
          <a:xfrm>
            <a:off x="914400" y="5623560"/>
            <a:ext cx="10362895" cy="411480"/>
          </a:xfrm>
          <a:prstGeom prst="rect">
            <a:avLst/>
          </a:prstGeom>
          <a:noFill/>
        </p:spPr>
        <p:txBody>
          <a:bodyPr wrap="none">
            <a:spAutoFit/>
          </a:bodyPr>
          <a:lstStyle/>
          <a:p>
            <a:pPr algn="ctr">
              <a:defRPr sz="950" i="1">
                <a:solidFill>
                  <a:srgbClr val="6B7280"/>
                </a:solidFill>
              </a:defRPr>
            </a:pPr>
            <a:r>
              <a:t>Figure 3.3: SPIME v4 Two-Level Hierarchical Stacking Architecture with L2 Meta-Regressor</a:t>
            </a:r>
          </a:p>
        </p:txBody>
      </p:sp>
      <p:sp>
        <p:nvSpPr>
          <p:cNvPr id="8" name="Rectangle 7"/>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0" name="TextBox 9"/>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1" name="TextBox 10"/>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10 of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03 | METHODOLOGY</a:t>
            </a:r>
          </a:p>
          <a:p>
            <a:pPr>
              <a:defRPr sz="1900" b="1">
                <a:solidFill>
                  <a:srgbClr val="FFFFFF"/>
                </a:solidFill>
                <a:latin typeface="Arial"/>
              </a:defRPr>
            </a:pPr>
            <a:r>
              <a:t>Validation Scheme: Preventing Temporal Data Leakage</a:t>
            </a:r>
          </a:p>
        </p:txBody>
      </p:sp>
      <p:sp>
        <p:nvSpPr>
          <p:cNvPr id="5" name="Rounded Rectangle 4"/>
          <p:cNvSpPr/>
          <p:nvPr/>
        </p:nvSpPr>
        <p:spPr>
          <a:xfrm>
            <a:off x="731520" y="1325880"/>
            <a:ext cx="521208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Strict Out-of-Sample Protocol</a:t>
            </a:r>
          </a:p>
          <a:p>
            <a:pPr>
              <a:lnSpc>
                <a:spcPct val="115000"/>
              </a:lnSpc>
              <a:spcAft>
                <a:spcPts val="800"/>
              </a:spcAft>
            </a:pPr>
            <a:r>
              <a:rPr b="1" sz="1150">
                <a:solidFill>
                  <a:srgbClr val="002147"/>
                </a:solidFill>
                <a:latin typeface="Arial"/>
              </a:rPr>
              <a:t>Chronological Train-Holdout Split: </a:t>
            </a:r>
            <a:r>
              <a:rPr b="0" sz="1150">
                <a:solidFill>
                  <a:srgbClr val="1F2937"/>
                </a:solidFill>
                <a:latin typeface="Arial"/>
              </a:rPr>
              <a:t>The dataset was partitioned temporally. The final 6 consecutive months (3,468 hourly records) were set aside as a true untouched holdout test set.</a:t>
            </a:r>
          </a:p>
          <a:p>
            <a:pPr>
              <a:lnSpc>
                <a:spcPct val="115000"/>
              </a:lnSpc>
              <a:spcAft>
                <a:spcPts val="800"/>
              </a:spcAft>
            </a:pPr>
            <a:r>
              <a:rPr b="1" sz="1150">
                <a:solidFill>
                  <a:srgbClr val="002147"/>
                </a:solidFill>
                <a:latin typeface="Arial"/>
              </a:rPr>
              <a:t>Anti-Leakage Guarantee: </a:t>
            </a:r>
            <a:r>
              <a:rPr b="0" sz="1150">
                <a:solidFill>
                  <a:srgbClr val="1F2937"/>
                </a:solidFill>
                <a:latin typeface="Arial"/>
              </a:rPr>
              <a:t>Random k-fold splitting causes severe autocorrelation leakage in time-series data. Our chronological holdout ensures zero look-ahead bias.</a:t>
            </a:r>
          </a:p>
          <a:p>
            <a:pPr>
              <a:lnSpc>
                <a:spcPct val="115000"/>
              </a:lnSpc>
              <a:spcAft>
                <a:spcPts val="800"/>
              </a:spcAft>
            </a:pPr>
            <a:r>
              <a:rPr b="1" sz="1150">
                <a:solidFill>
                  <a:srgbClr val="002147"/>
                </a:solidFill>
                <a:latin typeface="Arial"/>
              </a:rPr>
              <a:t>5-Fold Out-of-Fold Stacking: </a:t>
            </a:r>
            <a:r>
              <a:rPr b="0" sz="1150">
                <a:solidFill>
                  <a:srgbClr val="1F2937"/>
                </a:solidFill>
                <a:latin typeface="Arial"/>
              </a:rPr>
              <a:t>Level 0 base model predictions are generated purely on out-of-fold validation splits so the meta-learner never sees in-sample training data.</a:t>
            </a:r>
          </a:p>
          <a:p>
            <a:pPr>
              <a:lnSpc>
                <a:spcPct val="115000"/>
              </a:lnSpc>
              <a:spcAft>
                <a:spcPts val="800"/>
              </a:spcAft>
            </a:pPr>
            <a:r>
              <a:rPr b="1" sz="1150">
                <a:solidFill>
                  <a:srgbClr val="002147"/>
                </a:solidFill>
                <a:latin typeface="Arial"/>
              </a:rPr>
              <a:t>Evaluation Metrics: </a:t>
            </a:r>
            <a:r>
              <a:rPr b="0" sz="1150">
                <a:solidFill>
                  <a:srgbClr val="1F2937"/>
                </a:solidFill>
                <a:latin typeface="Arial"/>
              </a:rPr>
              <a:t>Evaluated against Coefficient of Determination (R²), Mean Absolute Error (MAE), Root Mean Squared Error (RMSE), Mean Absolute Percentage Error (MAPE), and Generalization Overfit Gap.</a:t>
            </a:r>
          </a:p>
        </p:txBody>
      </p:sp>
      <p:sp>
        <p:nvSpPr>
          <p:cNvPr id="7" name="Rounded Rectangle 6"/>
          <p:cNvSpPr/>
          <p:nvPr/>
        </p:nvSpPr>
        <p:spPr>
          <a:xfrm>
            <a:off x="6172200" y="1325880"/>
            <a:ext cx="528797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3_7_validation_scheme.png"/>
          <p:cNvPicPr>
            <a:picLocks noChangeAspect="1"/>
          </p:cNvPicPr>
          <p:nvPr/>
        </p:nvPicPr>
        <p:blipFill>
          <a:blip r:embed="rId2"/>
          <a:stretch>
            <a:fillRect/>
          </a:stretch>
        </p:blipFill>
        <p:spPr>
          <a:xfrm>
            <a:off x="6355080" y="1508760"/>
            <a:ext cx="4922215" cy="2100145"/>
          </a:xfrm>
          <a:prstGeom prst="rect">
            <a:avLst/>
          </a:prstGeom>
        </p:spPr>
      </p:pic>
      <p:sp>
        <p:nvSpPr>
          <p:cNvPr id="9" name="TextBox 8"/>
          <p:cNvSpPr txBox="1"/>
          <p:nvPr/>
        </p:nvSpPr>
        <p:spPr>
          <a:xfrm>
            <a:off x="6355080" y="5623560"/>
            <a:ext cx="4922215" cy="411480"/>
          </a:xfrm>
          <a:prstGeom prst="rect">
            <a:avLst/>
          </a:prstGeom>
          <a:noFill/>
        </p:spPr>
        <p:txBody>
          <a:bodyPr wrap="none">
            <a:spAutoFit/>
          </a:bodyPr>
          <a:lstStyle/>
          <a:p>
            <a:pPr algn="ctr">
              <a:defRPr sz="900" i="1">
                <a:solidFill>
                  <a:srgbClr val="6B7280"/>
                </a:solidFill>
              </a:defRPr>
            </a:pPr>
            <a:r>
              <a:t>Figure 3.4: Chronological Data Split &amp; 5-Fold Out-of-Fold Stacking Protocol</a:t>
            </a:r>
          </a:p>
        </p:txBody>
      </p:sp>
      <p:sp>
        <p:nvSpPr>
          <p:cNvPr id="10" name="Rectangle 9"/>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2" name="TextBox 11"/>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3" name="TextBox 12"/>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11 of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04 | RESULTS</a:t>
            </a:r>
          </a:p>
          <a:p>
            <a:pPr>
              <a:defRPr sz="1900" b="1">
                <a:solidFill>
                  <a:srgbClr val="FFFFFF"/>
                </a:solidFill>
                <a:latin typeface="Arial"/>
              </a:defRPr>
            </a:pPr>
            <a:r>
              <a:t>Empirical Results on Unseen 6-Month Holdout Dataset</a:t>
            </a:r>
          </a:p>
        </p:txBody>
      </p:sp>
      <p:sp>
        <p:nvSpPr>
          <p:cNvPr id="5" name="Rounded Rectangle 4"/>
          <p:cNvSpPr/>
          <p:nvPr/>
        </p:nvSpPr>
        <p:spPr>
          <a:xfrm>
            <a:off x="731520" y="1325880"/>
            <a:ext cx="1072865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463040"/>
            <a:ext cx="2468880" cy="914400"/>
          </a:xfrm>
          <a:prstGeom prst="roundRect">
            <a:avLst/>
          </a:prstGeom>
          <a:solidFill>
            <a:srgbClr val="FFFFFF"/>
          </a:solidFill>
          <a:ln w="12700">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17904"/>
            <a:ext cx="2468880" cy="804672"/>
          </a:xfrm>
          <a:prstGeom prst="rect">
            <a:avLst/>
          </a:prstGeom>
          <a:noFill/>
        </p:spPr>
        <p:txBody>
          <a:bodyPr wrap="square" lIns="0" rIns="0" tIns="0" bIns="0">
            <a:spAutoFit/>
          </a:bodyPr>
          <a:lstStyle/>
          <a:p>
            <a:pPr algn="ctr">
              <a:defRPr sz="1700" b="1">
                <a:solidFill>
                  <a:srgbClr val="002147"/>
                </a:solidFill>
                <a:latin typeface="Arial"/>
              </a:defRPr>
            </a:pPr>
            <a:r>
              <a:t>R² = 0.9632</a:t>
            </a:r>
          </a:p>
          <a:p>
            <a:pPr algn="ctr">
              <a:defRPr sz="850" b="1">
                <a:solidFill>
                  <a:srgbClr val="6B7280"/>
                </a:solidFill>
                <a:latin typeface="Arial"/>
              </a:defRPr>
            </a:pPr>
            <a:r>
              <a:t>HOLDOUT ACCURACY</a:t>
            </a:r>
          </a:p>
          <a:p>
            <a:pPr algn="ctr">
              <a:defRPr sz="750">
                <a:solidFill>
                  <a:srgbClr val="B48214"/>
                </a:solidFill>
                <a:latin typeface="Arial"/>
              </a:defRPr>
            </a:pPr>
            <a:r>
              <a:t>6-Month Unseen Holdout</a:t>
            </a:r>
          </a:p>
        </p:txBody>
      </p:sp>
      <p:sp>
        <p:nvSpPr>
          <p:cNvPr id="8" name="Rounded Rectangle 7"/>
          <p:cNvSpPr/>
          <p:nvPr/>
        </p:nvSpPr>
        <p:spPr>
          <a:xfrm>
            <a:off x="3611880" y="1463040"/>
            <a:ext cx="2468880" cy="914400"/>
          </a:xfrm>
          <a:prstGeom prst="roundRect">
            <a:avLst/>
          </a:prstGeom>
          <a:solidFill>
            <a:srgbClr val="FFFFFF"/>
          </a:solidFill>
          <a:ln w="12700">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517904"/>
            <a:ext cx="2468880" cy="804672"/>
          </a:xfrm>
          <a:prstGeom prst="rect">
            <a:avLst/>
          </a:prstGeom>
          <a:noFill/>
        </p:spPr>
        <p:txBody>
          <a:bodyPr wrap="square" lIns="0" rIns="0" tIns="0" bIns="0">
            <a:spAutoFit/>
          </a:bodyPr>
          <a:lstStyle/>
          <a:p>
            <a:pPr algn="ctr">
              <a:defRPr sz="1700" b="1">
                <a:solidFill>
                  <a:srgbClr val="002147"/>
                </a:solidFill>
                <a:latin typeface="Arial"/>
              </a:defRPr>
            </a:pPr>
            <a:r>
              <a:t>MAE = 0.61 µg/m³</a:t>
            </a:r>
          </a:p>
          <a:p>
            <a:pPr algn="ctr">
              <a:defRPr sz="850" b="1">
                <a:solidFill>
                  <a:srgbClr val="6B7280"/>
                </a:solidFill>
                <a:latin typeface="Arial"/>
              </a:defRPr>
            </a:pPr>
            <a:r>
              <a:t>MEAN ABSOLUTE ERROR</a:t>
            </a:r>
          </a:p>
          <a:p>
            <a:pPr algn="ctr">
              <a:defRPr sz="750">
                <a:solidFill>
                  <a:srgbClr val="B48214"/>
                </a:solidFill>
                <a:latin typeface="Arial"/>
              </a:defRPr>
            </a:pPr>
            <a:r>
              <a:t>66.3% Error Reduction</a:t>
            </a:r>
          </a:p>
        </p:txBody>
      </p:sp>
      <p:sp>
        <p:nvSpPr>
          <p:cNvPr id="10" name="Rounded Rectangle 9"/>
          <p:cNvSpPr/>
          <p:nvPr/>
        </p:nvSpPr>
        <p:spPr>
          <a:xfrm>
            <a:off x="6217920" y="1463040"/>
            <a:ext cx="2468880" cy="914400"/>
          </a:xfrm>
          <a:prstGeom prst="roundRect">
            <a:avLst/>
          </a:prstGeom>
          <a:solidFill>
            <a:srgbClr val="FFFFFF"/>
          </a:solidFill>
          <a:ln w="12700">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517904"/>
            <a:ext cx="2468880" cy="804672"/>
          </a:xfrm>
          <a:prstGeom prst="rect">
            <a:avLst/>
          </a:prstGeom>
          <a:noFill/>
        </p:spPr>
        <p:txBody>
          <a:bodyPr wrap="square" lIns="0" rIns="0" tIns="0" bIns="0">
            <a:spAutoFit/>
          </a:bodyPr>
          <a:lstStyle/>
          <a:p>
            <a:pPr algn="ctr">
              <a:defRPr sz="1700" b="1">
                <a:solidFill>
                  <a:srgbClr val="002147"/>
                </a:solidFill>
                <a:latin typeface="Arial"/>
              </a:defRPr>
            </a:pPr>
            <a:r>
              <a:t>RMSE = 1.23 µg/m³</a:t>
            </a:r>
          </a:p>
          <a:p>
            <a:pPr algn="ctr">
              <a:defRPr sz="850" b="1">
                <a:solidFill>
                  <a:srgbClr val="6B7280"/>
                </a:solidFill>
                <a:latin typeface="Arial"/>
              </a:defRPr>
            </a:pPr>
            <a:r>
              <a:t>ROOT MEAN SQ ERROR</a:t>
            </a:r>
          </a:p>
          <a:p>
            <a:pPr algn="ctr">
              <a:defRPr sz="750">
                <a:solidFill>
                  <a:srgbClr val="B48214"/>
                </a:solidFill>
                <a:latin typeface="Arial"/>
              </a:defRPr>
            </a:pPr>
            <a:r>
              <a:t>Reference-Grade Precision</a:t>
            </a:r>
          </a:p>
        </p:txBody>
      </p:sp>
      <p:sp>
        <p:nvSpPr>
          <p:cNvPr id="12" name="Rounded Rectangle 11"/>
          <p:cNvSpPr/>
          <p:nvPr/>
        </p:nvSpPr>
        <p:spPr>
          <a:xfrm>
            <a:off x="8823960" y="1463040"/>
            <a:ext cx="2423160" cy="914400"/>
          </a:xfrm>
          <a:prstGeom prst="roundRect">
            <a:avLst/>
          </a:prstGeom>
          <a:solidFill>
            <a:srgbClr val="FFFFFF"/>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1517904"/>
            <a:ext cx="2423160" cy="804672"/>
          </a:xfrm>
          <a:prstGeom prst="rect">
            <a:avLst/>
          </a:prstGeom>
          <a:noFill/>
        </p:spPr>
        <p:txBody>
          <a:bodyPr wrap="square" lIns="0" rIns="0" tIns="0" bIns="0">
            <a:spAutoFit/>
          </a:bodyPr>
          <a:lstStyle/>
          <a:p>
            <a:pPr algn="ctr">
              <a:defRPr sz="1700" b="1">
                <a:solidFill>
                  <a:srgbClr val="002147"/>
                </a:solidFill>
                <a:latin typeface="Arial"/>
              </a:defRPr>
            </a:pPr>
            <a:r>
              <a:t>Gap = -0.0002</a:t>
            </a:r>
          </a:p>
          <a:p>
            <a:pPr algn="ctr">
              <a:defRPr sz="850" b="1">
                <a:solidFill>
                  <a:srgbClr val="6B7280"/>
                </a:solidFill>
                <a:latin typeface="Arial"/>
              </a:defRPr>
            </a:pPr>
            <a:r>
              <a:t>OVERFITTING GAP</a:t>
            </a:r>
          </a:p>
          <a:p>
            <a:pPr algn="ctr">
              <a:defRPr sz="750">
                <a:solidFill>
                  <a:srgbClr val="B48214"/>
                </a:solidFill>
                <a:latin typeface="Arial"/>
              </a:defRPr>
            </a:pPr>
            <a:r>
              <a:t>Zero Generalization Loss</a:t>
            </a:r>
          </a:p>
        </p:txBody>
      </p:sp>
      <p:graphicFrame>
        <p:nvGraphicFramePr>
          <p:cNvPr id="14" name="Table 13"/>
          <p:cNvGraphicFramePr>
            <a:graphicFrameLocks noGrp="1"/>
          </p:cNvGraphicFramePr>
          <p:nvPr/>
        </p:nvGraphicFramePr>
        <p:xfrm>
          <a:off x="1005840" y="2560320"/>
          <a:ext cx="10241280" cy="3291840"/>
        </p:xfrm>
        <a:graphic>
          <a:graphicData uri="http://schemas.openxmlformats.org/drawingml/2006/table">
            <a:tbl>
              <a:tblPr firstRow="1" bandRow="1">
                <a:tableStyleId>{5C22544A-7EE6-4342-B048-85BDC9FD1C3A}</a:tableStyleId>
              </a:tblPr>
              <a:tblGrid>
                <a:gridCol w="2651760"/>
                <a:gridCol w="1463040"/>
                <a:gridCol w="1463040"/>
                <a:gridCol w="1463040"/>
                <a:gridCol w="1554480"/>
                <a:gridCol w="1645920"/>
              </a:tblGrid>
              <a:tr h="548640">
                <a:tc>
                  <a:txBody>
                    <a:bodyPr/>
                    <a:lstStyle/>
                    <a:p>
                      <a:pPr algn="ctr">
                        <a:defRPr sz="1000" b="1">
                          <a:solidFill>
                            <a:srgbClr val="FFFFFF"/>
                          </a:solidFill>
                          <a:latin typeface="Arial"/>
                        </a:defRPr>
                      </a:pPr>
                      <a:r>
                        <a:t>Model / Calibration Framework</a:t>
                      </a:r>
                    </a:p>
                  </a:txBody>
                  <a:tcPr>
                    <a:solidFill>
                      <a:srgbClr val="002147"/>
                    </a:solidFill>
                  </a:tcPr>
                </a:tc>
                <a:tc>
                  <a:txBody>
                    <a:bodyPr/>
                    <a:lstStyle/>
                    <a:p>
                      <a:pPr algn="ctr">
                        <a:defRPr sz="1000" b="1">
                          <a:solidFill>
                            <a:srgbClr val="FFFFFF"/>
                          </a:solidFill>
                          <a:latin typeface="Arial"/>
                        </a:defRPr>
                      </a:pPr>
                      <a:r>
                        <a:t>Holdout R²</a:t>
                      </a:r>
                    </a:p>
                  </a:txBody>
                  <a:tcPr>
                    <a:solidFill>
                      <a:srgbClr val="002147"/>
                    </a:solidFill>
                  </a:tcPr>
                </a:tc>
                <a:tc>
                  <a:txBody>
                    <a:bodyPr/>
                    <a:lstStyle/>
                    <a:p>
                      <a:pPr algn="ctr">
                        <a:defRPr sz="1000" b="1">
                          <a:solidFill>
                            <a:srgbClr val="FFFFFF"/>
                          </a:solidFill>
                          <a:latin typeface="Arial"/>
                        </a:defRPr>
                      </a:pPr>
                      <a:r>
                        <a:t>MAE (µg/m³)</a:t>
                      </a:r>
                    </a:p>
                  </a:txBody>
                  <a:tcPr>
                    <a:solidFill>
                      <a:srgbClr val="002147"/>
                    </a:solidFill>
                  </a:tcPr>
                </a:tc>
                <a:tc>
                  <a:txBody>
                    <a:bodyPr/>
                    <a:lstStyle/>
                    <a:p>
                      <a:pPr algn="ctr">
                        <a:defRPr sz="1000" b="1">
                          <a:solidFill>
                            <a:srgbClr val="FFFFFF"/>
                          </a:solidFill>
                          <a:latin typeface="Arial"/>
                        </a:defRPr>
                      </a:pPr>
                      <a:r>
                        <a:t>RMSE (µg/m³)</a:t>
                      </a:r>
                    </a:p>
                  </a:txBody>
                  <a:tcPr>
                    <a:solidFill>
                      <a:srgbClr val="002147"/>
                    </a:solidFill>
                  </a:tcPr>
                </a:tc>
                <a:tc>
                  <a:txBody>
                    <a:bodyPr/>
                    <a:lstStyle/>
                    <a:p>
                      <a:pPr algn="ctr">
                        <a:defRPr sz="1000" b="1">
                          <a:solidFill>
                            <a:srgbClr val="FFFFFF"/>
                          </a:solidFill>
                          <a:latin typeface="Arial"/>
                        </a:defRPr>
                      </a:pPr>
                      <a:r>
                        <a:t>MAPE (%)</a:t>
                      </a:r>
                    </a:p>
                  </a:txBody>
                  <a:tcPr>
                    <a:solidFill>
                      <a:srgbClr val="002147"/>
                    </a:solidFill>
                  </a:tcPr>
                </a:tc>
                <a:tc>
                  <a:txBody>
                    <a:bodyPr/>
                    <a:lstStyle/>
                    <a:p>
                      <a:pPr algn="ctr">
                        <a:defRPr sz="1000" b="1">
                          <a:solidFill>
                            <a:srgbClr val="FFFFFF"/>
                          </a:solidFill>
                          <a:latin typeface="Arial"/>
                        </a:defRPr>
                      </a:pPr>
                      <a:r>
                        <a:t>Overfit Gap (ΔR²)</a:t>
                      </a:r>
                    </a:p>
                  </a:txBody>
                  <a:tcPr>
                    <a:solidFill>
                      <a:srgbClr val="002147"/>
                    </a:solidFill>
                  </a:tcPr>
                </a:tc>
              </a:tr>
              <a:tr h="548640">
                <a:tc>
                  <a:txBody>
                    <a:bodyPr/>
                    <a:lstStyle/>
                    <a:p>
                      <a:pPr>
                        <a:defRPr sz="950">
                          <a:solidFill>
                            <a:srgbClr val="991B1B"/>
                          </a:solidFill>
                          <a:latin typeface="Arial"/>
                        </a:defRPr>
                      </a:pPr>
                      <a:r>
                        <a:t>Raw Factory Sensor (Modulair-PM)</a:t>
                      </a:r>
                    </a:p>
                  </a:txBody>
                  <a:tcPr>
                    <a:solidFill>
                      <a:srgbClr val="F8FAFC"/>
                    </a:solidFill>
                  </a:tcPr>
                </a:tc>
                <a:tc>
                  <a:txBody>
                    <a:bodyPr/>
                    <a:lstStyle/>
                    <a:p>
                      <a:pPr algn="ctr">
                        <a:defRPr sz="950">
                          <a:solidFill>
                            <a:srgbClr val="991B1B"/>
                          </a:solidFill>
                          <a:latin typeface="Arial"/>
                        </a:defRPr>
                      </a:pPr>
                      <a:r>
                        <a:t>-0.0133</a:t>
                      </a:r>
                    </a:p>
                  </a:txBody>
                  <a:tcPr>
                    <a:solidFill>
                      <a:srgbClr val="F8FAFC"/>
                    </a:solidFill>
                  </a:tcPr>
                </a:tc>
                <a:tc>
                  <a:txBody>
                    <a:bodyPr/>
                    <a:lstStyle/>
                    <a:p>
                      <a:pPr algn="ctr">
                        <a:defRPr sz="950">
                          <a:solidFill>
                            <a:srgbClr val="991B1B"/>
                          </a:solidFill>
                          <a:latin typeface="Arial"/>
                        </a:defRPr>
                      </a:pPr>
                      <a:r>
                        <a:t>5.30</a:t>
                      </a:r>
                    </a:p>
                  </a:txBody>
                  <a:tcPr>
                    <a:solidFill>
                      <a:srgbClr val="F8FAFC"/>
                    </a:solidFill>
                  </a:tcPr>
                </a:tc>
                <a:tc>
                  <a:txBody>
                    <a:bodyPr/>
                    <a:lstStyle/>
                    <a:p>
                      <a:pPr algn="ctr">
                        <a:defRPr sz="950">
                          <a:solidFill>
                            <a:srgbClr val="991B1B"/>
                          </a:solidFill>
                          <a:latin typeface="Arial"/>
                        </a:defRPr>
                      </a:pPr>
                      <a:r>
                        <a:t>7.14</a:t>
                      </a:r>
                    </a:p>
                  </a:txBody>
                  <a:tcPr>
                    <a:solidFill>
                      <a:srgbClr val="F8FAFC"/>
                    </a:solidFill>
                  </a:tcPr>
                </a:tc>
                <a:tc>
                  <a:txBody>
                    <a:bodyPr/>
                    <a:lstStyle/>
                    <a:p>
                      <a:pPr algn="ctr">
                        <a:defRPr sz="950">
                          <a:solidFill>
                            <a:srgbClr val="991B1B"/>
                          </a:solidFill>
                          <a:latin typeface="Arial"/>
                        </a:defRPr>
                      </a:pPr>
                      <a:r>
                        <a:t>184.2%</a:t>
                      </a:r>
                    </a:p>
                  </a:txBody>
                  <a:tcPr>
                    <a:solidFill>
                      <a:srgbClr val="F8FAFC"/>
                    </a:solidFill>
                  </a:tcPr>
                </a:tc>
                <a:tc>
                  <a:txBody>
                    <a:bodyPr/>
                    <a:lstStyle/>
                    <a:p>
                      <a:pPr algn="ctr">
                        <a:defRPr sz="950">
                          <a:solidFill>
                            <a:srgbClr val="991B1B"/>
                          </a:solidFill>
                          <a:latin typeface="Arial"/>
                        </a:defRPr>
                      </a:pPr>
                      <a:r>
                        <a:t>N/A (Failed)</a:t>
                      </a:r>
                    </a:p>
                  </a:txBody>
                  <a:tcPr>
                    <a:solidFill>
                      <a:srgbClr val="F8FAFC"/>
                    </a:solidFill>
                  </a:tcPr>
                </a:tc>
              </a:tr>
              <a:tr h="548640">
                <a:tc>
                  <a:txBody>
                    <a:bodyPr/>
                    <a:lstStyle/>
                    <a:p>
                      <a:pPr>
                        <a:defRPr sz="950">
                          <a:solidFill>
                            <a:srgbClr val="1F2937"/>
                          </a:solidFill>
                          <a:latin typeface="Arial"/>
                        </a:defRPr>
                      </a:pPr>
                      <a:r>
                        <a:t>Baseline Linear Regression</a:t>
                      </a:r>
                    </a:p>
                  </a:txBody>
                  <a:tcPr>
                    <a:solidFill>
                      <a:srgbClr val="FFFFFF"/>
                    </a:solidFill>
                  </a:tcPr>
                </a:tc>
                <a:tc>
                  <a:txBody>
                    <a:bodyPr/>
                    <a:lstStyle/>
                    <a:p>
                      <a:pPr algn="ctr">
                        <a:defRPr sz="950">
                          <a:solidFill>
                            <a:srgbClr val="1F2937"/>
                          </a:solidFill>
                          <a:latin typeface="Arial"/>
                        </a:defRPr>
                      </a:pPr>
                      <a:r>
                        <a:t>0.6760</a:t>
                      </a:r>
                    </a:p>
                  </a:txBody>
                  <a:tcPr>
                    <a:solidFill>
                      <a:srgbClr val="FFFFFF"/>
                    </a:solidFill>
                  </a:tcPr>
                </a:tc>
                <a:tc>
                  <a:txBody>
                    <a:bodyPr/>
                    <a:lstStyle/>
                    <a:p>
                      <a:pPr algn="ctr">
                        <a:defRPr sz="950">
                          <a:solidFill>
                            <a:srgbClr val="1F2937"/>
                          </a:solidFill>
                          <a:latin typeface="Arial"/>
                        </a:defRPr>
                      </a:pPr>
                      <a:r>
                        <a:t>2.68</a:t>
                      </a:r>
                    </a:p>
                  </a:txBody>
                  <a:tcPr>
                    <a:solidFill>
                      <a:srgbClr val="FFFFFF"/>
                    </a:solidFill>
                  </a:tcPr>
                </a:tc>
                <a:tc>
                  <a:txBody>
                    <a:bodyPr/>
                    <a:lstStyle/>
                    <a:p>
                      <a:pPr algn="ctr">
                        <a:defRPr sz="950">
                          <a:solidFill>
                            <a:srgbClr val="1F2937"/>
                          </a:solidFill>
                          <a:latin typeface="Arial"/>
                        </a:defRPr>
                      </a:pPr>
                      <a:r>
                        <a:t>3.63</a:t>
                      </a:r>
                    </a:p>
                  </a:txBody>
                  <a:tcPr>
                    <a:solidFill>
                      <a:srgbClr val="FFFFFF"/>
                    </a:solidFill>
                  </a:tcPr>
                </a:tc>
                <a:tc>
                  <a:txBody>
                    <a:bodyPr/>
                    <a:lstStyle/>
                    <a:p>
                      <a:pPr algn="ctr">
                        <a:defRPr sz="950">
                          <a:solidFill>
                            <a:srgbClr val="1F2937"/>
                          </a:solidFill>
                          <a:latin typeface="Arial"/>
                        </a:defRPr>
                      </a:pPr>
                      <a:r>
                        <a:t>84.5%</a:t>
                      </a:r>
                    </a:p>
                  </a:txBody>
                  <a:tcPr>
                    <a:solidFill>
                      <a:srgbClr val="FFFFFF"/>
                    </a:solidFill>
                  </a:tcPr>
                </a:tc>
                <a:tc>
                  <a:txBody>
                    <a:bodyPr/>
                    <a:lstStyle/>
                    <a:p>
                      <a:pPr algn="ctr">
                        <a:defRPr sz="950">
                          <a:solidFill>
                            <a:srgbClr val="1F2937"/>
                          </a:solidFill>
                          <a:latin typeface="Arial"/>
                        </a:defRPr>
                      </a:pPr>
                      <a:r>
                        <a:t>+0.0120</a:t>
                      </a:r>
                    </a:p>
                  </a:txBody>
                  <a:tcPr>
                    <a:solidFill>
                      <a:srgbClr val="FFFFFF"/>
                    </a:solidFill>
                  </a:tcPr>
                </a:tc>
              </a:tr>
              <a:tr h="548640">
                <a:tc>
                  <a:txBody>
                    <a:bodyPr/>
                    <a:lstStyle/>
                    <a:p>
                      <a:pPr>
                        <a:defRPr sz="950">
                          <a:solidFill>
                            <a:srgbClr val="1F2937"/>
                          </a:solidFill>
                          <a:latin typeface="Arial"/>
                        </a:defRPr>
                      </a:pPr>
                      <a:r>
                        <a:t>Multilayer Perceptron (MLP Neural Net)</a:t>
                      </a:r>
                    </a:p>
                  </a:txBody>
                  <a:tcPr>
                    <a:solidFill>
                      <a:srgbClr val="F8FAFC"/>
                    </a:solidFill>
                  </a:tcPr>
                </a:tc>
                <a:tc>
                  <a:txBody>
                    <a:bodyPr/>
                    <a:lstStyle/>
                    <a:p>
                      <a:pPr algn="ctr">
                        <a:defRPr sz="950">
                          <a:solidFill>
                            <a:srgbClr val="1F2937"/>
                          </a:solidFill>
                          <a:latin typeface="Arial"/>
                        </a:defRPr>
                      </a:pPr>
                      <a:r>
                        <a:t>0.5214</a:t>
                      </a:r>
                    </a:p>
                  </a:txBody>
                  <a:tcPr>
                    <a:solidFill>
                      <a:srgbClr val="F8FAFC"/>
                    </a:solidFill>
                  </a:tcPr>
                </a:tc>
                <a:tc>
                  <a:txBody>
                    <a:bodyPr/>
                    <a:lstStyle/>
                    <a:p>
                      <a:pPr algn="ctr">
                        <a:defRPr sz="950">
                          <a:solidFill>
                            <a:srgbClr val="1F2937"/>
                          </a:solidFill>
                          <a:latin typeface="Arial"/>
                        </a:defRPr>
                      </a:pPr>
                      <a:r>
                        <a:t>3.12</a:t>
                      </a:r>
                    </a:p>
                  </a:txBody>
                  <a:tcPr>
                    <a:solidFill>
                      <a:srgbClr val="F8FAFC"/>
                    </a:solidFill>
                  </a:tcPr>
                </a:tc>
                <a:tc>
                  <a:txBody>
                    <a:bodyPr/>
                    <a:lstStyle/>
                    <a:p>
                      <a:pPr algn="ctr">
                        <a:defRPr sz="950">
                          <a:solidFill>
                            <a:srgbClr val="1F2937"/>
                          </a:solidFill>
                          <a:latin typeface="Arial"/>
                        </a:defRPr>
                      </a:pPr>
                      <a:r>
                        <a:t>4.41</a:t>
                      </a:r>
                    </a:p>
                  </a:txBody>
                  <a:tcPr>
                    <a:solidFill>
                      <a:srgbClr val="F8FAFC"/>
                    </a:solidFill>
                  </a:tcPr>
                </a:tc>
                <a:tc>
                  <a:txBody>
                    <a:bodyPr/>
                    <a:lstStyle/>
                    <a:p>
                      <a:pPr algn="ctr">
                        <a:defRPr sz="950">
                          <a:solidFill>
                            <a:srgbClr val="1F2937"/>
                          </a:solidFill>
                          <a:latin typeface="Arial"/>
                        </a:defRPr>
                      </a:pPr>
                      <a:r>
                        <a:t>96.8%</a:t>
                      </a:r>
                    </a:p>
                  </a:txBody>
                  <a:tcPr>
                    <a:solidFill>
                      <a:srgbClr val="F8FAFC"/>
                    </a:solidFill>
                  </a:tcPr>
                </a:tc>
                <a:tc>
                  <a:txBody>
                    <a:bodyPr/>
                    <a:lstStyle/>
                    <a:p>
                      <a:pPr algn="ctr">
                        <a:defRPr sz="950">
                          <a:solidFill>
                            <a:srgbClr val="1F2937"/>
                          </a:solidFill>
                          <a:latin typeface="Arial"/>
                        </a:defRPr>
                      </a:pPr>
                      <a:r>
                        <a:t>+0.4018 (Severe)</a:t>
                      </a:r>
                    </a:p>
                  </a:txBody>
                  <a:tcPr>
                    <a:solidFill>
                      <a:srgbClr val="F8FAFC"/>
                    </a:solidFill>
                  </a:tcPr>
                </a:tc>
              </a:tr>
              <a:tr h="548640">
                <a:tc>
                  <a:txBody>
                    <a:bodyPr/>
                    <a:lstStyle/>
                    <a:p>
                      <a:pPr>
                        <a:defRPr sz="950">
                          <a:solidFill>
                            <a:srgbClr val="1F2937"/>
                          </a:solidFill>
                          <a:latin typeface="Arial"/>
                        </a:defRPr>
                      </a:pPr>
                      <a:r>
                        <a:t>Random Forest (Stand-Alone)</a:t>
                      </a:r>
                    </a:p>
                  </a:txBody>
                  <a:tcPr>
                    <a:solidFill>
                      <a:srgbClr val="FFFFFF"/>
                    </a:solidFill>
                  </a:tcPr>
                </a:tc>
                <a:tc>
                  <a:txBody>
                    <a:bodyPr/>
                    <a:lstStyle/>
                    <a:p>
                      <a:pPr algn="ctr">
                        <a:defRPr sz="950">
                          <a:solidFill>
                            <a:srgbClr val="1F2937"/>
                          </a:solidFill>
                          <a:latin typeface="Arial"/>
                        </a:defRPr>
                      </a:pPr>
                      <a:r>
                        <a:t>0.7752</a:t>
                      </a:r>
                    </a:p>
                  </a:txBody>
                  <a:tcPr>
                    <a:solidFill>
                      <a:srgbClr val="FFFFFF"/>
                    </a:solidFill>
                  </a:tcPr>
                </a:tc>
                <a:tc>
                  <a:txBody>
                    <a:bodyPr/>
                    <a:lstStyle/>
                    <a:p>
                      <a:pPr algn="ctr">
                        <a:defRPr sz="950">
                          <a:solidFill>
                            <a:srgbClr val="1F2937"/>
                          </a:solidFill>
                          <a:latin typeface="Arial"/>
                        </a:defRPr>
                      </a:pPr>
                      <a:r>
                        <a:t>2.03</a:t>
                      </a:r>
                    </a:p>
                  </a:txBody>
                  <a:tcPr>
                    <a:solidFill>
                      <a:srgbClr val="FFFFFF"/>
                    </a:solidFill>
                  </a:tcPr>
                </a:tc>
                <a:tc>
                  <a:txBody>
                    <a:bodyPr/>
                    <a:lstStyle/>
                    <a:p>
                      <a:pPr algn="ctr">
                        <a:defRPr sz="950">
                          <a:solidFill>
                            <a:srgbClr val="1F2937"/>
                          </a:solidFill>
                          <a:latin typeface="Arial"/>
                        </a:defRPr>
                      </a:pPr>
                      <a:r>
                        <a:t>3.03</a:t>
                      </a:r>
                    </a:p>
                  </a:txBody>
                  <a:tcPr>
                    <a:solidFill>
                      <a:srgbClr val="FFFFFF"/>
                    </a:solidFill>
                  </a:tcPr>
                </a:tc>
                <a:tc>
                  <a:txBody>
                    <a:bodyPr/>
                    <a:lstStyle/>
                    <a:p>
                      <a:pPr algn="ctr">
                        <a:defRPr sz="950">
                          <a:solidFill>
                            <a:srgbClr val="1F2937"/>
                          </a:solidFill>
                          <a:latin typeface="Arial"/>
                        </a:defRPr>
                      </a:pPr>
                      <a:r>
                        <a:t>68.4%</a:t>
                      </a:r>
                    </a:p>
                  </a:txBody>
                  <a:tcPr>
                    <a:solidFill>
                      <a:srgbClr val="FFFFFF"/>
                    </a:solidFill>
                  </a:tcPr>
                </a:tc>
                <a:tc>
                  <a:txBody>
                    <a:bodyPr/>
                    <a:lstStyle/>
                    <a:p>
                      <a:pPr algn="ctr">
                        <a:defRPr sz="950">
                          <a:solidFill>
                            <a:srgbClr val="1F2937"/>
                          </a:solidFill>
                          <a:latin typeface="Arial"/>
                        </a:defRPr>
                      </a:pPr>
                      <a:r>
                        <a:t>+0.1420 (Moderate)</a:t>
                      </a:r>
                    </a:p>
                  </a:txBody>
                  <a:tcPr>
                    <a:solidFill>
                      <a:srgbClr val="FFFFFF"/>
                    </a:solidFill>
                  </a:tcPr>
                </a:tc>
              </a:tr>
              <a:tr h="548640">
                <a:tc>
                  <a:txBody>
                    <a:bodyPr/>
                    <a:lstStyle/>
                    <a:p>
                      <a:pPr>
                        <a:defRPr sz="950" b="1">
                          <a:solidFill>
                            <a:srgbClr val="002147"/>
                          </a:solidFill>
                          <a:latin typeface="Arial"/>
                        </a:defRPr>
                      </a:pPr>
                      <a:r>
                        <a:t>SPIME v4 (Proposed Meta-Ensemble)</a:t>
                      </a:r>
                    </a:p>
                  </a:txBody>
                  <a:tcPr>
                    <a:solidFill>
                      <a:srgbClr val="FEF9C3"/>
                    </a:solidFill>
                  </a:tcPr>
                </a:tc>
                <a:tc>
                  <a:txBody>
                    <a:bodyPr/>
                    <a:lstStyle/>
                    <a:p>
                      <a:pPr algn="ctr">
                        <a:defRPr sz="950" b="1">
                          <a:solidFill>
                            <a:srgbClr val="002147"/>
                          </a:solidFill>
                          <a:latin typeface="Arial"/>
                        </a:defRPr>
                      </a:pPr>
                      <a:r>
                        <a:t>0.9632</a:t>
                      </a:r>
                    </a:p>
                  </a:txBody>
                  <a:tcPr>
                    <a:solidFill>
                      <a:srgbClr val="FEF9C3"/>
                    </a:solidFill>
                  </a:tcPr>
                </a:tc>
                <a:tc>
                  <a:txBody>
                    <a:bodyPr/>
                    <a:lstStyle/>
                    <a:p>
                      <a:pPr algn="ctr">
                        <a:defRPr sz="950" b="1">
                          <a:solidFill>
                            <a:srgbClr val="002147"/>
                          </a:solidFill>
                          <a:latin typeface="Arial"/>
                        </a:defRPr>
                      </a:pPr>
                      <a:r>
                        <a:t>0.61</a:t>
                      </a:r>
                    </a:p>
                  </a:txBody>
                  <a:tcPr>
                    <a:solidFill>
                      <a:srgbClr val="FEF9C3"/>
                    </a:solidFill>
                  </a:tcPr>
                </a:tc>
                <a:tc>
                  <a:txBody>
                    <a:bodyPr/>
                    <a:lstStyle/>
                    <a:p>
                      <a:pPr algn="ctr">
                        <a:defRPr sz="950" b="1">
                          <a:solidFill>
                            <a:srgbClr val="002147"/>
                          </a:solidFill>
                          <a:latin typeface="Arial"/>
                        </a:defRPr>
                      </a:pPr>
                      <a:r>
                        <a:t>1.23</a:t>
                      </a:r>
                    </a:p>
                  </a:txBody>
                  <a:tcPr>
                    <a:solidFill>
                      <a:srgbClr val="FEF9C3"/>
                    </a:solidFill>
                  </a:tcPr>
                </a:tc>
                <a:tc>
                  <a:txBody>
                    <a:bodyPr/>
                    <a:lstStyle/>
                    <a:p>
                      <a:pPr algn="ctr">
                        <a:defRPr sz="950" b="1">
                          <a:solidFill>
                            <a:srgbClr val="002147"/>
                          </a:solidFill>
                          <a:latin typeface="Arial"/>
                        </a:defRPr>
                      </a:pPr>
                      <a:r>
                        <a:t>18.2%</a:t>
                      </a:r>
                    </a:p>
                  </a:txBody>
                  <a:tcPr>
                    <a:solidFill>
                      <a:srgbClr val="FEF9C3"/>
                    </a:solidFill>
                  </a:tcPr>
                </a:tc>
                <a:tc>
                  <a:txBody>
                    <a:bodyPr/>
                    <a:lstStyle/>
                    <a:p>
                      <a:pPr algn="ctr">
                        <a:defRPr sz="950" b="1">
                          <a:solidFill>
                            <a:srgbClr val="002147"/>
                          </a:solidFill>
                          <a:latin typeface="Arial"/>
                        </a:defRPr>
                      </a:pPr>
                      <a:r>
                        <a:t>-0.0002 (Zero Gap)</a:t>
                      </a:r>
                    </a:p>
                  </a:txBody>
                  <a:tcPr>
                    <a:solidFill>
                      <a:srgbClr val="FEF9C3"/>
                    </a:solidFill>
                  </a:tcPr>
                </a:tc>
              </a:tr>
            </a:tbl>
          </a:graphicData>
        </a:graphic>
      </p:graphicFrame>
      <p:sp>
        <p:nvSpPr>
          <p:cNvPr id="15" name="Rectangle 14"/>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7" name="TextBox 16"/>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8" name="TextBox 17"/>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12 of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04 | RESULTS</a:t>
            </a:r>
          </a:p>
          <a:p>
            <a:pPr>
              <a:defRPr sz="1900" b="1">
                <a:solidFill>
                  <a:srgbClr val="FFFFFF"/>
                </a:solidFill>
                <a:latin typeface="Arial"/>
              </a:defRPr>
            </a:pPr>
            <a:r>
              <a:t>Holdout Calibration Accuracy &amp; Parity Analysis</a:t>
            </a:r>
          </a:p>
        </p:txBody>
      </p:sp>
      <p:sp>
        <p:nvSpPr>
          <p:cNvPr id="5" name="Rounded Rectangle 4"/>
          <p:cNvSpPr/>
          <p:nvPr/>
        </p:nvSpPr>
        <p:spPr>
          <a:xfrm>
            <a:off x="731520" y="1325880"/>
            <a:ext cx="521208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1:1 Reference Agreement</a:t>
            </a:r>
          </a:p>
          <a:p>
            <a:pPr>
              <a:lnSpc>
                <a:spcPct val="115000"/>
              </a:lnSpc>
              <a:spcAft>
                <a:spcPts val="800"/>
              </a:spcAft>
            </a:pPr>
            <a:r>
              <a:rPr b="1" sz="1150">
                <a:solidFill>
                  <a:srgbClr val="002147"/>
                </a:solidFill>
                <a:latin typeface="Arial"/>
              </a:rPr>
              <a:t>Near-Perfect Linearity: </a:t>
            </a:r>
            <a:r>
              <a:rPr b="0" sz="1150">
                <a:solidFill>
                  <a:srgbClr val="1F2937"/>
                </a:solidFill>
                <a:latin typeface="Arial"/>
              </a:rPr>
              <a:t>Calibrated predictions align tightly along the 1:1 identity line (y = 0.982x + 0.24) across the entire range from 2 µg/m³ to 120 µg/m³.</a:t>
            </a:r>
          </a:p>
          <a:p>
            <a:pPr>
              <a:lnSpc>
                <a:spcPct val="115000"/>
              </a:lnSpc>
              <a:spcAft>
                <a:spcPts val="800"/>
              </a:spcAft>
            </a:pPr>
            <a:r>
              <a:rPr b="1" sz="1150">
                <a:solidFill>
                  <a:srgbClr val="002147"/>
                </a:solidFill>
                <a:latin typeface="Arial"/>
              </a:rPr>
              <a:t>Elimination of Humidity Swell: </a:t>
            </a:r>
            <a:r>
              <a:rPr b="0" sz="1150">
                <a:solidFill>
                  <a:srgbClr val="1F2937"/>
                </a:solidFill>
                <a:latin typeface="Arial"/>
              </a:rPr>
              <a:t>Extreme overestimation spikes during morning humidity peaks (RH &gt; 85%) were completely suppressed by empirical Köhler physics.</a:t>
            </a:r>
          </a:p>
          <a:p>
            <a:pPr>
              <a:lnSpc>
                <a:spcPct val="115000"/>
              </a:lnSpc>
              <a:spcAft>
                <a:spcPts val="800"/>
              </a:spcAft>
            </a:pPr>
            <a:r>
              <a:rPr b="1" sz="1150">
                <a:solidFill>
                  <a:srgbClr val="002147"/>
                </a:solidFill>
                <a:latin typeface="Arial"/>
              </a:rPr>
              <a:t>Peak Dust Capture: </a:t>
            </a:r>
            <a:r>
              <a:rPr b="0" sz="1150">
                <a:solidFill>
                  <a:srgbClr val="1F2937"/>
                </a:solidFill>
                <a:latin typeface="Arial"/>
              </a:rPr>
              <a:t>Unlike simple smoothing filters, SPIME v4 accurately tracks rapid particulate concentration spikes during dry Harmattan dust events.</a:t>
            </a:r>
          </a:p>
        </p:txBody>
      </p:sp>
      <p:sp>
        <p:nvSpPr>
          <p:cNvPr id="7" name="Rounded Rectangle 6"/>
          <p:cNvSpPr/>
          <p:nvPr/>
        </p:nvSpPr>
        <p:spPr>
          <a:xfrm>
            <a:off x="6172200" y="1325880"/>
            <a:ext cx="528797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ctual vs predicted scatter plot.png"/>
          <p:cNvPicPr>
            <a:picLocks noChangeAspect="1"/>
          </p:cNvPicPr>
          <p:nvPr/>
        </p:nvPicPr>
        <p:blipFill>
          <a:blip r:embed="rId2"/>
          <a:stretch>
            <a:fillRect/>
          </a:stretch>
        </p:blipFill>
        <p:spPr>
          <a:xfrm>
            <a:off x="6355080" y="1508760"/>
            <a:ext cx="4922215" cy="3167590"/>
          </a:xfrm>
          <a:prstGeom prst="rect">
            <a:avLst/>
          </a:prstGeom>
        </p:spPr>
      </p:pic>
      <p:sp>
        <p:nvSpPr>
          <p:cNvPr id="9" name="TextBox 8"/>
          <p:cNvSpPr txBox="1"/>
          <p:nvPr/>
        </p:nvSpPr>
        <p:spPr>
          <a:xfrm>
            <a:off x="6355080" y="5623560"/>
            <a:ext cx="4922215" cy="411480"/>
          </a:xfrm>
          <a:prstGeom prst="rect">
            <a:avLst/>
          </a:prstGeom>
          <a:noFill/>
        </p:spPr>
        <p:txBody>
          <a:bodyPr wrap="none">
            <a:spAutoFit/>
          </a:bodyPr>
          <a:lstStyle/>
          <a:p>
            <a:pPr algn="ctr">
              <a:defRPr sz="900" i="1">
                <a:solidFill>
                  <a:srgbClr val="6B7280"/>
                </a:solidFill>
              </a:defRPr>
            </a:pPr>
            <a:r>
              <a:t>Figure 4.1: Reference Teledyne T640 vs. Calibrated SPIME v4 Holdout Parity Plot</a:t>
            </a:r>
          </a:p>
        </p:txBody>
      </p:sp>
      <p:sp>
        <p:nvSpPr>
          <p:cNvPr id="10" name="Rectangle 9"/>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2" name="TextBox 11"/>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3" name="TextBox 12"/>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13 of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04 | RESULTS</a:t>
            </a:r>
          </a:p>
          <a:p>
            <a:pPr>
              <a:defRPr sz="1900" b="1">
                <a:solidFill>
                  <a:srgbClr val="FFFFFF"/>
                </a:solidFill>
                <a:latin typeface="Arial"/>
              </a:defRPr>
            </a:pPr>
            <a:r>
              <a:t>Diagnostic Breakdown: Elimination of the Overfitting Gap</a:t>
            </a:r>
          </a:p>
        </p:txBody>
      </p:sp>
      <p:sp>
        <p:nvSpPr>
          <p:cNvPr id="5" name="Rounded Rectangle 4"/>
          <p:cNvSpPr/>
          <p:nvPr/>
        </p:nvSpPr>
        <p:spPr>
          <a:xfrm>
            <a:off x="731520" y="1325880"/>
            <a:ext cx="10728655" cy="1444752"/>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35607"/>
            <a:ext cx="10362895" cy="1234440"/>
          </a:xfrm>
          <a:prstGeom prst="rect">
            <a:avLst/>
          </a:prstGeom>
          <a:noFill/>
        </p:spPr>
        <p:txBody>
          <a:bodyPr wrap="square">
            <a:spAutoFit/>
          </a:bodyPr>
          <a:lstStyle/>
          <a:p>
            <a:pPr>
              <a:spcAft>
                <a:spcPts val="400"/>
              </a:spcAft>
              <a:defRPr sz="1200" b="1">
                <a:solidFill>
                  <a:srgbClr val="002147"/>
                </a:solidFill>
                <a:latin typeface="Arial"/>
              </a:defRPr>
            </a:pPr>
            <a:r>
              <a:t>The Overfitting Crisis in Deep Learning</a:t>
            </a:r>
          </a:p>
          <a:p>
            <a:pPr>
              <a:lnSpc>
                <a:spcPct val="115000"/>
              </a:lnSpc>
              <a:defRPr sz="1000">
                <a:solidFill>
                  <a:srgbClr val="1F2937"/>
                </a:solidFill>
                <a:latin typeface="Arial"/>
              </a:defRPr>
            </a:pPr>
            <a:r>
              <a:t>Neural networks (MLP, LSTM) achieved high in-sample training performance (Train R² = 0.9232) but collapsed to R² = 0.5214 on unseen holdout data (Generalization Gap ΔR² = +0.4018). Neural networks memorized high-frequency optical noise instead of atmospheric laws.</a:t>
            </a:r>
          </a:p>
        </p:txBody>
      </p:sp>
      <p:sp>
        <p:nvSpPr>
          <p:cNvPr id="7" name="Rounded Rectangle 6"/>
          <p:cNvSpPr/>
          <p:nvPr/>
        </p:nvSpPr>
        <p:spPr>
          <a:xfrm>
            <a:off x="731520" y="2926080"/>
            <a:ext cx="10728655" cy="1444752"/>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35808"/>
            <a:ext cx="10362895" cy="1234440"/>
          </a:xfrm>
          <a:prstGeom prst="rect">
            <a:avLst/>
          </a:prstGeom>
          <a:noFill/>
        </p:spPr>
        <p:txBody>
          <a:bodyPr wrap="square">
            <a:spAutoFit/>
          </a:bodyPr>
          <a:lstStyle/>
          <a:p>
            <a:pPr>
              <a:spcAft>
                <a:spcPts val="400"/>
              </a:spcAft>
              <a:defRPr sz="1200" b="1">
                <a:solidFill>
                  <a:srgbClr val="002147"/>
                </a:solidFill>
                <a:latin typeface="Arial"/>
              </a:defRPr>
            </a:pPr>
            <a:r>
              <a:t>Why Stand-Alone Ensembles Degrade</a:t>
            </a:r>
          </a:p>
          <a:p>
            <a:pPr>
              <a:lnSpc>
                <a:spcPct val="115000"/>
              </a:lnSpc>
              <a:defRPr sz="1000">
                <a:solidFill>
                  <a:srgbClr val="1F2937"/>
                </a:solidFill>
                <a:latin typeface="Arial"/>
              </a:defRPr>
            </a:pPr>
            <a:r>
              <a:t>Stand-alone Random Forest achieved Train R² = 0.9172 but dropped to Holdout R² = 0.7752 (Gap ΔR² = +0.1420). Deep decision trees overfit localized micro-climatic patterns when unconstrained.</a:t>
            </a:r>
          </a:p>
        </p:txBody>
      </p:sp>
      <p:sp>
        <p:nvSpPr>
          <p:cNvPr id="9" name="Rounded Rectangle 8"/>
          <p:cNvSpPr/>
          <p:nvPr/>
        </p:nvSpPr>
        <p:spPr>
          <a:xfrm>
            <a:off x="731520" y="4526280"/>
            <a:ext cx="10728655" cy="1444752"/>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36008"/>
            <a:ext cx="10362895" cy="1234440"/>
          </a:xfrm>
          <a:prstGeom prst="rect">
            <a:avLst/>
          </a:prstGeom>
          <a:noFill/>
        </p:spPr>
        <p:txBody>
          <a:bodyPr wrap="square">
            <a:spAutoFit/>
          </a:bodyPr>
          <a:lstStyle/>
          <a:p>
            <a:pPr>
              <a:spcAft>
                <a:spcPts val="400"/>
              </a:spcAft>
              <a:defRPr sz="1200" b="1">
                <a:solidFill>
                  <a:srgbClr val="002147"/>
                </a:solidFill>
                <a:latin typeface="Arial"/>
              </a:defRPr>
            </a:pPr>
            <a:r>
              <a:t>How SPIME v4 Solved Overfitting (ΔR² = -0.0002)</a:t>
            </a:r>
          </a:p>
          <a:p>
            <a:pPr>
              <a:lnSpc>
                <a:spcPct val="115000"/>
              </a:lnSpc>
              <a:defRPr sz="1000">
                <a:solidFill>
                  <a:srgbClr val="1F2937"/>
                </a:solidFill>
                <a:latin typeface="Arial"/>
              </a:defRPr>
            </a:pPr>
            <a:r>
              <a:t>SPIME v4 utilizes 5-Fold out-of-fold cross-validated stacking with an L2-regularized RidgeCV meta-regressor. The meta-regressor only evaluates base models on out-of-sample errors, completely eliminating generalization loss.</a:t>
            </a:r>
          </a:p>
        </p:txBody>
      </p:sp>
      <p:sp>
        <p:nvSpPr>
          <p:cNvPr id="11" name="Rectangle 10"/>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3" name="TextBox 12"/>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4" name="TextBox 13"/>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14 of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04 | RESULTS</a:t>
            </a:r>
          </a:p>
          <a:p>
            <a:pPr>
              <a:defRPr sz="1900" b="1">
                <a:solidFill>
                  <a:srgbClr val="FFFFFF"/>
                </a:solidFill>
                <a:latin typeface="Arial"/>
              </a:defRPr>
            </a:pPr>
            <a:r>
              <a:t>Model Explainability: Physical Feature Importance Attribution</a:t>
            </a:r>
          </a:p>
        </p:txBody>
      </p:sp>
      <p:sp>
        <p:nvSpPr>
          <p:cNvPr id="5" name="Rounded Rectangle 4"/>
          <p:cNvSpPr/>
          <p:nvPr/>
        </p:nvSpPr>
        <p:spPr>
          <a:xfrm>
            <a:off x="731520" y="1325880"/>
            <a:ext cx="521208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Gini Feature Importance Rankings</a:t>
            </a:r>
          </a:p>
          <a:p>
            <a:pPr>
              <a:lnSpc>
                <a:spcPct val="115000"/>
              </a:lnSpc>
              <a:spcAft>
                <a:spcPts val="800"/>
              </a:spcAft>
            </a:pPr>
            <a:r>
              <a:rPr b="1" sz="1150">
                <a:solidFill>
                  <a:srgbClr val="002147"/>
                </a:solidFill>
                <a:latin typeface="Arial"/>
              </a:rPr>
              <a:t>1. Köhler Physics Dominance (24.5%): </a:t>
            </a:r>
            <a:r>
              <a:rPr b="0" sz="1150">
                <a:solidFill>
                  <a:srgbClr val="1F2937"/>
                </a:solidFill>
                <a:latin typeface="Arial"/>
              </a:rPr>
              <a:t>Multi-gamma hygroscopic growth features (kohler_gamma_0.20, 0.15) dominate the decision boundaries. Trees split along physical growth curves rather than arbitrary humidity levels.</a:t>
            </a:r>
          </a:p>
          <a:p>
            <a:pPr>
              <a:lnSpc>
                <a:spcPct val="115000"/>
              </a:lnSpc>
              <a:spcAft>
                <a:spcPts val="800"/>
              </a:spcAft>
            </a:pPr>
            <a:r>
              <a:rPr b="1" sz="1150">
                <a:solidFill>
                  <a:srgbClr val="002147"/>
                </a:solidFill>
                <a:latin typeface="Arial"/>
              </a:rPr>
              <a:t>2. Thermodynamic Parameters (13.0%): </a:t>
            </a:r>
            <a:r>
              <a:rPr b="0" sz="1150">
                <a:solidFill>
                  <a:srgbClr val="1F2937"/>
                </a:solidFill>
                <a:latin typeface="Arial"/>
              </a:rPr>
              <a:t>Absolute Humidity (8.8%) and Vapor Pressure Deficit (4.2%) decouple warm tropical moisture from cool dry air.</a:t>
            </a:r>
          </a:p>
          <a:p>
            <a:pPr>
              <a:lnSpc>
                <a:spcPct val="115000"/>
              </a:lnSpc>
              <a:spcAft>
                <a:spcPts val="800"/>
              </a:spcAft>
            </a:pPr>
            <a:r>
              <a:rPr b="1" sz="1150">
                <a:solidFill>
                  <a:srgbClr val="002147"/>
                </a:solidFill>
                <a:latin typeface="Arial"/>
              </a:rPr>
              <a:t>3. Temporal Rolling Dynamics (10.7%): </a:t>
            </a:r>
            <a:r>
              <a:rPr b="0" sz="1150">
                <a:solidFill>
                  <a:srgbClr val="1F2937"/>
                </a:solidFill>
                <a:latin typeface="Arial"/>
              </a:rPr>
              <a:t>Multi-window EWMA features filter high-frequency sensor noise while preserving genuine particulate accumulation trends.</a:t>
            </a:r>
          </a:p>
          <a:p>
            <a:pPr>
              <a:lnSpc>
                <a:spcPct val="115000"/>
              </a:lnSpc>
              <a:spcAft>
                <a:spcPts val="800"/>
              </a:spcAft>
            </a:pPr>
            <a:r>
              <a:rPr b="1" sz="1150">
                <a:solidFill>
                  <a:srgbClr val="002147"/>
                </a:solidFill>
                <a:latin typeface="Arial"/>
              </a:rPr>
              <a:t>4. Harmattan Dust Ratio (7.2%): </a:t>
            </a:r>
            <a:r>
              <a:rPr b="0" sz="1150">
                <a:solidFill>
                  <a:srgbClr val="1F2937"/>
                </a:solidFill>
                <a:latin typeface="Arial"/>
              </a:rPr>
              <a:t>Prevents false humidity corrections during dry Saharan mineral dust episodes.</a:t>
            </a:r>
          </a:p>
        </p:txBody>
      </p:sp>
      <p:sp>
        <p:nvSpPr>
          <p:cNvPr id="7" name="Rounded Rectangle 6"/>
          <p:cNvSpPr/>
          <p:nvPr/>
        </p:nvSpPr>
        <p:spPr>
          <a:xfrm>
            <a:off x="6172200" y="1325880"/>
            <a:ext cx="528797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4_4_feature_importance.png"/>
          <p:cNvPicPr>
            <a:picLocks noChangeAspect="1"/>
          </p:cNvPicPr>
          <p:nvPr/>
        </p:nvPicPr>
        <p:blipFill>
          <a:blip r:embed="rId2"/>
          <a:stretch>
            <a:fillRect/>
          </a:stretch>
        </p:blipFill>
        <p:spPr>
          <a:xfrm>
            <a:off x="6355080" y="1508760"/>
            <a:ext cx="4922215" cy="3691661"/>
          </a:xfrm>
          <a:prstGeom prst="rect">
            <a:avLst/>
          </a:prstGeom>
        </p:spPr>
      </p:pic>
      <p:sp>
        <p:nvSpPr>
          <p:cNvPr id="9" name="TextBox 8"/>
          <p:cNvSpPr txBox="1"/>
          <p:nvPr/>
        </p:nvSpPr>
        <p:spPr>
          <a:xfrm>
            <a:off x="6355080" y="5623560"/>
            <a:ext cx="4922215" cy="411480"/>
          </a:xfrm>
          <a:prstGeom prst="rect">
            <a:avLst/>
          </a:prstGeom>
          <a:noFill/>
        </p:spPr>
        <p:txBody>
          <a:bodyPr wrap="none">
            <a:spAutoFit/>
          </a:bodyPr>
          <a:lstStyle/>
          <a:p>
            <a:pPr algn="ctr">
              <a:defRPr sz="900" i="1">
                <a:solidFill>
                  <a:srgbClr val="6B7280"/>
                </a:solidFill>
              </a:defRPr>
            </a:pPr>
            <a:r>
              <a:t>Figure 4.2: Top 20 Feature Importance Attributions Across Tree Models</a:t>
            </a:r>
          </a:p>
        </p:txBody>
      </p:sp>
      <p:sp>
        <p:nvSpPr>
          <p:cNvPr id="10" name="Rectangle 9"/>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2" name="TextBox 11"/>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3" name="TextBox 12"/>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15 of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04 | RESULTS</a:t>
            </a:r>
          </a:p>
          <a:p>
            <a:pPr>
              <a:defRPr sz="1900" b="1">
                <a:solidFill>
                  <a:srgbClr val="FFFFFF"/>
                </a:solidFill>
                <a:latin typeface="Arial"/>
              </a:defRPr>
            </a:pPr>
            <a:r>
              <a:t>Seasonal Generalization: Monsoon Wet vs. Harmattan Dry Regimes</a:t>
            </a:r>
          </a:p>
        </p:txBody>
      </p:sp>
      <p:sp>
        <p:nvSpPr>
          <p:cNvPr id="5" name="Rounded Rectangle 4"/>
          <p:cNvSpPr/>
          <p:nvPr/>
        </p:nvSpPr>
        <p:spPr>
          <a:xfrm>
            <a:off x="731520" y="1325880"/>
            <a:ext cx="5212080" cy="48006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1. Monsoon Wet Season (June – Oct)</a:t>
            </a:r>
          </a:p>
          <a:p>
            <a:pPr>
              <a:lnSpc>
                <a:spcPct val="115000"/>
              </a:lnSpc>
              <a:spcAft>
                <a:spcPts val="800"/>
              </a:spcAft>
            </a:pPr>
            <a:r>
              <a:rPr b="1" sz="1150">
                <a:solidFill>
                  <a:srgbClr val="002147"/>
                </a:solidFill>
                <a:latin typeface="Arial"/>
              </a:rPr>
              <a:t>Atmospheric Regime: </a:t>
            </a:r>
            <a:r>
              <a:rPr b="0" sz="1150">
                <a:solidFill>
                  <a:srgbClr val="1F2937"/>
                </a:solidFill>
                <a:latin typeface="Arial"/>
              </a:rPr>
              <a:t>Persistent high relative humidity (diurnal mean: 75%–92%), moderate temperatures (24°C–31°C), frequent tropical convective rainfall.</a:t>
            </a:r>
          </a:p>
          <a:p>
            <a:pPr>
              <a:lnSpc>
                <a:spcPct val="115000"/>
              </a:lnSpc>
              <a:spcAft>
                <a:spcPts val="800"/>
              </a:spcAft>
            </a:pPr>
            <a:r>
              <a:rPr b="1" sz="1150">
                <a:solidFill>
                  <a:srgbClr val="002147"/>
                </a:solidFill>
                <a:latin typeface="Arial"/>
              </a:rPr>
              <a:t>Physical Challenge: </a:t>
            </a:r>
            <a:r>
              <a:rPr b="0" sz="1150">
                <a:solidFill>
                  <a:srgbClr val="1F2937"/>
                </a:solidFill>
                <a:latin typeface="Arial"/>
              </a:rPr>
              <a:t>Severe hygroscopic aerosol swelling and deliquescence.</a:t>
            </a:r>
          </a:p>
          <a:p>
            <a:pPr>
              <a:lnSpc>
                <a:spcPct val="115000"/>
              </a:lnSpc>
              <a:spcAft>
                <a:spcPts val="800"/>
              </a:spcAft>
            </a:pPr>
            <a:r>
              <a:rPr b="1" sz="1150">
                <a:solidFill>
                  <a:srgbClr val="002147"/>
                </a:solidFill>
                <a:latin typeface="Arial"/>
              </a:rPr>
              <a:t>Holdout Performance: </a:t>
            </a:r>
            <a:r>
              <a:rPr b="0" sz="1150">
                <a:solidFill>
                  <a:srgbClr val="1F2937"/>
                </a:solidFill>
                <a:latin typeface="Arial"/>
              </a:rPr>
              <a:t>R² = 0.9684 | MAE = 0.58 µg/m³ | RMSE = 1.18 µg/m³</a:t>
            </a:r>
          </a:p>
          <a:p>
            <a:pPr>
              <a:lnSpc>
                <a:spcPct val="115000"/>
              </a:lnSpc>
              <a:spcAft>
                <a:spcPts val="800"/>
              </a:spcAft>
            </a:pPr>
            <a:r>
              <a:rPr b="1" sz="1150">
                <a:solidFill>
                  <a:srgbClr val="002147"/>
                </a:solidFill>
                <a:latin typeface="Arial"/>
              </a:rPr>
              <a:t>Calibration Impact: </a:t>
            </a:r>
            <a:r>
              <a:rPr b="0" sz="1150">
                <a:solidFill>
                  <a:srgbClr val="1F2937"/>
                </a:solidFill>
                <a:latin typeface="Arial"/>
              </a:rPr>
              <a:t>Köhler growth functions successfully eliminate humidity-induced false positive spikes during morning saturation peaks.</a:t>
            </a:r>
          </a:p>
        </p:txBody>
      </p:sp>
      <p:sp>
        <p:nvSpPr>
          <p:cNvPr id="7" name="Rounded Rectangle 6"/>
          <p:cNvSpPr/>
          <p:nvPr/>
        </p:nvSpPr>
        <p:spPr>
          <a:xfrm>
            <a:off x="6172200" y="1325880"/>
            <a:ext cx="5287975" cy="480060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508760"/>
            <a:ext cx="4922215" cy="4434840"/>
          </a:xfrm>
          <a:prstGeom prst="rect">
            <a:avLst/>
          </a:prstGeom>
          <a:noFill/>
        </p:spPr>
        <p:txBody>
          <a:bodyPr wrap="square">
            <a:spAutoFit/>
          </a:bodyPr>
          <a:lstStyle/>
          <a:p>
            <a:pPr>
              <a:spcAft>
                <a:spcPts val="800"/>
              </a:spcAft>
              <a:defRPr sz="1300" b="1">
                <a:solidFill>
                  <a:srgbClr val="B48214"/>
                </a:solidFill>
                <a:latin typeface="Arial"/>
              </a:defRPr>
            </a:pPr>
            <a:r>
              <a:t>2. Harmattan Dry Season (Nov – March)</a:t>
            </a:r>
          </a:p>
          <a:p>
            <a:pPr>
              <a:lnSpc>
                <a:spcPct val="115000"/>
              </a:lnSpc>
              <a:spcAft>
                <a:spcPts val="800"/>
              </a:spcAft>
            </a:pPr>
            <a:r>
              <a:rPr b="1" sz="1150">
                <a:solidFill>
                  <a:srgbClr val="002147"/>
                </a:solidFill>
                <a:latin typeface="Arial"/>
              </a:rPr>
              <a:t>Atmospheric Regime: </a:t>
            </a:r>
            <a:r>
              <a:rPr b="0" sz="1150">
                <a:solidFill>
                  <a:srgbClr val="1F2937"/>
                </a:solidFill>
                <a:latin typeface="Arial"/>
              </a:rPr>
              <a:t>Dry northeasterly Saharan trade winds, heavy coarse mineral dust loading, low relative humidity (&lt; 30%), high daytime temperatures.</a:t>
            </a:r>
          </a:p>
          <a:p>
            <a:pPr>
              <a:lnSpc>
                <a:spcPct val="115000"/>
              </a:lnSpc>
              <a:spcAft>
                <a:spcPts val="800"/>
              </a:spcAft>
            </a:pPr>
            <a:r>
              <a:rPr b="1" sz="1150">
                <a:solidFill>
                  <a:srgbClr val="002147"/>
                </a:solidFill>
                <a:latin typeface="Arial"/>
              </a:rPr>
              <a:t>Physical Challenge: </a:t>
            </a:r>
            <a:r>
              <a:rPr b="0" sz="1150">
                <a:solidFill>
                  <a:srgbClr val="1F2937"/>
                </a:solidFill>
                <a:latin typeface="Arial"/>
              </a:rPr>
              <a:t>Coarse mineral dust scattering and non-spherical particle geometry.</a:t>
            </a:r>
          </a:p>
          <a:p>
            <a:pPr>
              <a:lnSpc>
                <a:spcPct val="115000"/>
              </a:lnSpc>
              <a:spcAft>
                <a:spcPts val="800"/>
              </a:spcAft>
            </a:pPr>
            <a:r>
              <a:rPr b="1" sz="1150">
                <a:solidFill>
                  <a:srgbClr val="002147"/>
                </a:solidFill>
                <a:latin typeface="Arial"/>
              </a:rPr>
              <a:t>Holdout Performance: </a:t>
            </a:r>
            <a:r>
              <a:rPr b="0" sz="1150">
                <a:solidFill>
                  <a:srgbClr val="1F2937"/>
                </a:solidFill>
                <a:latin typeface="Arial"/>
              </a:rPr>
              <a:t>R² = 0.9578 | MAE = 0.65 µg/m³ | RMSE = 1.29 µg/m³</a:t>
            </a:r>
          </a:p>
          <a:p>
            <a:pPr>
              <a:lnSpc>
                <a:spcPct val="115000"/>
              </a:lnSpc>
              <a:spcAft>
                <a:spcPts val="800"/>
              </a:spcAft>
            </a:pPr>
            <a:r>
              <a:rPr b="1" sz="1150">
                <a:solidFill>
                  <a:srgbClr val="002147"/>
                </a:solidFill>
                <a:latin typeface="Arial"/>
              </a:rPr>
              <a:t>Calibration Impact: </a:t>
            </a:r>
            <a:r>
              <a:rPr b="0" sz="1150">
                <a:solidFill>
                  <a:srgbClr val="1F2937"/>
                </a:solidFill>
                <a:latin typeface="Arial"/>
              </a:rPr>
              <a:t>PM10/PM2.5 coarse dust ratio prevents improper moisture corrections, capturing true dust episode peaks.</a:t>
            </a:r>
          </a:p>
        </p:txBody>
      </p:sp>
      <p:sp>
        <p:nvSpPr>
          <p:cNvPr id="9" name="Rectangle 8"/>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1" name="TextBox 10"/>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2" name="TextBox 11"/>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16 of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04 | RESULTS</a:t>
            </a:r>
          </a:p>
          <a:p>
            <a:pPr>
              <a:defRPr sz="1900" b="1">
                <a:solidFill>
                  <a:srgbClr val="FFFFFF"/>
                </a:solidFill>
                <a:latin typeface="Arial"/>
              </a:defRPr>
            </a:pPr>
            <a:r>
              <a:t>Statistical Residual Diagnostics &amp; Assumption Verification</a:t>
            </a:r>
          </a:p>
        </p:txBody>
      </p:sp>
      <p:sp>
        <p:nvSpPr>
          <p:cNvPr id="5" name="Rounded Rectangle 4"/>
          <p:cNvSpPr/>
          <p:nvPr/>
        </p:nvSpPr>
        <p:spPr>
          <a:xfrm>
            <a:off x="731520" y="1325880"/>
            <a:ext cx="521208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Diagnostic Residual Verification</a:t>
            </a:r>
          </a:p>
          <a:p>
            <a:pPr>
              <a:lnSpc>
                <a:spcPct val="115000"/>
              </a:lnSpc>
              <a:spcAft>
                <a:spcPts val="800"/>
              </a:spcAft>
            </a:pPr>
            <a:r>
              <a:rPr b="1" sz="1150">
                <a:solidFill>
                  <a:srgbClr val="002147"/>
                </a:solidFill>
                <a:latin typeface="Arial"/>
              </a:rPr>
              <a:t>Zero Mean Error (Unbiasedness): </a:t>
            </a:r>
            <a:r>
              <a:rPr b="0" sz="1150">
                <a:solidFill>
                  <a:srgbClr val="1F2937"/>
                </a:solidFill>
                <a:latin typeface="Arial"/>
              </a:rPr>
              <a:t>Mean prediction error on holdout data is μ = -0.04 µg/m³, proving absence of systematic over- or under-reporting.</a:t>
            </a:r>
          </a:p>
          <a:p>
            <a:pPr>
              <a:lnSpc>
                <a:spcPct val="115000"/>
              </a:lnSpc>
              <a:spcAft>
                <a:spcPts val="800"/>
              </a:spcAft>
            </a:pPr>
            <a:r>
              <a:rPr b="1" sz="1150">
                <a:solidFill>
                  <a:srgbClr val="002147"/>
                </a:solidFill>
                <a:latin typeface="Arial"/>
              </a:rPr>
              <a:t>Homoscedasticity: </a:t>
            </a:r>
            <a:r>
              <a:rPr b="0" sz="1150">
                <a:solidFill>
                  <a:srgbClr val="1F2937"/>
                </a:solidFill>
                <a:latin typeface="Arial"/>
              </a:rPr>
              <a:t>Residual variance remains constant across low, moderate, and elevated concentration regimes (Breusch-Pagan p &gt; 0.05).</a:t>
            </a:r>
          </a:p>
          <a:p>
            <a:pPr>
              <a:lnSpc>
                <a:spcPct val="115000"/>
              </a:lnSpc>
              <a:spcAft>
                <a:spcPts val="800"/>
              </a:spcAft>
            </a:pPr>
            <a:r>
              <a:rPr b="1" sz="1150">
                <a:solidFill>
                  <a:srgbClr val="002147"/>
                </a:solidFill>
                <a:latin typeface="Arial"/>
              </a:rPr>
              <a:t>Residual Normality: </a:t>
            </a:r>
            <a:r>
              <a:rPr b="0" sz="1150">
                <a:solidFill>
                  <a:srgbClr val="1F2937"/>
                </a:solidFill>
                <a:latin typeface="Arial"/>
              </a:rPr>
              <a:t>Errors follow a symmetric Gaussian distribution centered at zero (Kurtosis = 3.08, Skewness = -0.12).</a:t>
            </a:r>
          </a:p>
          <a:p>
            <a:pPr>
              <a:lnSpc>
                <a:spcPct val="115000"/>
              </a:lnSpc>
              <a:spcAft>
                <a:spcPts val="800"/>
              </a:spcAft>
            </a:pPr>
            <a:r>
              <a:rPr b="1" sz="1150">
                <a:solidFill>
                  <a:srgbClr val="002147"/>
                </a:solidFill>
                <a:latin typeface="Arial"/>
              </a:rPr>
              <a:t>Absence of Autocorrelation: </a:t>
            </a:r>
            <a:r>
              <a:rPr b="0" sz="1150">
                <a:solidFill>
                  <a:srgbClr val="1F2937"/>
                </a:solidFill>
                <a:latin typeface="Arial"/>
              </a:rPr>
              <a:t>Durbin-Watson statistic of 1.94 confirms residuals are statistically independent.</a:t>
            </a:r>
          </a:p>
        </p:txBody>
      </p:sp>
      <p:sp>
        <p:nvSpPr>
          <p:cNvPr id="7" name="Rounded Rectangle 6"/>
          <p:cNvSpPr/>
          <p:nvPr/>
        </p:nvSpPr>
        <p:spPr>
          <a:xfrm>
            <a:off x="6172200" y="1325880"/>
            <a:ext cx="5287975"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4_5_residual_histogram.png"/>
          <p:cNvPicPr>
            <a:picLocks noChangeAspect="1"/>
          </p:cNvPicPr>
          <p:nvPr/>
        </p:nvPicPr>
        <p:blipFill>
          <a:blip r:embed="rId2"/>
          <a:stretch>
            <a:fillRect/>
          </a:stretch>
        </p:blipFill>
        <p:spPr>
          <a:xfrm>
            <a:off x="6355080" y="1508760"/>
            <a:ext cx="4922215" cy="2953329"/>
          </a:xfrm>
          <a:prstGeom prst="rect">
            <a:avLst/>
          </a:prstGeom>
        </p:spPr>
      </p:pic>
      <p:sp>
        <p:nvSpPr>
          <p:cNvPr id="9" name="TextBox 8"/>
          <p:cNvSpPr txBox="1"/>
          <p:nvPr/>
        </p:nvSpPr>
        <p:spPr>
          <a:xfrm>
            <a:off x="6355080" y="5623560"/>
            <a:ext cx="4922215" cy="411480"/>
          </a:xfrm>
          <a:prstGeom prst="rect">
            <a:avLst/>
          </a:prstGeom>
          <a:noFill/>
        </p:spPr>
        <p:txBody>
          <a:bodyPr wrap="none">
            <a:spAutoFit/>
          </a:bodyPr>
          <a:lstStyle/>
          <a:p>
            <a:pPr algn="ctr">
              <a:defRPr sz="900" i="1">
                <a:solidFill>
                  <a:srgbClr val="6B7280"/>
                </a:solidFill>
              </a:defRPr>
            </a:pPr>
            <a:r>
              <a:t>Figure 4.3: Holdout Calibration Residual Distribution &amp; Gaussian Normality Fit</a:t>
            </a:r>
          </a:p>
        </p:txBody>
      </p:sp>
      <p:sp>
        <p:nvSpPr>
          <p:cNvPr id="10" name="Rectangle 9"/>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2" name="TextBox 11"/>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3" name="TextBox 12"/>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17 of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05 | DEPLOYMENT</a:t>
            </a:r>
          </a:p>
          <a:p>
            <a:pPr>
              <a:defRPr sz="1900" b="1">
                <a:solidFill>
                  <a:srgbClr val="FFFFFF"/>
                </a:solidFill>
                <a:latin typeface="Arial"/>
              </a:defRPr>
            </a:pPr>
            <a:r>
              <a:t>Operational Cloud Deployment &amp; Software Architecture</a:t>
            </a:r>
          </a:p>
        </p:txBody>
      </p:sp>
      <p:sp>
        <p:nvSpPr>
          <p:cNvPr id="5" name="Rounded Rectangle 4"/>
          <p:cNvSpPr/>
          <p:nvPr/>
        </p:nvSpPr>
        <p:spPr>
          <a:xfrm>
            <a:off x="731520" y="1325880"/>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39"/>
            <a:ext cx="4922215" cy="2011680"/>
          </a:xfrm>
          <a:prstGeom prst="rect">
            <a:avLst/>
          </a:prstGeom>
          <a:noFill/>
        </p:spPr>
        <p:txBody>
          <a:bodyPr wrap="square">
            <a:spAutoFit/>
          </a:bodyPr>
          <a:lstStyle/>
          <a:p>
            <a:pPr>
              <a:spcAft>
                <a:spcPts val="600"/>
              </a:spcAft>
              <a:defRPr sz="1200" b="1">
                <a:solidFill>
                  <a:srgbClr val="002147"/>
                </a:solidFill>
                <a:latin typeface="Arial"/>
              </a:defRPr>
            </a:pPr>
            <a:r>
              <a:t>1. Serialized Model Artifact (7.8 MB)</a:t>
            </a:r>
          </a:p>
          <a:p>
            <a:pPr>
              <a:lnSpc>
                <a:spcPct val="115000"/>
              </a:lnSpc>
              <a:defRPr sz="1000">
                <a:solidFill>
                  <a:srgbClr val="1F2937"/>
                </a:solidFill>
                <a:latin typeface="Arial"/>
              </a:defRPr>
            </a:pPr>
            <a:r>
              <a:t>The full SPIME v4 pipeline—including feature scaling, Köhler transformations, and Level 0/1 estimators—is serialized into a standalone 7.8 MB joblib package.</a:t>
            </a:r>
          </a:p>
        </p:txBody>
      </p:sp>
      <p:sp>
        <p:nvSpPr>
          <p:cNvPr id="7" name="Rounded Rectangle 6"/>
          <p:cNvSpPr/>
          <p:nvPr/>
        </p:nvSpPr>
        <p:spPr>
          <a:xfrm>
            <a:off x="6172200" y="1325880"/>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463039"/>
            <a:ext cx="4922215" cy="2011680"/>
          </a:xfrm>
          <a:prstGeom prst="rect">
            <a:avLst/>
          </a:prstGeom>
          <a:noFill/>
        </p:spPr>
        <p:txBody>
          <a:bodyPr wrap="square">
            <a:spAutoFit/>
          </a:bodyPr>
          <a:lstStyle/>
          <a:p>
            <a:pPr>
              <a:spcAft>
                <a:spcPts val="600"/>
              </a:spcAft>
              <a:defRPr sz="1200" b="1">
                <a:solidFill>
                  <a:srgbClr val="002147"/>
                </a:solidFill>
                <a:latin typeface="Arial"/>
              </a:defRPr>
            </a:pPr>
            <a:r>
              <a:t>2. Asynchronous REST API (FastAPI)</a:t>
            </a:r>
          </a:p>
          <a:p>
            <a:pPr>
              <a:lnSpc>
                <a:spcPct val="115000"/>
              </a:lnSpc>
              <a:defRPr sz="1000">
                <a:solidFill>
                  <a:srgbClr val="1F2937"/>
                </a:solidFill>
                <a:latin typeface="Arial"/>
              </a:defRPr>
            </a:pPr>
            <a:r>
              <a:t>Exposes high-throughput POST /calibrate and /batch-calibrate endpoints with sub-5 millisecond inference latency per telemetry packet.</a:t>
            </a:r>
          </a:p>
        </p:txBody>
      </p:sp>
      <p:sp>
        <p:nvSpPr>
          <p:cNvPr id="9" name="Rounded Rectangle 8"/>
          <p:cNvSpPr/>
          <p:nvPr/>
        </p:nvSpPr>
        <p:spPr>
          <a:xfrm>
            <a:off x="731520" y="3749039"/>
            <a:ext cx="5287975" cy="22860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86200"/>
            <a:ext cx="4922215" cy="2011680"/>
          </a:xfrm>
          <a:prstGeom prst="rect">
            <a:avLst/>
          </a:prstGeom>
          <a:noFill/>
        </p:spPr>
        <p:txBody>
          <a:bodyPr wrap="square">
            <a:spAutoFit/>
          </a:bodyPr>
          <a:lstStyle/>
          <a:p>
            <a:pPr>
              <a:spcAft>
                <a:spcPts val="600"/>
              </a:spcAft>
              <a:defRPr sz="1200" b="1">
                <a:solidFill>
                  <a:srgbClr val="002147"/>
                </a:solidFill>
                <a:latin typeface="Arial"/>
              </a:defRPr>
            </a:pPr>
            <a:r>
              <a:t>3. Containerized Deployment (Docker)</a:t>
            </a:r>
          </a:p>
          <a:p>
            <a:pPr>
              <a:lnSpc>
                <a:spcPct val="115000"/>
              </a:lnSpc>
              <a:defRPr sz="1000">
                <a:solidFill>
                  <a:srgbClr val="1F2937"/>
                </a:solidFill>
                <a:latin typeface="Arial"/>
              </a:defRPr>
            </a:pPr>
            <a:r>
              <a:t>Packaged as a lightweight Docker container deployable on cloud servers (AWS/DigitalOcean) or edge microcomputers (Raspberry Pi 4 / Jetson Nano).</a:t>
            </a:r>
          </a:p>
        </p:txBody>
      </p:sp>
      <p:sp>
        <p:nvSpPr>
          <p:cNvPr id="11" name="Rounded Rectangle 10"/>
          <p:cNvSpPr/>
          <p:nvPr/>
        </p:nvSpPr>
        <p:spPr>
          <a:xfrm>
            <a:off x="6172200" y="3749039"/>
            <a:ext cx="5287975" cy="228600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886200"/>
            <a:ext cx="4922215" cy="2011680"/>
          </a:xfrm>
          <a:prstGeom prst="rect">
            <a:avLst/>
          </a:prstGeom>
          <a:noFill/>
        </p:spPr>
        <p:txBody>
          <a:bodyPr wrap="square">
            <a:spAutoFit/>
          </a:bodyPr>
          <a:lstStyle/>
          <a:p>
            <a:pPr>
              <a:spcAft>
                <a:spcPts val="600"/>
              </a:spcAft>
              <a:defRPr sz="1200" b="1">
                <a:solidFill>
                  <a:srgbClr val="002147"/>
                </a:solidFill>
                <a:latin typeface="Arial"/>
              </a:defRPr>
            </a:pPr>
            <a:r>
              <a:t>4. Continuous Verification &amp; Monitoring</a:t>
            </a:r>
          </a:p>
          <a:p>
            <a:pPr>
              <a:lnSpc>
                <a:spcPct val="115000"/>
              </a:lnSpc>
              <a:defRPr sz="1000">
                <a:solidFill>
                  <a:srgbClr val="1F2937"/>
                </a:solidFill>
                <a:latin typeface="Arial"/>
              </a:defRPr>
            </a:pPr>
            <a:r>
              <a:t>Automated health checks, US EPA Air Quality Index (AQI) categorical mapping, and data drift monitoring against Afri-SET reference baselines.</a:t>
            </a:r>
          </a:p>
        </p:txBody>
      </p:sp>
      <p:sp>
        <p:nvSpPr>
          <p:cNvPr id="13" name="Rectangle 12"/>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5" name="TextBox 14"/>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6" name="TextBox 15"/>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18 of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05 | CONCLUSION</a:t>
            </a:r>
          </a:p>
          <a:p>
            <a:pPr>
              <a:defRPr sz="1900" b="1">
                <a:solidFill>
                  <a:srgbClr val="FFFFFF"/>
                </a:solidFill>
                <a:latin typeface="Arial"/>
              </a:defRPr>
            </a:pPr>
            <a:r>
              <a:t>Summary of Research Contributions</a:t>
            </a:r>
          </a:p>
        </p:txBody>
      </p:sp>
      <p:sp>
        <p:nvSpPr>
          <p:cNvPr id="5" name="Rounded Rectangle 4"/>
          <p:cNvSpPr/>
          <p:nvPr/>
        </p:nvSpPr>
        <p:spPr>
          <a:xfrm>
            <a:off x="731520" y="1325880"/>
            <a:ext cx="10728655" cy="1078992"/>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362895" cy="896112"/>
          </a:xfrm>
          <a:prstGeom prst="rect">
            <a:avLst/>
          </a:prstGeom>
          <a:noFill/>
        </p:spPr>
        <p:txBody>
          <a:bodyPr wrap="square">
            <a:spAutoFit/>
          </a:bodyPr>
          <a:lstStyle/>
          <a:p>
            <a:pPr>
              <a:spcAft>
                <a:spcPts val="300"/>
              </a:spcAft>
              <a:defRPr sz="1200" b="1">
                <a:solidFill>
                  <a:srgbClr val="002147"/>
                </a:solidFill>
                <a:latin typeface="Arial"/>
              </a:defRPr>
            </a:pPr>
            <a:r>
              <a:t>1. Multi-Gamma Köhler Physics Formulation</a:t>
            </a:r>
          </a:p>
          <a:p>
            <a:pPr>
              <a:defRPr sz="1000">
                <a:solidFill>
                  <a:srgbClr val="1F2937"/>
                </a:solidFill>
                <a:latin typeface="Arial"/>
              </a:defRPr>
            </a:pPr>
            <a:r>
              <a:t>First framework to integrate parameterized multi-gamma hygroscopic aerosol growth curves into a machine learning calibration feature space specifically optimized for Sub-Saharan tropical climates.</a:t>
            </a:r>
          </a:p>
        </p:txBody>
      </p:sp>
      <p:sp>
        <p:nvSpPr>
          <p:cNvPr id="7" name="Rounded Rectangle 6"/>
          <p:cNvSpPr/>
          <p:nvPr/>
        </p:nvSpPr>
        <p:spPr>
          <a:xfrm>
            <a:off x="731520" y="2514600"/>
            <a:ext cx="10728655" cy="1078992"/>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06040"/>
            <a:ext cx="10362895" cy="896112"/>
          </a:xfrm>
          <a:prstGeom prst="rect">
            <a:avLst/>
          </a:prstGeom>
          <a:noFill/>
        </p:spPr>
        <p:txBody>
          <a:bodyPr wrap="square">
            <a:spAutoFit/>
          </a:bodyPr>
          <a:lstStyle/>
          <a:p>
            <a:pPr>
              <a:spcAft>
                <a:spcPts val="300"/>
              </a:spcAft>
              <a:defRPr sz="1200" b="1">
                <a:solidFill>
                  <a:srgbClr val="002147"/>
                </a:solidFill>
                <a:latin typeface="Arial"/>
              </a:defRPr>
            </a:pPr>
            <a:r>
              <a:t>2. Elimination of Overfitting in Sensor Calibration</a:t>
            </a:r>
          </a:p>
          <a:p>
            <a:pPr>
              <a:defRPr sz="1000">
                <a:solidFill>
                  <a:srgbClr val="1F2937"/>
                </a:solidFill>
                <a:latin typeface="Arial"/>
              </a:defRPr>
            </a:pPr>
            <a:r>
              <a:t>Demonstrated that 5-Fold out-of-fold cross-validated stacking completely prevents noise memorization, achieving a near-zero generalization gap (-0.0002) where neural networks dropped by 40%.</a:t>
            </a:r>
          </a:p>
        </p:txBody>
      </p:sp>
      <p:sp>
        <p:nvSpPr>
          <p:cNvPr id="9" name="Rounded Rectangle 8"/>
          <p:cNvSpPr/>
          <p:nvPr/>
        </p:nvSpPr>
        <p:spPr>
          <a:xfrm>
            <a:off x="731520" y="3703320"/>
            <a:ext cx="10728655" cy="1078992"/>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59"/>
            <a:ext cx="10362895" cy="896112"/>
          </a:xfrm>
          <a:prstGeom prst="rect">
            <a:avLst/>
          </a:prstGeom>
          <a:noFill/>
        </p:spPr>
        <p:txBody>
          <a:bodyPr wrap="square">
            <a:spAutoFit/>
          </a:bodyPr>
          <a:lstStyle/>
          <a:p>
            <a:pPr>
              <a:spcAft>
                <a:spcPts val="300"/>
              </a:spcAft>
              <a:defRPr sz="1200" b="1">
                <a:solidFill>
                  <a:srgbClr val="002147"/>
                </a:solidFill>
                <a:latin typeface="Arial"/>
              </a:defRPr>
            </a:pPr>
            <a:r>
              <a:t>3. Multi-Season Field Validation at Afri-SET</a:t>
            </a:r>
          </a:p>
          <a:p>
            <a:pPr>
              <a:defRPr sz="1000">
                <a:solidFill>
                  <a:srgbClr val="1F2937"/>
                </a:solidFill>
                <a:latin typeface="Arial"/>
              </a:defRPr>
            </a:pPr>
            <a:r>
              <a:t>Conducted comprehensive co-location evaluation spanning full wet monsoon and dry Harmattan seasons against a gold-standard US EPA FEM Teledyne API T640 monitor.</a:t>
            </a:r>
          </a:p>
        </p:txBody>
      </p:sp>
      <p:sp>
        <p:nvSpPr>
          <p:cNvPr id="11" name="Rounded Rectangle 10"/>
          <p:cNvSpPr/>
          <p:nvPr/>
        </p:nvSpPr>
        <p:spPr>
          <a:xfrm>
            <a:off x="731520" y="4892040"/>
            <a:ext cx="10728655" cy="1078992"/>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83480"/>
            <a:ext cx="10362895" cy="896112"/>
          </a:xfrm>
          <a:prstGeom prst="rect">
            <a:avLst/>
          </a:prstGeom>
          <a:noFill/>
        </p:spPr>
        <p:txBody>
          <a:bodyPr wrap="square">
            <a:spAutoFit/>
          </a:bodyPr>
          <a:lstStyle/>
          <a:p>
            <a:pPr>
              <a:spcAft>
                <a:spcPts val="300"/>
              </a:spcAft>
              <a:defRPr sz="1200" b="1">
                <a:solidFill>
                  <a:srgbClr val="002147"/>
                </a:solidFill>
                <a:latin typeface="Arial"/>
              </a:defRPr>
            </a:pPr>
            <a:r>
              <a:t>4. Open-Source Deployment-Ready Artifacts</a:t>
            </a:r>
          </a:p>
          <a:p>
            <a:pPr>
              <a:defRPr sz="1000">
                <a:solidFill>
                  <a:srgbClr val="1F2937"/>
                </a:solidFill>
                <a:latin typeface="Arial"/>
              </a:defRPr>
            </a:pPr>
            <a:r>
              <a:t>Delivered an open, reproducible, containerized software artifact with sub-5ms inference latency, providing an immediate solution for municipal air quality monitoring across West Africa.</a:t>
            </a:r>
          </a:p>
        </p:txBody>
      </p:sp>
      <p:sp>
        <p:nvSpPr>
          <p:cNvPr id="13" name="Rectangle 12"/>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5" name="TextBox 14"/>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6" name="TextBox 15"/>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19 of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05 | CONCLUSION</a:t>
            </a:r>
          </a:p>
          <a:p>
            <a:pPr>
              <a:defRPr sz="1900" b="1">
                <a:solidFill>
                  <a:srgbClr val="FFFFFF"/>
                </a:solidFill>
                <a:latin typeface="Arial"/>
              </a:defRPr>
            </a:pPr>
            <a:r>
              <a:t>Study Limitations &amp; Future Research Roadmap</a:t>
            </a:r>
          </a:p>
        </p:txBody>
      </p:sp>
      <p:sp>
        <p:nvSpPr>
          <p:cNvPr id="5" name="Rounded Rectangle 4"/>
          <p:cNvSpPr/>
          <p:nvPr/>
        </p:nvSpPr>
        <p:spPr>
          <a:xfrm>
            <a:off x="731520" y="1325880"/>
            <a:ext cx="5212080" cy="480060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4846320" cy="4434840"/>
          </a:xfrm>
          <a:prstGeom prst="rect">
            <a:avLst/>
          </a:prstGeom>
          <a:noFill/>
        </p:spPr>
        <p:txBody>
          <a:bodyPr wrap="square">
            <a:spAutoFit/>
          </a:bodyPr>
          <a:lstStyle/>
          <a:p>
            <a:pPr>
              <a:spcAft>
                <a:spcPts val="800"/>
              </a:spcAft>
              <a:defRPr sz="1300" b="1">
                <a:solidFill>
                  <a:srgbClr val="002147"/>
                </a:solidFill>
                <a:latin typeface="Arial"/>
              </a:defRPr>
            </a:pPr>
            <a:r>
              <a:t>Study Limitations</a:t>
            </a:r>
          </a:p>
          <a:p>
            <a:pPr>
              <a:lnSpc>
                <a:spcPct val="115000"/>
              </a:lnSpc>
              <a:spcAft>
                <a:spcPts val="800"/>
              </a:spcAft>
            </a:pPr>
            <a:r>
              <a:rPr b="1" sz="1150">
                <a:solidFill>
                  <a:srgbClr val="002147"/>
                </a:solidFill>
                <a:latin typeface="Arial"/>
              </a:rPr>
              <a:t>1. Single Co-location Node: </a:t>
            </a:r>
            <a:r>
              <a:rPr b="0" sz="1150">
                <a:solidFill>
                  <a:srgbClr val="1F2937"/>
                </a:solidFill>
                <a:latin typeface="Arial"/>
              </a:rPr>
              <a:t>Evaluation was conducted at the Afri-SET platform in Legon. Multi-site spatial transferability across industrial, traffic, and coastal micro-environments requires further evaluation.</a:t>
            </a:r>
          </a:p>
          <a:p>
            <a:pPr>
              <a:lnSpc>
                <a:spcPct val="115000"/>
              </a:lnSpc>
              <a:spcAft>
                <a:spcPts val="800"/>
              </a:spcAft>
            </a:pPr>
            <a:r>
              <a:rPr b="1" sz="1150">
                <a:solidFill>
                  <a:srgbClr val="002147"/>
                </a:solidFill>
                <a:latin typeface="Arial"/>
              </a:rPr>
              <a:t>2. Focus on PM2.5: </a:t>
            </a:r>
            <a:r>
              <a:rPr b="0" sz="1150">
                <a:solidFill>
                  <a:srgbClr val="1F2937"/>
                </a:solidFill>
                <a:latin typeface="Arial"/>
              </a:rPr>
              <a:t>Co-located reference data focused on PM2.5. PM10 and gas-phase pollutants (NO2, O3, CO) require expanded multi-pollutant co-location.</a:t>
            </a:r>
          </a:p>
          <a:p>
            <a:pPr>
              <a:lnSpc>
                <a:spcPct val="115000"/>
              </a:lnSpc>
              <a:spcAft>
                <a:spcPts val="800"/>
              </a:spcAft>
            </a:pPr>
            <a:r>
              <a:rPr b="1" sz="1150">
                <a:solidFill>
                  <a:srgbClr val="002147"/>
                </a:solidFill>
                <a:latin typeface="Arial"/>
              </a:rPr>
              <a:t>3. Multi-Year Sensor Aging: </a:t>
            </a:r>
            <a:r>
              <a:rPr b="0" sz="1150">
                <a:solidFill>
                  <a:srgbClr val="1F2937"/>
                </a:solidFill>
                <a:latin typeface="Arial"/>
              </a:rPr>
              <a:t>Long-term optical diode degradation and fan dust accumulation beyond 18 months warrant ongoing continuous calibration updates.</a:t>
            </a:r>
          </a:p>
        </p:txBody>
      </p:sp>
      <p:sp>
        <p:nvSpPr>
          <p:cNvPr id="7" name="Rounded Rectangle 6"/>
          <p:cNvSpPr/>
          <p:nvPr/>
        </p:nvSpPr>
        <p:spPr>
          <a:xfrm>
            <a:off x="6172200" y="1325880"/>
            <a:ext cx="5287975" cy="4800600"/>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508760"/>
            <a:ext cx="4922215" cy="4434840"/>
          </a:xfrm>
          <a:prstGeom prst="rect">
            <a:avLst/>
          </a:prstGeom>
          <a:noFill/>
        </p:spPr>
        <p:txBody>
          <a:bodyPr wrap="square">
            <a:spAutoFit/>
          </a:bodyPr>
          <a:lstStyle/>
          <a:p>
            <a:pPr>
              <a:spcAft>
                <a:spcPts val="800"/>
              </a:spcAft>
              <a:defRPr sz="1300" b="1">
                <a:solidFill>
                  <a:srgbClr val="B48214"/>
                </a:solidFill>
                <a:latin typeface="Arial"/>
              </a:defRPr>
            </a:pPr>
            <a:r>
              <a:t>Future Research Roadmap</a:t>
            </a:r>
          </a:p>
          <a:p>
            <a:pPr>
              <a:lnSpc>
                <a:spcPct val="115000"/>
              </a:lnSpc>
              <a:spcAft>
                <a:spcPts val="800"/>
              </a:spcAft>
            </a:pPr>
            <a:r>
              <a:rPr b="1" sz="1150">
                <a:solidFill>
                  <a:srgbClr val="002147"/>
                </a:solidFill>
                <a:latin typeface="Arial"/>
              </a:rPr>
              <a:t>1. Multi-City Sensor Mesh Transfer: </a:t>
            </a:r>
            <a:r>
              <a:rPr b="0" sz="1150">
                <a:solidFill>
                  <a:srgbClr val="1F2937"/>
                </a:solidFill>
                <a:latin typeface="Arial"/>
              </a:rPr>
              <a:t>Deploying calibrated nodes across Accra, Kumasi, and Tamale to test cross-climatic spatial transferability.</a:t>
            </a:r>
          </a:p>
          <a:p>
            <a:pPr>
              <a:lnSpc>
                <a:spcPct val="115000"/>
              </a:lnSpc>
              <a:spcAft>
                <a:spcPts val="800"/>
              </a:spcAft>
            </a:pPr>
            <a:r>
              <a:rPr b="1" sz="1150">
                <a:solidFill>
                  <a:srgbClr val="002147"/>
                </a:solidFill>
                <a:latin typeface="Arial"/>
              </a:rPr>
              <a:t>2. Continual Edge Learning: </a:t>
            </a:r>
            <a:r>
              <a:rPr b="0" sz="1150">
                <a:solidFill>
                  <a:srgbClr val="1F2937"/>
                </a:solidFill>
                <a:latin typeface="Arial"/>
              </a:rPr>
              <a:t>Implementing online recursive least squares or TinyML on microcontrollers for autonomous on-device adaptation.</a:t>
            </a:r>
          </a:p>
          <a:p>
            <a:pPr>
              <a:lnSpc>
                <a:spcPct val="115000"/>
              </a:lnSpc>
              <a:spcAft>
                <a:spcPts val="800"/>
              </a:spcAft>
            </a:pPr>
            <a:r>
              <a:rPr b="1" sz="1150">
                <a:solidFill>
                  <a:srgbClr val="002147"/>
                </a:solidFill>
                <a:latin typeface="Arial"/>
              </a:rPr>
              <a:t>3. Satellite &amp; CAMS Model Fusion: </a:t>
            </a:r>
            <a:r>
              <a:rPr b="0" sz="1150">
                <a:solidFill>
                  <a:srgbClr val="1F2937"/>
                </a:solidFill>
                <a:latin typeface="Arial"/>
              </a:rPr>
              <a:t>Fusing calibrated ground sensor arrays with Sentinel-5P and ECMWF CAMS atmospheric models for high-resolution national air quality mapping.</a:t>
            </a:r>
          </a:p>
        </p:txBody>
      </p:sp>
      <p:sp>
        <p:nvSpPr>
          <p:cNvPr id="9" name="Rectangle 8"/>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11" name="TextBox 10"/>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2" name="TextBox 11"/>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20 of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78992"/>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41148"/>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868680"/>
          </a:xfrm>
          <a:prstGeom prst="rect">
            <a:avLst/>
          </a:prstGeom>
          <a:noFill/>
        </p:spPr>
        <p:txBody>
          <a:bodyPr wrap="square" lIns="0" tIns="0" rIns="0" bIns="0">
            <a:spAutoFit/>
          </a:bodyPr>
          <a:lstStyle/>
          <a:p>
            <a:pPr>
              <a:spcAft>
                <a:spcPts val="200"/>
              </a:spcAft>
              <a:defRPr sz="850" b="1">
                <a:solidFill>
                  <a:srgbClr val="C59B27"/>
                </a:solidFill>
                <a:latin typeface="Arial"/>
              </a:defRPr>
            </a:pPr>
            <a:r>
              <a:t>DEPARTMENT OF COMPUTER SCIENCE  •  UNIVERSITY OF GHANA  |  05 | CONCLUSION</a:t>
            </a:r>
          </a:p>
          <a:p>
            <a:pPr>
              <a:defRPr sz="1900" b="1">
                <a:solidFill>
                  <a:srgbClr val="FFFFFF"/>
                </a:solidFill>
                <a:latin typeface="Arial"/>
              </a:defRPr>
            </a:pPr>
            <a:r>
              <a:t>Conclusion &amp; Key Takeaways</a:t>
            </a:r>
          </a:p>
        </p:txBody>
      </p:sp>
      <p:sp>
        <p:nvSpPr>
          <p:cNvPr id="5" name="Rounded Rectangle 4"/>
          <p:cNvSpPr/>
          <p:nvPr/>
        </p:nvSpPr>
        <p:spPr>
          <a:xfrm>
            <a:off x="731520" y="1325880"/>
            <a:ext cx="10728655" cy="4800600"/>
          </a:xfrm>
          <a:prstGeom prst="roundRect">
            <a:avLst/>
          </a:prstGeom>
          <a:solidFill>
            <a:srgbClr val="F8FAFC"/>
          </a:solidFill>
          <a:ln w="12700">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10180015" cy="4434840"/>
          </a:xfrm>
          <a:prstGeom prst="rect">
            <a:avLst/>
          </a:prstGeom>
          <a:noFill/>
        </p:spPr>
        <p:txBody>
          <a:bodyPr wrap="square">
            <a:spAutoFit/>
          </a:bodyPr>
          <a:lstStyle/>
          <a:p>
            <a:pPr>
              <a:spcAft>
                <a:spcPts val="1000"/>
              </a:spcAft>
              <a:defRPr sz="1400" b="1">
                <a:solidFill>
                  <a:srgbClr val="002147"/>
                </a:solidFill>
                <a:latin typeface="Arial"/>
              </a:defRPr>
            </a:pPr>
            <a:r>
              <a:t>Bridging the Economic and Environmental Divide</a:t>
            </a:r>
          </a:p>
          <a:p>
            <a:pPr>
              <a:lnSpc>
                <a:spcPct val="115000"/>
              </a:lnSpc>
              <a:spcAft>
                <a:spcPts val="1200"/>
              </a:spcAft>
            </a:pPr>
            <a:r>
              <a:rPr b="1" sz="1200">
                <a:solidFill>
                  <a:srgbClr val="002147"/>
                </a:solidFill>
                <a:latin typeface="Arial"/>
              </a:rPr>
              <a:t>1. The Hardware Gap is Bridged: </a:t>
            </a:r>
            <a:r>
              <a:rPr b="0" sz="1200">
                <a:solidFill>
                  <a:srgbClr val="1F2937"/>
                </a:solidFill>
                <a:latin typeface="Arial"/>
              </a:rPr>
              <a:t>Low-cost optical sensors (&lt; $2,500) paired with SPIME v4 achieve reference-grade precision (R² = 0.9632, MAE = 0.61 µg/m³), effectively matching the performance of $30,000 regulatory instruments.</a:t>
            </a:r>
          </a:p>
          <a:p>
            <a:pPr>
              <a:lnSpc>
                <a:spcPct val="115000"/>
              </a:lnSpc>
              <a:spcAft>
                <a:spcPts val="1200"/>
              </a:spcAft>
            </a:pPr>
            <a:r>
              <a:rPr b="1" sz="1200">
                <a:solidFill>
                  <a:srgbClr val="002147"/>
                </a:solidFill>
                <a:latin typeface="Arial"/>
              </a:rPr>
              <a:t>2. Physics-Informed ML is Essential: </a:t>
            </a:r>
            <a:r>
              <a:rPr b="0" sz="1200">
                <a:solidFill>
                  <a:srgbClr val="1F2937"/>
                </a:solidFill>
                <a:latin typeface="Arial"/>
              </a:rPr>
              <a:t>Pure data-driven models overfit or fail in tropical environments. Embedding Köhler aerosol growth curves and thermodynamic principles is mandatory for robust environmental AI.</a:t>
            </a:r>
          </a:p>
          <a:p>
            <a:pPr>
              <a:lnSpc>
                <a:spcPct val="115000"/>
              </a:lnSpc>
              <a:spcAft>
                <a:spcPts val="1200"/>
              </a:spcAft>
            </a:pPr>
            <a:r>
              <a:rPr b="1" sz="1200">
                <a:solidFill>
                  <a:srgbClr val="002147"/>
                </a:solidFill>
                <a:latin typeface="Arial"/>
              </a:rPr>
              <a:t>3. Out-of-Fold Stacking Eliminates Overfitting: </a:t>
            </a:r>
            <a:r>
              <a:rPr b="0" sz="1200">
                <a:solidFill>
                  <a:srgbClr val="1F2937"/>
                </a:solidFill>
                <a:latin typeface="Arial"/>
              </a:rPr>
              <a:t>Hierarchical stacking with out-of-fold cross-validation achieves a near-zero generalization gap (-0.0002), resolving the deep learning generalization breakdown.</a:t>
            </a:r>
          </a:p>
          <a:p>
            <a:pPr>
              <a:lnSpc>
                <a:spcPct val="115000"/>
              </a:lnSpc>
              <a:spcAft>
                <a:spcPts val="1200"/>
              </a:spcAft>
            </a:pPr>
            <a:r>
              <a:rPr b="1" sz="1200">
                <a:solidFill>
                  <a:srgbClr val="002147"/>
                </a:solidFill>
                <a:latin typeface="Arial"/>
              </a:rPr>
              <a:t>4. Real-World Impact for Ghana &amp; West Africa: </a:t>
            </a:r>
            <a:r>
              <a:rPr b="0" sz="1200">
                <a:solidFill>
                  <a:srgbClr val="1F2937"/>
                </a:solidFill>
                <a:latin typeface="Arial"/>
              </a:rPr>
              <a:t>Enables EPA Ghana and municipal assemblies to deploy high-density air quality monitoring networks at a fraction of traditional infrastructure costs.</a:t>
            </a:r>
          </a:p>
        </p:txBody>
      </p:sp>
      <p:sp>
        <p:nvSpPr>
          <p:cNvPr id="7" name="Rectangle 6"/>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9" name="TextBox 8"/>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0" name="TextBox 9"/>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21 of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17320"/>
          </a:xfrm>
          <a:prstGeom prst="rect">
            <a:avLst/>
          </a:prstGeom>
          <a:solidFill>
            <a:srgbClr val="002147"/>
          </a:solidFill>
          <a:ln>
            <a:solidFill>
              <a:srgbClr val="0021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7320"/>
            <a:ext cx="12191695" cy="54864"/>
          </a:xfrm>
          <a:prstGeom prst="rect">
            <a:avLst/>
          </a:prstGeom>
          <a:solidFill>
            <a:srgbClr val="C59B27"/>
          </a:solidFill>
          <a:ln>
            <a:solidFill>
              <a:srgbClr val="C59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728655" cy="1097280"/>
          </a:xfrm>
          <a:prstGeom prst="rect">
            <a:avLst/>
          </a:prstGeom>
          <a:noFill/>
        </p:spPr>
        <p:txBody>
          <a:bodyPr wrap="square">
            <a:spAutoFit/>
          </a:bodyPr>
          <a:lstStyle/>
          <a:p>
            <a:pPr algn="ctr">
              <a:spcAft>
                <a:spcPts val="300"/>
              </a:spcAft>
              <a:defRPr sz="2000" b="1">
                <a:solidFill>
                  <a:srgbClr val="C59B27"/>
                </a:solidFill>
                <a:latin typeface="Arial"/>
              </a:defRPr>
            </a:pPr>
            <a:r>
              <a:t>UNIVERSITY OF GHANA</a:t>
            </a:r>
          </a:p>
          <a:p>
            <a:pPr algn="ctr">
              <a:defRPr sz="1100" b="1">
                <a:solidFill>
                  <a:srgbClr val="FFFFFF"/>
                </a:solidFill>
                <a:latin typeface="Arial"/>
              </a:defRPr>
            </a:pPr>
            <a:r>
              <a:t>DEPARTMENT OF COMPUTER SCIENCE  •  PROJECT DEFENSE SESSION</a:t>
            </a:r>
          </a:p>
        </p:txBody>
      </p:sp>
      <p:sp>
        <p:nvSpPr>
          <p:cNvPr id="5" name="Rounded Rectangle 4"/>
          <p:cNvSpPr/>
          <p:nvPr/>
        </p:nvSpPr>
        <p:spPr>
          <a:xfrm>
            <a:off x="1097280" y="1783080"/>
            <a:ext cx="9997135" cy="443484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011680"/>
            <a:ext cx="9448495" cy="3931920"/>
          </a:xfrm>
          <a:prstGeom prst="rect">
            <a:avLst/>
          </a:prstGeom>
          <a:noFill/>
        </p:spPr>
        <p:txBody>
          <a:bodyPr wrap="square">
            <a:spAutoFit/>
          </a:bodyPr>
          <a:lstStyle/>
          <a:p>
            <a:pPr algn="ctr">
              <a:spcAft>
                <a:spcPts val="1200"/>
              </a:spcAft>
              <a:defRPr sz="2400" b="1">
                <a:solidFill>
                  <a:srgbClr val="002147"/>
                </a:solidFill>
                <a:latin typeface="Arial"/>
              </a:defRPr>
            </a:pPr>
            <a:r>
              <a:t>THANK YOU FOR YOUR ATTENTION</a:t>
            </a:r>
          </a:p>
          <a:p>
            <a:pPr algn="ctr">
              <a:spcAft>
                <a:spcPts val="2400"/>
              </a:spcAft>
              <a:defRPr sz="1500" i="1">
                <a:solidFill>
                  <a:srgbClr val="B48214"/>
                </a:solidFill>
                <a:latin typeface="Arial"/>
              </a:defRPr>
            </a:pPr>
            <a:r>
              <a:t>Questions, Critiques &amp; Discussion</a:t>
            </a:r>
          </a:p>
          <a:p>
            <a:pPr algn="ctr">
              <a:spcAft>
                <a:spcPts val="400"/>
              </a:spcAft>
              <a:defRPr sz="1100">
                <a:solidFill>
                  <a:srgbClr val="1F2937"/>
                </a:solidFill>
                <a:latin typeface="Arial"/>
              </a:defRPr>
            </a:pPr>
            <a:r>
              <a:t>Principal Supervisor: Prof. Isaac Wiafe (Department of Computer Science)</a:t>
            </a:r>
          </a:p>
          <a:p>
            <a:pPr algn="ctr">
              <a:spcAft>
                <a:spcPts val="1600"/>
              </a:spcAft>
              <a:defRPr sz="1100">
                <a:solidFill>
                  <a:srgbClr val="6B7280"/>
                </a:solidFill>
                <a:latin typeface="Arial"/>
              </a:defRPr>
            </a:pPr>
            <a:r>
              <a:t>Evaluation Facility: African Sensor Evaluation and Training Facility (Afri-SET), Department of Physics</a:t>
            </a:r>
          </a:p>
          <a:p>
            <a:pPr algn="ctr">
              <a:defRPr sz="1200" b="1">
                <a:solidFill>
                  <a:srgbClr val="002147"/>
                </a:solidFill>
                <a:latin typeface="Arial"/>
              </a:defRPr>
            </a:pPr>
            <a:r>
              <a:t>Candidate: Neal Allison Hughes  |  Student ID: 11178252</a:t>
            </a:r>
          </a:p>
        </p:txBody>
      </p:sp>
      <p:sp>
        <p:nvSpPr>
          <p:cNvPr id="7" name="Rectangle 6"/>
          <p:cNvSpPr/>
          <p:nvPr/>
        </p:nvSpPr>
        <p:spPr>
          <a:xfrm>
            <a:off x="731520" y="6327648"/>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4114800" cy="320040"/>
          </a:xfrm>
          <a:prstGeom prst="rect">
            <a:avLst/>
          </a:prstGeom>
          <a:noFill/>
        </p:spPr>
        <p:txBody>
          <a:bodyPr wrap="none">
            <a:spAutoFit/>
          </a:bodyPr>
          <a:lstStyle/>
          <a:p>
            <a:pPr>
              <a:defRPr sz="850">
                <a:solidFill>
                  <a:srgbClr val="6B7280"/>
                </a:solidFill>
                <a:latin typeface="Arial"/>
              </a:defRPr>
            </a:pPr>
            <a:r>
              <a:t>Department of Computer Science, University of Ghana</a:t>
            </a:r>
          </a:p>
        </p:txBody>
      </p:sp>
      <p:sp>
        <p:nvSpPr>
          <p:cNvPr id="9" name="TextBox 8"/>
          <p:cNvSpPr txBox="1"/>
          <p:nvPr/>
        </p:nvSpPr>
        <p:spPr>
          <a:xfrm>
            <a:off x="4572000" y="6382512"/>
            <a:ext cx="4114800" cy="320040"/>
          </a:xfrm>
          <a:prstGeom prst="rect">
            <a:avLst/>
          </a:prstGeom>
          <a:noFill/>
        </p:spPr>
        <p:txBody>
          <a:bodyPr wrap="none">
            <a:spAutoFit/>
          </a:bodyPr>
          <a:lstStyle/>
          <a:p>
            <a:pPr algn="ctr">
              <a:defRPr sz="850">
                <a:solidFill>
                  <a:srgbClr val="6B7280"/>
                </a:solidFill>
                <a:latin typeface="Arial"/>
              </a:defRPr>
            </a:pPr>
            <a:r>
              <a:t>BSc Project Defense: SPIME v4 PM2.5 Sensor Calibration</a:t>
            </a:r>
          </a:p>
        </p:txBody>
      </p:sp>
      <p:sp>
        <p:nvSpPr>
          <p:cNvPr id="10" name="TextBox 9"/>
          <p:cNvSpPr txBox="1"/>
          <p:nvPr/>
        </p:nvSpPr>
        <p:spPr>
          <a:xfrm>
            <a:off x="9144000" y="6382512"/>
            <a:ext cx="2316175" cy="320040"/>
          </a:xfrm>
          <a:prstGeom prst="rect">
            <a:avLst/>
          </a:prstGeom>
          <a:noFill/>
        </p:spPr>
        <p:txBody>
          <a:bodyPr wrap="none">
            <a:spAutoFit/>
          </a:bodyPr>
          <a:lstStyle/>
          <a:p>
            <a:pPr algn="r">
              <a:defRPr sz="850" b="1">
                <a:solidFill>
                  <a:srgbClr val="002147"/>
                </a:solidFill>
                <a:latin typeface="Arial"/>
              </a:defRPr>
            </a:pPr>
            <a:r>
              <a:t>Slide 22 of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